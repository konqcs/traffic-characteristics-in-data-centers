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81" r:id="rId13"/>
    <p:sldId id="282" r:id="rId14"/>
    <p:sldId id="268" r:id="rId15"/>
    <p:sldId id="280" r:id="rId16"/>
    <p:sldId id="278" r:id="rId17"/>
    <p:sldId id="279" r:id="rId18"/>
    <p:sldId id="269" r:id="rId19"/>
    <p:sldId id="270" r:id="rId20"/>
    <p:sldId id="271" r:id="rId21"/>
    <p:sldId id="274" r:id="rId22"/>
    <p:sldId id="272" r:id="rId23"/>
    <p:sldId id="273" r:id="rId24"/>
    <p:sldId id="275" r:id="rId25"/>
    <p:sldId id="276" r:id="rId26"/>
    <p:sldId id="277" r:id="rId27"/>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5562"/>
    <a:srgbClr val="AFAFAF"/>
    <a:srgbClr val="E2A3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99" autoAdjust="0"/>
    <p:restoredTop sz="94660"/>
  </p:normalViewPr>
  <p:slideViewPr>
    <p:cSldViewPr snapToGrid="0">
      <p:cViewPr varScale="1">
        <p:scale>
          <a:sx n="72" d="100"/>
          <a:sy n="72" d="100"/>
        </p:scale>
        <p:origin x="78" y="7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185BB-8B07-4DC9-86F3-2A225C77748D}"/>
              </a:ext>
            </a:extLst>
          </p:cNvPr>
          <p:cNvSpPr>
            <a:spLocks noGrp="1"/>
          </p:cNvSpPr>
          <p:nvPr>
            <p:ph type="ctrTitle"/>
          </p:nvPr>
        </p:nvSpPr>
        <p:spPr>
          <a:xfrm>
            <a:off x="1600200" y="1261872"/>
            <a:ext cx="7638222" cy="2852928"/>
          </a:xfrm>
        </p:spPr>
        <p:txBody>
          <a:bodyPr anchor="b">
            <a:normAutofit/>
          </a:bodyPr>
          <a:lstStyle>
            <a:lvl1pPr algn="l">
              <a:lnSpc>
                <a:spcPct val="130000"/>
              </a:lnSpc>
              <a:defRPr sz="3600" spc="13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14D496A-6E7A-4923-8ED5-B4164125DEB6}"/>
              </a:ext>
            </a:extLst>
          </p:cNvPr>
          <p:cNvSpPr>
            <a:spLocks noGrp="1"/>
          </p:cNvSpPr>
          <p:nvPr>
            <p:ph type="subTitle" idx="1"/>
          </p:nvPr>
        </p:nvSpPr>
        <p:spPr>
          <a:xfrm>
            <a:off x="1600200" y="4681728"/>
            <a:ext cx="7638222" cy="929296"/>
          </a:xfrm>
          <a:prstGeom prst="rect">
            <a:avLst/>
          </a:prstGeom>
        </p:spPr>
        <p:txBody>
          <a:bodyPr>
            <a:normAutofit/>
          </a:bodyPr>
          <a:lstStyle>
            <a:lvl1pPr marL="0" indent="0" algn="l">
              <a:lnSpc>
                <a:spcPct val="130000"/>
              </a:lnSpc>
              <a:buNone/>
              <a:defRPr sz="1600" b="1" cap="all" spc="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F5E3D20-43DC-4C14-8CFF-18545AED1B5B}"/>
              </a:ext>
            </a:extLst>
          </p:cNvPr>
          <p:cNvSpPr>
            <a:spLocks noGrp="1"/>
          </p:cNvSpPr>
          <p:nvPr>
            <p:ph type="dt" sz="half" idx="10"/>
          </p:nvPr>
        </p:nvSpPr>
        <p:spPr/>
        <p:txBody>
          <a:bodyPr/>
          <a:lstStyle/>
          <a:p>
            <a:fld id="{E6171E64-FE02-4DE5-B72F-53C3706641C3}" type="datetimeFigureOut">
              <a:rPr lang="en-US" smtClean="0"/>
              <a:t>3/26/2025</a:t>
            </a:fld>
            <a:endParaRPr lang="en-US"/>
          </a:p>
        </p:txBody>
      </p:sp>
      <p:sp>
        <p:nvSpPr>
          <p:cNvPr id="5" name="Footer Placeholder 4">
            <a:extLst>
              <a:ext uri="{FF2B5EF4-FFF2-40B4-BE49-F238E27FC236}">
                <a16:creationId xmlns:a16="http://schemas.microsoft.com/office/drawing/2014/main" id="{E34FC300-5AFC-418B-85FD-EFA94BD7AF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9C7E81-ED3C-4DB0-8E74-AD2A87E6BE8A}"/>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F0C817C9-850F-4FB6-B93B-CF3076C4A5C1}"/>
              </a:ext>
            </a:extLst>
          </p:cNvPr>
          <p:cNvGrpSpPr/>
          <p:nvPr/>
        </p:nvGrpSpPr>
        <p:grpSpPr>
          <a:xfrm flipH="1">
            <a:off x="0" y="0"/>
            <a:ext cx="567782" cy="3306479"/>
            <a:chOff x="11619770" y="-2005"/>
            <a:chExt cx="567782" cy="3306479"/>
          </a:xfrm>
        </p:grpSpPr>
        <p:sp>
          <p:nvSpPr>
            <p:cNvPr id="8" name="Freeform: Shape 7">
              <a:extLst>
                <a:ext uri="{FF2B5EF4-FFF2-40B4-BE49-F238E27FC236}">
                  <a16:creationId xmlns:a16="http://schemas.microsoft.com/office/drawing/2014/main" id="{159433A8-B67D-4675-AFDE-131069A709FC}"/>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22681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25F8D-0421-4AEC-9C40-A13163EC8AF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037680-115A-411F-AEF6-4AC2096B4A70}"/>
              </a:ext>
            </a:extLst>
          </p:cNvPr>
          <p:cNvSpPr>
            <a:spLocks noGrp="1"/>
          </p:cNvSpPr>
          <p:nvPr>
            <p:ph idx="1"/>
          </p:nvPr>
        </p:nvSpPr>
        <p:spPr>
          <a:xfrm>
            <a:off x="808662" y="2019299"/>
            <a:ext cx="10357666" cy="4114801"/>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0CC193-1304-4D0F-8331-14D4EC08EFE8}"/>
              </a:ext>
            </a:extLst>
          </p:cNvPr>
          <p:cNvSpPr>
            <a:spLocks noGrp="1"/>
          </p:cNvSpPr>
          <p:nvPr>
            <p:ph type="dt" sz="half" idx="10"/>
          </p:nvPr>
        </p:nvSpPr>
        <p:spPr/>
        <p:txBody>
          <a:bodyPr/>
          <a:lstStyle/>
          <a:p>
            <a:fld id="{E6171E64-FE02-4DE5-B72F-53C3706641C3}" type="datetimeFigureOut">
              <a:rPr lang="en-US" smtClean="0"/>
              <a:t>3/26/2025</a:t>
            </a:fld>
            <a:endParaRPr lang="en-US"/>
          </a:p>
        </p:txBody>
      </p:sp>
      <p:sp>
        <p:nvSpPr>
          <p:cNvPr id="5" name="Footer Placeholder 4">
            <a:extLst>
              <a:ext uri="{FF2B5EF4-FFF2-40B4-BE49-F238E27FC236}">
                <a16:creationId xmlns:a16="http://schemas.microsoft.com/office/drawing/2014/main" id="{0AF455C1-CD32-4050-BAFF-51CC6B62DF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AF608-FF11-4CBE-B717-5D56AE67DDE1}"/>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2681179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Oval 7">
            <a:extLst>
              <a:ext uri="{FF2B5EF4-FFF2-40B4-BE49-F238E27FC236}">
                <a16:creationId xmlns:a16="http://schemas.microsoft.com/office/drawing/2014/main" id="{BD23A02E-6DCF-427A-8CFD-281B2185C7F0}"/>
              </a:ext>
            </a:extLst>
          </p:cNvPr>
          <p:cNvSpPr/>
          <p:nvPr/>
        </p:nvSpPr>
        <p:spPr>
          <a:xfrm>
            <a:off x="3242985" y="511814"/>
            <a:ext cx="5706031" cy="5706031"/>
          </a:xfrm>
          <a:prstGeom prst="ellipse">
            <a:avLst/>
          </a:prstGeom>
          <a:solidFill>
            <a:schemeClr val="accent1">
              <a:lumMod val="20000"/>
              <a:lumOff val="80000"/>
            </a:schemeClr>
          </a:solidFill>
          <a:ln>
            <a:noFill/>
          </a:ln>
          <a:effectLst>
            <a:outerShdw dist="165100" dir="2220000" algn="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6B4C32-F19C-44F3-8EF8-1F506D74DD7A}"/>
              </a:ext>
            </a:extLst>
          </p:cNvPr>
          <p:cNvSpPr>
            <a:spLocks noGrp="1"/>
          </p:cNvSpPr>
          <p:nvPr>
            <p:ph type="title"/>
          </p:nvPr>
        </p:nvSpPr>
        <p:spPr>
          <a:xfrm>
            <a:off x="3649192" y="1709738"/>
            <a:ext cx="4893617" cy="2553893"/>
          </a:xfrm>
        </p:spPr>
        <p:txBody>
          <a:bodyPr anchor="b">
            <a:normAutofit/>
          </a:bodyPr>
          <a:lstStyle>
            <a:lvl1pPr algn="ctr">
              <a:defRPr sz="3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0889729-131C-4F78-9DAA-E9EE28EA912F}"/>
              </a:ext>
            </a:extLst>
          </p:cNvPr>
          <p:cNvSpPr>
            <a:spLocks noGrp="1"/>
          </p:cNvSpPr>
          <p:nvPr>
            <p:ph type="body" idx="1"/>
          </p:nvPr>
        </p:nvSpPr>
        <p:spPr>
          <a:xfrm>
            <a:off x="4062249" y="4540468"/>
            <a:ext cx="4067503" cy="1154037"/>
          </a:xfrm>
          <a:prstGeom prst="rect">
            <a:avLst/>
          </a:prstGeom>
        </p:spPr>
        <p:txBody>
          <a:bodyPr>
            <a:normAutofit/>
          </a:bodyPr>
          <a:lstStyle>
            <a:lvl1pPr marL="0" indent="0" algn="ctr">
              <a:buNone/>
              <a:defRPr sz="1600" b="1" cap="all" spc="600" baseline="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24E608-AC1F-41FB-974A-BD619C6C26B5}"/>
              </a:ext>
            </a:extLst>
          </p:cNvPr>
          <p:cNvSpPr>
            <a:spLocks noGrp="1"/>
          </p:cNvSpPr>
          <p:nvPr>
            <p:ph type="dt" sz="half" idx="10"/>
          </p:nvPr>
        </p:nvSpPr>
        <p:spPr/>
        <p:txBody>
          <a:bodyPr/>
          <a:lstStyle/>
          <a:p>
            <a:fld id="{E6171E64-FE02-4DE5-B72F-53C3706641C3}" type="datetimeFigureOut">
              <a:rPr lang="en-US" smtClean="0"/>
              <a:t>3/26/2025</a:t>
            </a:fld>
            <a:endParaRPr lang="en-US"/>
          </a:p>
        </p:txBody>
      </p:sp>
      <p:sp>
        <p:nvSpPr>
          <p:cNvPr id="5" name="Footer Placeholder 4">
            <a:extLst>
              <a:ext uri="{FF2B5EF4-FFF2-40B4-BE49-F238E27FC236}">
                <a16:creationId xmlns:a16="http://schemas.microsoft.com/office/drawing/2014/main" id="{C0986158-8B03-45C3-891D-0357B198B6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C3B054-E8A2-43FD-B0FB-B1CCFA4BC0AD}"/>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3621857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64AA7-6D5A-402E-AD1A-880F2BDB7E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0D32B6-F9D8-4A43-B52C-336CFAB00A56}"/>
              </a:ext>
            </a:extLst>
          </p:cNvPr>
          <p:cNvSpPr>
            <a:spLocks noGrp="1"/>
          </p:cNvSpPr>
          <p:nvPr>
            <p:ph sz="half" idx="1"/>
          </p:nvPr>
        </p:nvSpPr>
        <p:spPr>
          <a:xfrm>
            <a:off x="812976" y="2019299"/>
            <a:ext cx="4995019"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F50CDD9-5742-4A34-BA72-7CCA72D914F4}"/>
              </a:ext>
            </a:extLst>
          </p:cNvPr>
          <p:cNvSpPr>
            <a:spLocks noGrp="1"/>
          </p:cNvSpPr>
          <p:nvPr>
            <p:ph sz="half" idx="2"/>
          </p:nvPr>
        </p:nvSpPr>
        <p:spPr>
          <a:xfrm>
            <a:off x="6293718" y="2019299"/>
            <a:ext cx="5027954" cy="4157663"/>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02783AA-D2AB-4385-A91F-870CB6564611}"/>
              </a:ext>
            </a:extLst>
          </p:cNvPr>
          <p:cNvSpPr>
            <a:spLocks noGrp="1"/>
          </p:cNvSpPr>
          <p:nvPr>
            <p:ph type="dt" sz="half" idx="10"/>
          </p:nvPr>
        </p:nvSpPr>
        <p:spPr/>
        <p:txBody>
          <a:bodyPr/>
          <a:lstStyle/>
          <a:p>
            <a:fld id="{E6171E64-FE02-4DE5-B72F-53C3706641C3}" type="datetimeFigureOut">
              <a:rPr lang="en-US" smtClean="0"/>
              <a:t>3/26/2025</a:t>
            </a:fld>
            <a:endParaRPr lang="en-US"/>
          </a:p>
        </p:txBody>
      </p:sp>
      <p:sp>
        <p:nvSpPr>
          <p:cNvPr id="6" name="Footer Placeholder 5">
            <a:extLst>
              <a:ext uri="{FF2B5EF4-FFF2-40B4-BE49-F238E27FC236}">
                <a16:creationId xmlns:a16="http://schemas.microsoft.com/office/drawing/2014/main" id="{855AAD9C-5CA2-4DA1-84D3-B1838979F6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1AB3C7-9574-47BC-932D-782BEE9989DA}"/>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335307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C468-781B-4BC5-8DEA-B9EF2BF90DD2}"/>
              </a:ext>
            </a:extLst>
          </p:cNvPr>
          <p:cNvSpPr>
            <a:spLocks noGrp="1"/>
          </p:cNvSpPr>
          <p:nvPr>
            <p:ph type="title"/>
          </p:nvPr>
        </p:nvSpPr>
        <p:spPr>
          <a:xfrm>
            <a:off x="811460" y="369168"/>
            <a:ext cx="10458729" cy="1439818"/>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5367223F-48E4-491D-AB5D-5FC8A0C566AF}"/>
              </a:ext>
            </a:extLst>
          </p:cNvPr>
          <p:cNvSpPr>
            <a:spLocks noGrp="1"/>
          </p:cNvSpPr>
          <p:nvPr>
            <p:ph type="body" idx="1"/>
          </p:nvPr>
        </p:nvSpPr>
        <p:spPr>
          <a:xfrm>
            <a:off x="800101" y="1843067"/>
            <a:ext cx="5007894"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D6B764-4B87-42FF-ABAA-69B07B88FF40}"/>
              </a:ext>
            </a:extLst>
          </p:cNvPr>
          <p:cNvSpPr>
            <a:spLocks noGrp="1"/>
          </p:cNvSpPr>
          <p:nvPr>
            <p:ph sz="half" idx="2"/>
          </p:nvPr>
        </p:nvSpPr>
        <p:spPr>
          <a:xfrm>
            <a:off x="800101" y="2505075"/>
            <a:ext cx="5007894"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74357B9-406F-4BF9-B8FB-C53421EEF5A6}"/>
              </a:ext>
            </a:extLst>
          </p:cNvPr>
          <p:cNvSpPr>
            <a:spLocks noGrp="1"/>
          </p:cNvSpPr>
          <p:nvPr>
            <p:ph type="body" sz="quarter" idx="3"/>
          </p:nvPr>
        </p:nvSpPr>
        <p:spPr>
          <a:xfrm>
            <a:off x="6276061" y="1843067"/>
            <a:ext cx="4994128" cy="662007"/>
          </a:xfrm>
          <a:prstGeom prst="rect">
            <a:avLst/>
          </a:prstGeom>
        </p:spPr>
        <p:txBody>
          <a:bodyPr anchor="b">
            <a:norm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320462B-1939-4DAA-A7DD-6BDC95054A6E}"/>
              </a:ext>
            </a:extLst>
          </p:cNvPr>
          <p:cNvSpPr>
            <a:spLocks noGrp="1"/>
          </p:cNvSpPr>
          <p:nvPr>
            <p:ph sz="quarter" idx="4"/>
          </p:nvPr>
        </p:nvSpPr>
        <p:spPr>
          <a:xfrm>
            <a:off x="6276061" y="2505075"/>
            <a:ext cx="4994128" cy="3684588"/>
          </a:xfrm>
          <a:prstGeom prst="rect">
            <a:avLst/>
          </a:prstGeo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6C938B-C4C2-4FA9-85CA-9CD742CD7523}"/>
              </a:ext>
            </a:extLst>
          </p:cNvPr>
          <p:cNvSpPr>
            <a:spLocks noGrp="1"/>
          </p:cNvSpPr>
          <p:nvPr>
            <p:ph type="dt" sz="half" idx="10"/>
          </p:nvPr>
        </p:nvSpPr>
        <p:spPr/>
        <p:txBody>
          <a:bodyPr/>
          <a:lstStyle/>
          <a:p>
            <a:fld id="{E6171E64-FE02-4DE5-B72F-53C3706641C3}" type="datetimeFigureOut">
              <a:rPr lang="en-US" smtClean="0"/>
              <a:t>3/26/2025</a:t>
            </a:fld>
            <a:endParaRPr lang="en-US"/>
          </a:p>
        </p:txBody>
      </p:sp>
      <p:sp>
        <p:nvSpPr>
          <p:cNvPr id="8" name="Footer Placeholder 7">
            <a:extLst>
              <a:ext uri="{FF2B5EF4-FFF2-40B4-BE49-F238E27FC236}">
                <a16:creationId xmlns:a16="http://schemas.microsoft.com/office/drawing/2014/main" id="{11AD8886-0D28-4D49-8D43-151D37E948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2FDDE8-E9F8-4B6C-9A40-829617A7C84D}"/>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4929393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AE3D8-6C35-428B-B2F2-251FDE10BD20}"/>
              </a:ext>
            </a:extLst>
          </p:cNvPr>
          <p:cNvSpPr>
            <a:spLocks noGrp="1"/>
          </p:cNvSpPr>
          <p:nvPr>
            <p:ph type="title"/>
          </p:nvPr>
        </p:nvSpPr>
        <p:spPr>
          <a:xfrm>
            <a:off x="800100" y="983769"/>
            <a:ext cx="10094770" cy="1180574"/>
          </a:xfrm>
          <a:solidFill>
            <a:schemeClr val="accent1">
              <a:lumMod val="20000"/>
              <a:lumOff val="80000"/>
            </a:schemeClr>
          </a:solidFill>
          <a:effectLst>
            <a:outerShdw dist="165100" dir="18900000" algn="bl" rotWithShape="0">
              <a:prstClr val="black"/>
            </a:outerShdw>
          </a:effectLst>
        </p:spPr>
        <p:txBody>
          <a:bodyPr/>
          <a:lstStyle>
            <a:lvl1pPr marL="182880">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F0B8015-E11A-42CA-AE88-7BD73F87E566}"/>
              </a:ext>
            </a:extLst>
          </p:cNvPr>
          <p:cNvSpPr>
            <a:spLocks noGrp="1"/>
          </p:cNvSpPr>
          <p:nvPr>
            <p:ph type="dt" sz="half" idx="10"/>
          </p:nvPr>
        </p:nvSpPr>
        <p:spPr/>
        <p:txBody>
          <a:bodyPr/>
          <a:lstStyle/>
          <a:p>
            <a:fld id="{E6171E64-FE02-4DE5-B72F-53C3706641C3}" type="datetimeFigureOut">
              <a:rPr lang="en-US" smtClean="0"/>
              <a:t>3/26/2025</a:t>
            </a:fld>
            <a:endParaRPr lang="en-US"/>
          </a:p>
        </p:txBody>
      </p:sp>
      <p:sp>
        <p:nvSpPr>
          <p:cNvPr id="4" name="Footer Placeholder 3">
            <a:extLst>
              <a:ext uri="{FF2B5EF4-FFF2-40B4-BE49-F238E27FC236}">
                <a16:creationId xmlns:a16="http://schemas.microsoft.com/office/drawing/2014/main" id="{07309078-34CA-45CD-B479-03906A265C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D03258-F989-47B2-A643-A60CD8A77BC8}"/>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3735356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DA2F31-48B6-40CE-A364-3CE73FD859B4}"/>
              </a:ext>
            </a:extLst>
          </p:cNvPr>
          <p:cNvSpPr>
            <a:spLocks noGrp="1"/>
          </p:cNvSpPr>
          <p:nvPr>
            <p:ph type="dt" sz="half" idx="10"/>
          </p:nvPr>
        </p:nvSpPr>
        <p:spPr/>
        <p:txBody>
          <a:bodyPr/>
          <a:lstStyle/>
          <a:p>
            <a:fld id="{E6171E64-FE02-4DE5-B72F-53C3706641C3}" type="datetimeFigureOut">
              <a:rPr lang="en-US" smtClean="0"/>
              <a:t>3/26/2025</a:t>
            </a:fld>
            <a:endParaRPr lang="en-US"/>
          </a:p>
        </p:txBody>
      </p:sp>
      <p:sp>
        <p:nvSpPr>
          <p:cNvPr id="3" name="Footer Placeholder 2">
            <a:extLst>
              <a:ext uri="{FF2B5EF4-FFF2-40B4-BE49-F238E27FC236}">
                <a16:creationId xmlns:a16="http://schemas.microsoft.com/office/drawing/2014/main" id="{117EEA00-F166-41EB-9331-CA99BB70F02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BB051F-F8FC-4FF6-9783-45F9FE7AC302}"/>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48375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08635-A5AF-48F4-8CD2-FB0E01113904}"/>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6E15E0E-DCC0-4781-A608-962B1241B5AA}"/>
              </a:ext>
            </a:extLst>
          </p:cNvPr>
          <p:cNvSpPr>
            <a:spLocks noGrp="1"/>
          </p:cNvSpPr>
          <p:nvPr>
            <p:ph idx="1"/>
          </p:nvPr>
        </p:nvSpPr>
        <p:spPr>
          <a:xfrm>
            <a:off x="5309826" y="987425"/>
            <a:ext cx="6045562"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F43E-3D50-4A1C-A289-B3D0DD0E710F}"/>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E70E3A-6639-4EA0-8305-C1899DAB49EB}"/>
              </a:ext>
            </a:extLst>
          </p:cNvPr>
          <p:cNvSpPr>
            <a:spLocks noGrp="1"/>
          </p:cNvSpPr>
          <p:nvPr>
            <p:ph type="dt" sz="half" idx="10"/>
          </p:nvPr>
        </p:nvSpPr>
        <p:spPr/>
        <p:txBody>
          <a:bodyPr/>
          <a:lstStyle/>
          <a:p>
            <a:fld id="{E6171E64-FE02-4DE5-B72F-53C3706641C3}" type="datetimeFigureOut">
              <a:rPr lang="en-US" smtClean="0"/>
              <a:t>3/26/2025</a:t>
            </a:fld>
            <a:endParaRPr lang="en-US"/>
          </a:p>
        </p:txBody>
      </p:sp>
      <p:sp>
        <p:nvSpPr>
          <p:cNvPr id="6" name="Footer Placeholder 5">
            <a:extLst>
              <a:ext uri="{FF2B5EF4-FFF2-40B4-BE49-F238E27FC236}">
                <a16:creationId xmlns:a16="http://schemas.microsoft.com/office/drawing/2014/main" id="{5B6AFD57-4189-42FB-B29E-96366E51B4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5E2EC-8483-4FBC-9D29-C19025FA8F97}"/>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3497706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E581-A090-4AE9-9965-B06BDB52BD95}"/>
              </a:ext>
            </a:extLst>
          </p:cNvPr>
          <p:cNvSpPr>
            <a:spLocks noGrp="1"/>
          </p:cNvSpPr>
          <p:nvPr>
            <p:ph type="title"/>
          </p:nvPr>
        </p:nvSpPr>
        <p:spPr>
          <a:xfrm>
            <a:off x="839788" y="987425"/>
            <a:ext cx="3932237" cy="1600200"/>
          </a:xfrm>
        </p:spPr>
        <p:txBody>
          <a:bodyPr anchor="t">
            <a:normAutofit/>
          </a:bodyPr>
          <a:lstStyle>
            <a:lvl1pPr>
              <a:defRPr sz="2800" b="1">
                <a:latin typeface="+mn-lt"/>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839DEF4-262F-4ACF-9B29-3D4B819E7065}"/>
              </a:ext>
            </a:extLst>
          </p:cNvPr>
          <p:cNvSpPr>
            <a:spLocks noGrp="1"/>
          </p:cNvSpPr>
          <p:nvPr>
            <p:ph type="pic" idx="1"/>
          </p:nvPr>
        </p:nvSpPr>
        <p:spPr>
          <a:xfrm>
            <a:off x="5353969" y="987425"/>
            <a:ext cx="5694503"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04ED7CBB-7A6F-441E-9072-2494B952FA8B}"/>
              </a:ext>
            </a:extLst>
          </p:cNvPr>
          <p:cNvSpPr>
            <a:spLocks noGrp="1"/>
          </p:cNvSpPr>
          <p:nvPr>
            <p:ph type="body" sz="half" idx="2"/>
          </p:nvPr>
        </p:nvSpPr>
        <p:spPr>
          <a:xfrm>
            <a:off x="839788" y="2743200"/>
            <a:ext cx="3932237" cy="3127376"/>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159692-77BE-4A7D-AA70-635007A6E92C}"/>
              </a:ext>
            </a:extLst>
          </p:cNvPr>
          <p:cNvSpPr>
            <a:spLocks noGrp="1"/>
          </p:cNvSpPr>
          <p:nvPr>
            <p:ph type="dt" sz="half" idx="10"/>
          </p:nvPr>
        </p:nvSpPr>
        <p:spPr/>
        <p:txBody>
          <a:bodyPr/>
          <a:lstStyle/>
          <a:p>
            <a:fld id="{E6171E64-FE02-4DE5-B72F-53C3706641C3}" type="datetimeFigureOut">
              <a:rPr lang="en-US" smtClean="0"/>
              <a:t>3/26/2025</a:t>
            </a:fld>
            <a:endParaRPr lang="en-US"/>
          </a:p>
        </p:txBody>
      </p:sp>
      <p:sp>
        <p:nvSpPr>
          <p:cNvPr id="6" name="Footer Placeholder 5">
            <a:extLst>
              <a:ext uri="{FF2B5EF4-FFF2-40B4-BE49-F238E27FC236}">
                <a16:creationId xmlns:a16="http://schemas.microsoft.com/office/drawing/2014/main" id="{FBB9A4DA-63AF-4D6A-98DB-E1D0AC741E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6B7958-B19B-4C23-A82F-DD4E4B912B29}"/>
              </a:ext>
            </a:extLst>
          </p:cNvPr>
          <p:cNvSpPr>
            <a:spLocks noGrp="1"/>
          </p:cNvSpPr>
          <p:nvPr>
            <p:ph type="sldNum" sz="quarter" idx="12"/>
          </p:nvPr>
        </p:nvSpPr>
        <p:spPr/>
        <p:txBody>
          <a:bodyPr/>
          <a:lstStyle/>
          <a:p>
            <a:fld id="{91F18EF7-BE1E-4ECB-84D4-67C2B4D8F095}" type="slidenum">
              <a:rPr lang="en-US" smtClean="0"/>
              <a:t>‹#›</a:t>
            </a:fld>
            <a:endParaRPr lang="en-US"/>
          </a:p>
        </p:txBody>
      </p:sp>
    </p:spTree>
    <p:extLst>
      <p:ext uri="{BB962C8B-B14F-4D97-AF65-F5344CB8AC3E}">
        <p14:creationId xmlns:p14="http://schemas.microsoft.com/office/powerpoint/2010/main" val="1655636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958AD-1CAD-45B3-B83D-DC9D33CD613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153F2E-0397-4423-8A88-D0059DEAF0CE}"/>
              </a:ext>
            </a:extLst>
          </p:cNvPr>
          <p:cNvSpPr>
            <a:spLocks noGrp="1"/>
          </p:cNvSpPr>
          <p:nvPr>
            <p:ph type="body" orient="vert" idx="1"/>
          </p:nvPr>
        </p:nvSpPr>
        <p:spPr>
          <a:xfrm>
            <a:off x="808662" y="2019299"/>
            <a:ext cx="10357666" cy="4114801"/>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ADDE1-7025-4FA9-822D-481685085490}"/>
              </a:ext>
            </a:extLst>
          </p:cNvPr>
          <p:cNvSpPr>
            <a:spLocks noGrp="1"/>
          </p:cNvSpPr>
          <p:nvPr>
            <p:ph type="dt" sz="half" idx="10"/>
          </p:nvPr>
        </p:nvSpPr>
        <p:spPr/>
        <p:txBody>
          <a:bodyPr/>
          <a:lstStyle/>
          <a:p>
            <a:fld id="{E6171E64-FE02-4DE5-B72F-53C3706641C3}" type="datetimeFigureOut">
              <a:rPr lang="en-US" smtClean="0"/>
              <a:t>3/26/2025</a:t>
            </a:fld>
            <a:endParaRPr lang="en-US"/>
          </a:p>
        </p:txBody>
      </p:sp>
      <p:sp>
        <p:nvSpPr>
          <p:cNvPr id="5" name="Footer Placeholder 4">
            <a:extLst>
              <a:ext uri="{FF2B5EF4-FFF2-40B4-BE49-F238E27FC236}">
                <a16:creationId xmlns:a16="http://schemas.microsoft.com/office/drawing/2014/main" id="{6B2A73E0-F328-46DC-98BE-CA0981F75A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652226-010C-494F-8BE8-BF91F3553DD5}"/>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9F89E9C4-9D18-4529-BC0C-68EAE507CDF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D7DF5937-0C03-4786-AB62-3CF7CECB92D6}"/>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E9AD93DB-2DB0-4B2D-884B-6EC45344325B}"/>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0094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9C635D0-31D9-44E1-911D-F7D5D5400992}"/>
              </a:ext>
            </a:extLst>
          </p:cNvPr>
          <p:cNvSpPr>
            <a:spLocks noGrp="1"/>
          </p:cNvSpPr>
          <p:nvPr>
            <p:ph type="title" orient="vert"/>
          </p:nvPr>
        </p:nvSpPr>
        <p:spPr>
          <a:xfrm>
            <a:off x="8853914" y="624313"/>
            <a:ext cx="2537986" cy="550978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67F9230-1FA4-439D-A800-B5F006F07C0D}"/>
              </a:ext>
            </a:extLst>
          </p:cNvPr>
          <p:cNvSpPr>
            <a:spLocks noGrp="1"/>
          </p:cNvSpPr>
          <p:nvPr>
            <p:ph type="body" orient="vert" idx="1"/>
          </p:nvPr>
        </p:nvSpPr>
        <p:spPr>
          <a:xfrm>
            <a:off x="800100" y="624313"/>
            <a:ext cx="7816542" cy="550978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5AB2A3-7055-43AF-8BAB-0A9B7444867A}"/>
              </a:ext>
            </a:extLst>
          </p:cNvPr>
          <p:cNvSpPr>
            <a:spLocks noGrp="1"/>
          </p:cNvSpPr>
          <p:nvPr>
            <p:ph type="dt" sz="half" idx="10"/>
          </p:nvPr>
        </p:nvSpPr>
        <p:spPr/>
        <p:txBody>
          <a:bodyPr/>
          <a:lstStyle/>
          <a:p>
            <a:fld id="{E6171E64-FE02-4DE5-B72F-53C3706641C3}" type="datetimeFigureOut">
              <a:rPr lang="en-US" smtClean="0"/>
              <a:t>3/26/2025</a:t>
            </a:fld>
            <a:endParaRPr lang="en-US"/>
          </a:p>
        </p:txBody>
      </p:sp>
      <p:sp>
        <p:nvSpPr>
          <p:cNvPr id="5" name="Footer Placeholder 4">
            <a:extLst>
              <a:ext uri="{FF2B5EF4-FFF2-40B4-BE49-F238E27FC236}">
                <a16:creationId xmlns:a16="http://schemas.microsoft.com/office/drawing/2014/main" id="{EE9A1821-A311-49CD-BCB4-B4BC886610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37C6A8-813A-486A-AA90-AB28935F2B4F}"/>
              </a:ext>
            </a:extLst>
          </p:cNvPr>
          <p:cNvSpPr>
            <a:spLocks noGrp="1"/>
          </p:cNvSpPr>
          <p:nvPr>
            <p:ph type="sldNum" sz="quarter" idx="12"/>
          </p:nvPr>
        </p:nvSpPr>
        <p:spPr/>
        <p:txBody>
          <a:body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F38C7A17-06CC-442C-A876-A51B2B556508}"/>
              </a:ext>
            </a:extLst>
          </p:cNvPr>
          <p:cNvGrpSpPr/>
          <p:nvPr/>
        </p:nvGrpSpPr>
        <p:grpSpPr>
          <a:xfrm flipH="1" flipV="1">
            <a:off x="0" y="3551521"/>
            <a:ext cx="567782" cy="3306479"/>
            <a:chOff x="11619770" y="-2005"/>
            <a:chExt cx="567782" cy="3306479"/>
          </a:xfrm>
        </p:grpSpPr>
        <p:sp>
          <p:nvSpPr>
            <p:cNvPr id="8" name="Freeform: Shape 7">
              <a:extLst>
                <a:ext uri="{FF2B5EF4-FFF2-40B4-BE49-F238E27FC236}">
                  <a16:creationId xmlns:a16="http://schemas.microsoft.com/office/drawing/2014/main" id="{54C1798A-2980-4F34-8355-7BCB6B295322}"/>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59D7542C-E4AE-488F-BC75-2E7ED83910CE}"/>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62520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86DAE1-1F65-43B8-A400-95E6DEEDCDFC}"/>
              </a:ext>
            </a:extLst>
          </p:cNvPr>
          <p:cNvSpPr>
            <a:spLocks noGrp="1"/>
          </p:cNvSpPr>
          <p:nvPr>
            <p:ph type="title"/>
          </p:nvPr>
        </p:nvSpPr>
        <p:spPr>
          <a:xfrm>
            <a:off x="808661" y="365125"/>
            <a:ext cx="10357666" cy="143845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D75C993-A44B-4C2D-818E-4C9000BB05C1}"/>
              </a:ext>
            </a:extLst>
          </p:cNvPr>
          <p:cNvSpPr>
            <a:spLocks noGrp="1"/>
          </p:cNvSpPr>
          <p:nvPr>
            <p:ph type="body" idx="1"/>
          </p:nvPr>
        </p:nvSpPr>
        <p:spPr>
          <a:xfrm>
            <a:off x="808662" y="2019299"/>
            <a:ext cx="10357666"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5A21B6E-ECC6-47D0-9C14-812B746F1563}"/>
              </a:ext>
            </a:extLst>
          </p:cNvPr>
          <p:cNvSpPr>
            <a:spLocks noGrp="1"/>
          </p:cNvSpPr>
          <p:nvPr>
            <p:ph type="dt" sz="half" idx="2"/>
          </p:nvPr>
        </p:nvSpPr>
        <p:spPr>
          <a:xfrm>
            <a:off x="795014" y="6342042"/>
            <a:ext cx="2743200" cy="365125"/>
          </a:xfrm>
          <a:prstGeom prst="rect">
            <a:avLst/>
          </a:prstGeom>
        </p:spPr>
        <p:txBody>
          <a:bodyPr vert="horz" lIns="91440" tIns="45720" rIns="91440" bIns="45720" rtlCol="0" anchor="ctr"/>
          <a:lstStyle>
            <a:lvl1pPr algn="l">
              <a:defRPr sz="1000" spc="100" baseline="0">
                <a:solidFill>
                  <a:schemeClr val="tx1"/>
                </a:solidFill>
              </a:defRPr>
            </a:lvl1pPr>
          </a:lstStyle>
          <a:p>
            <a:fld id="{E6171E64-FE02-4DE5-B72F-53C3706641C3}" type="datetimeFigureOut">
              <a:rPr lang="en-US" smtClean="0"/>
              <a:t>3/26/2025</a:t>
            </a:fld>
            <a:endParaRPr lang="en-US"/>
          </a:p>
        </p:txBody>
      </p:sp>
      <p:sp>
        <p:nvSpPr>
          <p:cNvPr id="5" name="Footer Placeholder 4">
            <a:extLst>
              <a:ext uri="{FF2B5EF4-FFF2-40B4-BE49-F238E27FC236}">
                <a16:creationId xmlns:a16="http://schemas.microsoft.com/office/drawing/2014/main" id="{5209A716-DEA9-48A9-A5BC-0F392D2B49AC}"/>
              </a:ext>
            </a:extLst>
          </p:cNvPr>
          <p:cNvSpPr>
            <a:spLocks noGrp="1"/>
          </p:cNvSpPr>
          <p:nvPr>
            <p:ph type="ftr" sz="quarter" idx="3"/>
          </p:nvPr>
        </p:nvSpPr>
        <p:spPr>
          <a:xfrm>
            <a:off x="7696200" y="6342042"/>
            <a:ext cx="3470128" cy="365125"/>
          </a:xfrm>
          <a:prstGeom prst="rect">
            <a:avLst/>
          </a:prstGeom>
        </p:spPr>
        <p:txBody>
          <a:bodyPr vert="horz" lIns="91440" tIns="45720" rIns="91440" bIns="45720" rtlCol="0" anchor="ctr"/>
          <a:lstStyle>
            <a:lvl1pPr algn="r">
              <a:defRPr sz="1000" spc="5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C09CB69E-A0E4-4558-9C62-4CD8CDD2A501}"/>
              </a:ext>
            </a:extLst>
          </p:cNvPr>
          <p:cNvSpPr>
            <a:spLocks noGrp="1"/>
          </p:cNvSpPr>
          <p:nvPr>
            <p:ph type="sldNum" sz="quarter" idx="4"/>
          </p:nvPr>
        </p:nvSpPr>
        <p:spPr>
          <a:xfrm>
            <a:off x="11166329" y="6342042"/>
            <a:ext cx="526228" cy="365125"/>
          </a:xfrm>
          <a:prstGeom prst="rect">
            <a:avLst/>
          </a:prstGeom>
        </p:spPr>
        <p:txBody>
          <a:bodyPr vert="horz" lIns="91440" tIns="45720" rIns="91440" bIns="45720" rtlCol="0" anchor="ctr"/>
          <a:lstStyle>
            <a:lvl1pPr algn="r">
              <a:defRPr sz="1000" spc="100" baseline="0">
                <a:solidFill>
                  <a:schemeClr val="tx1"/>
                </a:solidFill>
              </a:defRPr>
            </a:lvl1pPr>
          </a:lstStyle>
          <a:p>
            <a:fld id="{91F18EF7-BE1E-4ECB-84D4-67C2B4D8F095}" type="slidenum">
              <a:rPr lang="en-US" smtClean="0"/>
              <a:t>‹#›</a:t>
            </a:fld>
            <a:endParaRPr lang="en-US"/>
          </a:p>
        </p:txBody>
      </p:sp>
      <p:grpSp>
        <p:nvGrpSpPr>
          <p:cNvPr id="7" name="Group 6">
            <a:extLst>
              <a:ext uri="{FF2B5EF4-FFF2-40B4-BE49-F238E27FC236}">
                <a16:creationId xmlns:a16="http://schemas.microsoft.com/office/drawing/2014/main" id="{EB6ECC43-D65E-4A7B-A76B-D278A2184166}"/>
              </a:ext>
            </a:extLst>
          </p:cNvPr>
          <p:cNvGrpSpPr/>
          <p:nvPr/>
        </p:nvGrpSpPr>
        <p:grpSpPr>
          <a:xfrm flipV="1">
            <a:off x="11626076" y="3551521"/>
            <a:ext cx="567782" cy="3306479"/>
            <a:chOff x="11619770" y="-2005"/>
            <a:chExt cx="567782" cy="3306479"/>
          </a:xfrm>
        </p:grpSpPr>
        <p:sp>
          <p:nvSpPr>
            <p:cNvPr id="8" name="Freeform: Shape 7">
              <a:extLst>
                <a:ext uri="{FF2B5EF4-FFF2-40B4-BE49-F238E27FC236}">
                  <a16:creationId xmlns:a16="http://schemas.microsoft.com/office/drawing/2014/main" id="{7EE443C5-5AB9-407B-A8C3-011BB14FEF06}"/>
                </a:ext>
              </a:extLst>
            </p:cNvPr>
            <p:cNvSpPr/>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13">
                <a:extLst>
                  <a:ext uri="{96DAC541-7B7A-43D3-8B79-37D633B846F1}">
                    <asvg:svgBlip xmlns:asvg="http://schemas.microsoft.com/office/drawing/2016/SVG/main" r:embed="rId1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8">
              <a:extLst>
                <a:ext uri="{FF2B5EF4-FFF2-40B4-BE49-F238E27FC236}">
                  <a16:creationId xmlns:a16="http://schemas.microsoft.com/office/drawing/2014/main" id="{4538C9FA-DA5E-4785-8F4A-CA481A3A6526}"/>
                </a:ext>
                <a:ext uri="{C183D7F6-B498-43B3-948B-1728B52AA6E4}">
                  <adec:decorative xmlns:adec="http://schemas.microsoft.com/office/drawing/2017/decorative" val="1"/>
                </a:ext>
              </a:extLst>
            </p:cNvPr>
            <p:cNvSpPr/>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950331580"/>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37" r:id="rId6"/>
    <p:sldLayoutId id="2147483742" r:id="rId7"/>
    <p:sldLayoutId id="2147483738" r:id="rId8"/>
    <p:sldLayoutId id="2147483739" r:id="rId9"/>
    <p:sldLayoutId id="2147483740" r:id="rId10"/>
    <p:sldLayoutId id="2147483741" r:id="rId11"/>
  </p:sldLayoutIdLst>
  <p:txStyles>
    <p:titleStyle>
      <a:lvl1pPr algn="l" defTabSz="914400" rtl="0" eaLnBrk="1" latinLnBrk="0" hangingPunct="1">
        <a:lnSpc>
          <a:spcPct val="120000"/>
        </a:lnSpc>
        <a:spcBef>
          <a:spcPct val="0"/>
        </a:spcBef>
        <a:buNone/>
        <a:defRPr sz="3200" kern="1200" cap="all" spc="700"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SzPct val="85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30000"/>
        </a:lnSpc>
        <a:spcBef>
          <a:spcPts val="500"/>
        </a:spcBef>
        <a:buSzPct val="10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SzPct val="85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SzPct val="100000"/>
        <a:buFont typeface="Avenir Next LT Pro Light" panose="020B0304020202020204" pitchFamily="34" charset="0"/>
        <a:buChar char="–"/>
        <a:defRPr sz="1400" kern="1200">
          <a:solidFill>
            <a:schemeClr val="tx1"/>
          </a:solidFill>
          <a:latin typeface="+mn-lt"/>
          <a:ea typeface="+mn-ea"/>
          <a:cs typeface="+mn-cs"/>
        </a:defRPr>
      </a:lvl4pPr>
      <a:lvl5pPr marL="1188720" indent="-228600" algn="l" defTabSz="914400" rtl="0" eaLnBrk="1" latinLnBrk="0" hangingPunct="1">
        <a:lnSpc>
          <a:spcPct val="130000"/>
        </a:lnSpc>
        <a:spcBef>
          <a:spcPts val="500"/>
        </a:spcBef>
        <a:buSzPct val="8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18.jpeg"/><Relationship Id="rId4" Type="http://schemas.openxmlformats.org/officeDocument/2006/relationships/image" Target="../media/image17.jpe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2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599224A-F219-4DF9-8183-F7C098A5CE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Μωσαϊκό με πολύχρωμος γεωμετρικά σχήματα">
            <a:extLst>
              <a:ext uri="{FF2B5EF4-FFF2-40B4-BE49-F238E27FC236}">
                <a16:creationId xmlns:a16="http://schemas.microsoft.com/office/drawing/2014/main" id="{337D9929-363A-206F-8B95-B825CDF7117A}"/>
              </a:ext>
            </a:extLst>
          </p:cNvPr>
          <p:cNvPicPr>
            <a:picLocks noChangeAspect="1"/>
          </p:cNvPicPr>
          <p:nvPr/>
        </p:nvPicPr>
        <p:blipFill>
          <a:blip r:embed="rId2"/>
          <a:srcRect t="18023" b="3306"/>
          <a:stretch/>
        </p:blipFill>
        <p:spPr>
          <a:xfrm>
            <a:off x="20" y="10"/>
            <a:ext cx="12191980" cy="6857990"/>
          </a:xfrm>
          <a:prstGeom prst="rect">
            <a:avLst/>
          </a:prstGeom>
        </p:spPr>
      </p:pic>
      <p:sp>
        <p:nvSpPr>
          <p:cNvPr id="11" name="Oval 10">
            <a:extLst>
              <a:ext uri="{FF2B5EF4-FFF2-40B4-BE49-F238E27FC236}">
                <a16:creationId xmlns:a16="http://schemas.microsoft.com/office/drawing/2014/main" id="{CC3B9006-4406-4E2F-8B42-6A968FCC89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70993" y="1165193"/>
            <a:ext cx="4527613" cy="4527613"/>
          </a:xfrm>
          <a:prstGeom prst="ellipse">
            <a:avLst/>
          </a:prstGeom>
          <a:solidFill>
            <a:schemeClr val="accent1">
              <a:lumMod val="20000"/>
              <a:lumOff val="80000"/>
            </a:schemeClr>
          </a:solidFill>
          <a:ln>
            <a:noFill/>
          </a:ln>
          <a:effectLst>
            <a:outerShdw dist="165100" dir="8100000" algn="tr" rotWithShape="0">
              <a:prstClr val="black"/>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A41F3575-A22B-E0BA-914E-8B8994C6E02E}"/>
              </a:ext>
            </a:extLst>
          </p:cNvPr>
          <p:cNvSpPr>
            <a:spLocks noGrp="1"/>
          </p:cNvSpPr>
          <p:nvPr>
            <p:ph type="ctrTitle"/>
          </p:nvPr>
        </p:nvSpPr>
        <p:spPr>
          <a:xfrm>
            <a:off x="1235501" y="3056385"/>
            <a:ext cx="4192348" cy="962516"/>
          </a:xfrm>
        </p:spPr>
        <p:txBody>
          <a:bodyPr>
            <a:noAutofit/>
          </a:bodyPr>
          <a:lstStyle/>
          <a:p>
            <a:pPr algn="ctr"/>
            <a:r>
              <a:rPr lang="el-GR" sz="1600" b="1" spc="300"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Κατανοηση</a:t>
            </a:r>
            <a:r>
              <a:rPr lang="el-GR" sz="1600" b="1" spc="3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των </a:t>
            </a:r>
            <a:r>
              <a:rPr lang="el-GR" sz="1600" b="1" spc="300"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Χαρακτηριστικων</a:t>
            </a:r>
            <a:r>
              <a:rPr lang="el-GR" sz="1600" b="1" spc="3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της </a:t>
            </a:r>
            <a:r>
              <a:rPr lang="el-GR" sz="1600" b="1" spc="300"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Κινησης</a:t>
            </a:r>
            <a:r>
              <a:rPr lang="el-GR" sz="1600" b="1" spc="3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στα </a:t>
            </a:r>
            <a:r>
              <a:rPr lang="el-GR" sz="1600" b="1" spc="300"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Data</a:t>
            </a:r>
            <a:r>
              <a:rPr lang="el-GR" sz="1600" b="1" spc="3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el-GR" sz="1600" b="1" spc="300"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Centers</a:t>
            </a:r>
            <a:endParaRPr lang="el-GR" sz="1600" b="1" spc="300" dirty="0">
              <a:solidFill>
                <a:srgbClr val="0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B992D9D2-4962-3FD0-C71F-FB93DD27EB1B}"/>
              </a:ext>
            </a:extLst>
          </p:cNvPr>
          <p:cNvSpPr txBox="1"/>
          <p:nvPr/>
        </p:nvSpPr>
        <p:spPr>
          <a:xfrm>
            <a:off x="1561722" y="4386499"/>
            <a:ext cx="3539906" cy="400110"/>
          </a:xfrm>
          <a:prstGeom prst="rect">
            <a:avLst/>
          </a:prstGeom>
          <a:noFill/>
        </p:spPr>
        <p:txBody>
          <a:bodyPr wrap="square" rtlCol="0">
            <a:spAutoFit/>
          </a:bodyPr>
          <a:lstStyle/>
          <a:p>
            <a:pPr algn="ctr"/>
            <a:r>
              <a:rPr lang="en-US" sz="1000" dirty="0">
                <a:effectLst>
                  <a:outerShdw blurRad="38100" dist="38100" dir="2700000" algn="tl">
                    <a:srgbClr val="000000">
                      <a:alpha val="43137"/>
                    </a:srgbClr>
                  </a:outerShdw>
                </a:effectLst>
              </a:rPr>
              <a:t>Theophilus Benson⋆, Ashok Anand⋆, Aditya Akella⋆ and Ming Zhang† ⋆UW-Madison, †Microsoft Research</a:t>
            </a:r>
          </a:p>
        </p:txBody>
      </p:sp>
      <p:pic>
        <p:nvPicPr>
          <p:cNvPr id="6" name="Picture 5" descr="A red silhouette of a person on a horse&#10;&#10;AI-generated content may be incorrect.">
            <a:extLst>
              <a:ext uri="{FF2B5EF4-FFF2-40B4-BE49-F238E27FC236}">
                <a16:creationId xmlns:a16="http://schemas.microsoft.com/office/drawing/2014/main" id="{C2CF4552-1306-C9EE-761B-B5703078CE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8950" y="1471221"/>
            <a:ext cx="1305450" cy="1305450"/>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DAF4B770-AB51-7510-6888-D6F9A618F457}"/>
              </a:ext>
            </a:extLst>
          </p:cNvPr>
          <p:cNvSpPr txBox="1"/>
          <p:nvPr/>
        </p:nvSpPr>
        <p:spPr>
          <a:xfrm>
            <a:off x="2127564" y="4986669"/>
            <a:ext cx="2435383" cy="400110"/>
          </a:xfrm>
          <a:prstGeom prst="rect">
            <a:avLst/>
          </a:prstGeom>
          <a:noFill/>
        </p:spPr>
        <p:txBody>
          <a:bodyPr wrap="square" rtlCol="0">
            <a:spAutoFit/>
          </a:bodyPr>
          <a:lstStyle/>
          <a:p>
            <a:pPr algn="ctr"/>
            <a:r>
              <a:rPr lang="en-US" sz="1000" dirty="0">
                <a:effectLst>
                  <a:outerShdw blurRad="38100" dist="38100" dir="2700000" algn="tl">
                    <a:srgbClr val="000000">
                      <a:alpha val="43137"/>
                    </a:srgbClr>
                  </a:outerShdw>
                </a:effectLst>
              </a:rPr>
              <a:t>WREN’09, August 21, 2009, Barcelona, Spain.</a:t>
            </a:r>
          </a:p>
        </p:txBody>
      </p:sp>
    </p:spTree>
    <p:extLst>
      <p:ext uri="{BB962C8B-B14F-4D97-AF65-F5344CB8AC3E}">
        <p14:creationId xmlns:p14="http://schemas.microsoft.com/office/powerpoint/2010/main" val="2369206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822D577B-9018-47AD-8C60-A09FB788AD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74737BB7-0B46-27B7-9B22-B53E3633EC95}"/>
              </a:ext>
            </a:extLst>
          </p:cNvPr>
          <p:cNvSpPr>
            <a:spLocks noGrp="1"/>
          </p:cNvSpPr>
          <p:nvPr>
            <p:ph type="title"/>
          </p:nvPr>
        </p:nvSpPr>
        <p:spPr>
          <a:xfrm>
            <a:off x="700710" y="80933"/>
            <a:ext cx="5295900" cy="1459159"/>
          </a:xfrm>
        </p:spPr>
        <p:txBody>
          <a:bodyPr anchor="b">
            <a:normAutofit/>
          </a:bodyPr>
          <a:lstStyle/>
          <a:p>
            <a:r>
              <a:rPr lang="el-GR" dirty="0" err="1">
                <a:latin typeface="Times New Roman" panose="02020603050405020304" pitchFamily="18" charset="0"/>
                <a:cs typeface="Times New Roman" panose="02020603050405020304" pitchFamily="18" charset="0"/>
              </a:rPr>
              <a:t>Εισαγωγ</a:t>
            </a:r>
            <a:r>
              <a:rPr lang="en-US" dirty="0">
                <a:latin typeface="Times New Roman" panose="02020603050405020304" pitchFamily="18" charset="0"/>
                <a:cs typeface="Times New Roman" panose="02020603050405020304" pitchFamily="18" charset="0"/>
              </a:rPr>
              <a:t>h</a:t>
            </a:r>
            <a:endParaRPr lang="el-GR" dirty="0">
              <a:latin typeface="Times New Roman" panose="02020603050405020304" pitchFamily="18" charset="0"/>
              <a:cs typeface="Times New Roman" panose="02020603050405020304" pitchFamily="18" charset="0"/>
            </a:endParaRPr>
          </a:p>
        </p:txBody>
      </p:sp>
      <p:sp>
        <p:nvSpPr>
          <p:cNvPr id="1033" name="Rectangle 1032">
            <a:extLst>
              <a:ext uri="{FF2B5EF4-FFF2-40B4-BE49-F238E27FC236}">
                <a16:creationId xmlns:a16="http://schemas.microsoft.com/office/drawing/2014/main" id="{FCE2E558-1756-4EDF-A961-1F0E5C5B1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A0984FBA-1269-F993-5762-AFE55C857FEC}"/>
              </a:ext>
            </a:extLst>
          </p:cNvPr>
          <p:cNvSpPr>
            <a:spLocks noGrp="1"/>
          </p:cNvSpPr>
          <p:nvPr>
            <p:ph idx="1"/>
          </p:nvPr>
        </p:nvSpPr>
        <p:spPr>
          <a:xfrm>
            <a:off x="516834" y="2021305"/>
            <a:ext cx="5579165" cy="4538521"/>
          </a:xfrm>
        </p:spPr>
        <p:txBody>
          <a:bodyPr>
            <a:normAutofit fontScale="92500"/>
          </a:bodyPr>
          <a:lstStyle/>
          <a:p>
            <a:pPr>
              <a:lnSpc>
                <a:spcPct val="120000"/>
              </a:lnSpc>
              <a:buFont typeface="Wingdings" panose="05000000000000000000" pitchFamily="2" charset="2"/>
              <a:buChar char="v"/>
            </a:pPr>
            <a:r>
              <a:rPr lang="el-GR" sz="1400" dirty="0">
                <a:latin typeface="Times New Roman" panose="02020603050405020304" pitchFamily="18" charset="0"/>
                <a:cs typeface="Times New Roman" panose="02020603050405020304" pitchFamily="18" charset="0"/>
              </a:rPr>
              <a:t>Τα </a:t>
            </a:r>
            <a:r>
              <a:rPr lang="el-GR" sz="1400" dirty="0" err="1">
                <a:latin typeface="Times New Roman" panose="02020603050405020304" pitchFamily="18" charset="0"/>
                <a:cs typeface="Times New Roman" panose="02020603050405020304" pitchFamily="18" charset="0"/>
              </a:rPr>
              <a:t>Data</a:t>
            </a:r>
            <a:r>
              <a:rPr lang="el-GR" sz="1400" dirty="0">
                <a:latin typeface="Times New Roman" panose="02020603050405020304" pitchFamily="18" charset="0"/>
                <a:cs typeface="Times New Roman" panose="02020603050405020304" pitchFamily="18" charset="0"/>
              </a:rPr>
              <a:t> </a:t>
            </a:r>
            <a:r>
              <a:rPr lang="el-GR" sz="1400" dirty="0" err="1">
                <a:latin typeface="Times New Roman" panose="02020603050405020304" pitchFamily="18" charset="0"/>
                <a:cs typeface="Times New Roman" panose="02020603050405020304" pitchFamily="18" charset="0"/>
              </a:rPr>
              <a:t>Centers</a:t>
            </a:r>
            <a:r>
              <a:rPr lang="el-GR" sz="1400" dirty="0">
                <a:latin typeface="Times New Roman" panose="02020603050405020304" pitchFamily="18" charset="0"/>
                <a:cs typeface="Times New Roman" panose="02020603050405020304" pitchFamily="18" charset="0"/>
              </a:rPr>
              <a:t> είναι μεγάλες συστοιχίες διακομιστών (</a:t>
            </a:r>
            <a:r>
              <a:rPr lang="el-GR" sz="1400" dirty="0" err="1">
                <a:latin typeface="Times New Roman" panose="02020603050405020304" pitchFamily="18" charset="0"/>
                <a:cs typeface="Times New Roman" panose="02020603050405020304" pitchFamily="18" charset="0"/>
              </a:rPr>
              <a:t>servers</a:t>
            </a:r>
            <a:r>
              <a:rPr lang="el-GR" sz="1400" dirty="0">
                <a:latin typeface="Times New Roman" panose="02020603050405020304" pitchFamily="18" charset="0"/>
                <a:cs typeface="Times New Roman" panose="02020603050405020304" pitchFamily="18" charset="0"/>
              </a:rPr>
              <a:t>) που χρησιμοποιούνται από πανεπιστήμια, επιχειρήσεις και καταναλωτές για την εκτέλεση διαφόρων εφαρμογών. Οι εφαρμογές αυτές περιλαμβάνουν τόσο υπηρεσίες που απευθύνονται στο διαδίκτυο (όπως αναζήτηση, </a:t>
            </a:r>
            <a:r>
              <a:rPr lang="el-GR" sz="1400" dirty="0" err="1">
                <a:latin typeface="Times New Roman" panose="02020603050405020304" pitchFamily="18" charset="0"/>
                <a:cs typeface="Times New Roman" panose="02020603050405020304" pitchFamily="18" charset="0"/>
              </a:rPr>
              <a:t>streaming</a:t>
            </a:r>
            <a:r>
              <a:rPr lang="el-GR" sz="1400" dirty="0">
                <a:latin typeface="Times New Roman" panose="02020603050405020304" pitchFamily="18" charset="0"/>
                <a:cs typeface="Times New Roman" panose="02020603050405020304" pitchFamily="18" charset="0"/>
              </a:rPr>
              <a:t>, μηνύματα) όσο και εφαρμογές που απαιτούν υψηλή υπολογιστική ισχύ (π.χ. ανάλυση δεδομένων, επιστημονικές προσομοιώσεις).</a:t>
            </a:r>
          </a:p>
          <a:p>
            <a:pPr>
              <a:lnSpc>
                <a:spcPct val="120000"/>
              </a:lnSpc>
              <a:buFont typeface="Wingdings" panose="05000000000000000000" pitchFamily="2" charset="2"/>
              <a:buChar char="v"/>
            </a:pPr>
            <a:r>
              <a:rPr lang="el-GR" sz="1400" dirty="0">
                <a:latin typeface="Times New Roman" panose="02020603050405020304" pitchFamily="18" charset="0"/>
                <a:cs typeface="Times New Roman" panose="02020603050405020304" pitchFamily="18" charset="0"/>
              </a:rPr>
              <a:t>Μέχρι στιγμής, η ανάλυση της κυκλοφορίας σε </a:t>
            </a:r>
            <a:r>
              <a:rPr lang="el-GR" sz="1400" dirty="0" err="1">
                <a:latin typeface="Times New Roman" panose="02020603050405020304" pitchFamily="18" charset="0"/>
                <a:cs typeface="Times New Roman" panose="02020603050405020304" pitchFamily="18" charset="0"/>
              </a:rPr>
              <a:t>Data</a:t>
            </a:r>
            <a:r>
              <a:rPr lang="el-GR" sz="1400" dirty="0">
                <a:latin typeface="Times New Roman" panose="02020603050405020304" pitchFamily="18" charset="0"/>
                <a:cs typeface="Times New Roman" panose="02020603050405020304" pitchFamily="18" charset="0"/>
              </a:rPr>
              <a:t> </a:t>
            </a:r>
            <a:r>
              <a:rPr lang="el-GR" sz="1400" dirty="0" err="1">
                <a:latin typeface="Times New Roman" panose="02020603050405020304" pitchFamily="18" charset="0"/>
                <a:cs typeface="Times New Roman" panose="02020603050405020304" pitchFamily="18" charset="0"/>
              </a:rPr>
              <a:t>Centers</a:t>
            </a:r>
            <a:r>
              <a:rPr lang="el-GR" sz="1400" dirty="0">
                <a:latin typeface="Times New Roman" panose="02020603050405020304" pitchFamily="18" charset="0"/>
                <a:cs typeface="Times New Roman" panose="02020603050405020304" pitchFamily="18" charset="0"/>
              </a:rPr>
              <a:t> έχει γίνει κυρίως μέσω συνθετικών φορτίων (</a:t>
            </a:r>
            <a:r>
              <a:rPr lang="el-GR" sz="1400" dirty="0" err="1">
                <a:latin typeface="Times New Roman" panose="02020603050405020304" pitchFamily="18" charset="0"/>
                <a:cs typeface="Times New Roman" panose="02020603050405020304" pitchFamily="18" charset="0"/>
              </a:rPr>
              <a:t>synthetic</a:t>
            </a:r>
            <a:r>
              <a:rPr lang="el-GR" sz="1400" dirty="0">
                <a:latin typeface="Times New Roman" panose="02020603050405020304" pitchFamily="18" charset="0"/>
                <a:cs typeface="Times New Roman" panose="02020603050405020304" pitchFamily="18" charset="0"/>
              </a:rPr>
              <a:t> </a:t>
            </a:r>
            <a:r>
              <a:rPr lang="el-GR" sz="1400" dirty="0" err="1">
                <a:latin typeface="Times New Roman" panose="02020603050405020304" pitchFamily="18" charset="0"/>
                <a:cs typeface="Times New Roman" panose="02020603050405020304" pitchFamily="18" charset="0"/>
              </a:rPr>
              <a:t>workloads</a:t>
            </a:r>
            <a:r>
              <a:rPr lang="el-GR" sz="1400" dirty="0">
                <a:latin typeface="Times New Roman" panose="02020603050405020304" pitchFamily="18" charset="0"/>
                <a:cs typeface="Times New Roman" panose="02020603050405020304" pitchFamily="18" charset="0"/>
              </a:rPr>
              <a:t>), τα οποία συχνά δεν αντικατοπτρίζουν την πραγματική συμπεριφορά της κυκλοφορίας. Η έλλειψη λεπτομερών δεδομένων καθιστά δύσκολη την αξιολόγηση νέων αρχιτεκτονικών διαχείρισης και εξισορρόπησης φορτίου (</a:t>
            </a:r>
            <a:r>
              <a:rPr lang="el-GR" sz="1400" dirty="0" err="1">
                <a:latin typeface="Times New Roman" panose="02020603050405020304" pitchFamily="18" charset="0"/>
                <a:cs typeface="Times New Roman" panose="02020603050405020304" pitchFamily="18" charset="0"/>
              </a:rPr>
              <a:t>load</a:t>
            </a:r>
            <a:r>
              <a:rPr lang="el-GR" sz="1400" dirty="0">
                <a:latin typeface="Times New Roman" panose="02020603050405020304" pitchFamily="18" charset="0"/>
                <a:cs typeface="Times New Roman" panose="02020603050405020304" pitchFamily="18" charset="0"/>
              </a:rPr>
              <a:t> </a:t>
            </a:r>
            <a:r>
              <a:rPr lang="el-GR" sz="1400" dirty="0" err="1">
                <a:latin typeface="Times New Roman" panose="02020603050405020304" pitchFamily="18" charset="0"/>
                <a:cs typeface="Times New Roman" panose="02020603050405020304" pitchFamily="18" charset="0"/>
              </a:rPr>
              <a:t>balancing</a:t>
            </a:r>
            <a:r>
              <a:rPr lang="el-GR" sz="1400" dirty="0">
                <a:latin typeface="Times New Roman" panose="02020603050405020304" pitchFamily="18" charset="0"/>
                <a:cs typeface="Times New Roman" panose="02020603050405020304" pitchFamily="18" charset="0"/>
              </a:rPr>
              <a:t>). Επιπλέον, η τρέχουσα πρακτική των διαχειριστών είναι να επαναχρησιμοποιούν μηχανισμούς </a:t>
            </a:r>
            <a:r>
              <a:rPr lang="el-GR" sz="1400" dirty="0" err="1">
                <a:latin typeface="Times New Roman" panose="02020603050405020304" pitchFamily="18" charset="0"/>
                <a:cs typeface="Times New Roman" panose="02020603050405020304" pitchFamily="18" charset="0"/>
              </a:rPr>
              <a:t>traffic</a:t>
            </a:r>
            <a:r>
              <a:rPr lang="el-GR" sz="1400" dirty="0">
                <a:latin typeface="Times New Roman" panose="02020603050405020304" pitchFamily="18" charset="0"/>
                <a:cs typeface="Times New Roman" panose="02020603050405020304" pitchFamily="18" charset="0"/>
              </a:rPr>
              <a:t> </a:t>
            </a:r>
            <a:r>
              <a:rPr lang="el-GR" sz="1400" dirty="0" err="1">
                <a:latin typeface="Times New Roman" panose="02020603050405020304" pitchFamily="18" charset="0"/>
                <a:cs typeface="Times New Roman" panose="02020603050405020304" pitchFamily="18" charset="0"/>
              </a:rPr>
              <a:t>engineering</a:t>
            </a:r>
            <a:r>
              <a:rPr lang="el-GR" sz="1400" dirty="0">
                <a:latin typeface="Times New Roman" panose="02020603050405020304" pitchFamily="18" charset="0"/>
                <a:cs typeface="Times New Roman" panose="02020603050405020304" pitchFamily="18" charset="0"/>
              </a:rPr>
              <a:t> που σχεδιάστηκαν για δίκτυα επιχειρήσεων ή </a:t>
            </a:r>
            <a:r>
              <a:rPr lang="el-GR" sz="1400" dirty="0" err="1">
                <a:latin typeface="Times New Roman" panose="02020603050405020304" pitchFamily="18" charset="0"/>
                <a:cs typeface="Times New Roman" panose="02020603050405020304" pitchFamily="18" charset="0"/>
              </a:rPr>
              <a:t>WANs</a:t>
            </a:r>
            <a:r>
              <a:rPr lang="el-GR" sz="1400" dirty="0">
                <a:latin typeface="Times New Roman" panose="02020603050405020304" pitchFamily="18" charset="0"/>
                <a:cs typeface="Times New Roman" panose="02020603050405020304" pitchFamily="18" charset="0"/>
              </a:rPr>
              <a:t>, παρόλο που η δομή της κίνησης στα </a:t>
            </a:r>
            <a:r>
              <a:rPr lang="el-GR" sz="1400" dirty="0" err="1">
                <a:latin typeface="Times New Roman" panose="02020603050405020304" pitchFamily="18" charset="0"/>
                <a:cs typeface="Times New Roman" panose="02020603050405020304" pitchFamily="18" charset="0"/>
              </a:rPr>
              <a:t>Data</a:t>
            </a:r>
            <a:r>
              <a:rPr lang="el-GR" sz="1400" dirty="0">
                <a:latin typeface="Times New Roman" panose="02020603050405020304" pitchFamily="18" charset="0"/>
                <a:cs typeface="Times New Roman" panose="02020603050405020304" pitchFamily="18" charset="0"/>
              </a:rPr>
              <a:t> </a:t>
            </a:r>
            <a:r>
              <a:rPr lang="el-GR" sz="1400" dirty="0" err="1">
                <a:latin typeface="Times New Roman" panose="02020603050405020304" pitchFamily="18" charset="0"/>
                <a:cs typeface="Times New Roman" panose="02020603050405020304" pitchFamily="18" charset="0"/>
              </a:rPr>
              <a:t>Centers</a:t>
            </a:r>
            <a:r>
              <a:rPr lang="el-GR" sz="1400" dirty="0">
                <a:latin typeface="Times New Roman" panose="02020603050405020304" pitchFamily="18" charset="0"/>
                <a:cs typeface="Times New Roman" panose="02020603050405020304" pitchFamily="18" charset="0"/>
              </a:rPr>
              <a:t> είναι πιθανώς διαφορετική.</a:t>
            </a:r>
          </a:p>
          <a:p>
            <a:pPr>
              <a:lnSpc>
                <a:spcPct val="120000"/>
              </a:lnSpc>
              <a:buFont typeface="Wingdings" panose="05000000000000000000" pitchFamily="2" charset="2"/>
              <a:buChar char="v"/>
            </a:pPr>
            <a:r>
              <a:rPr lang="el-GR" sz="1400" dirty="0">
                <a:latin typeface="Times New Roman" panose="02020603050405020304" pitchFamily="18" charset="0"/>
                <a:cs typeface="Times New Roman" panose="02020603050405020304" pitchFamily="18" charset="0"/>
              </a:rPr>
              <a:t>Αυτή η μελέτη προσπαθεί να γεφυρώσει αυτό το χάσμα μέσω μιας εμπειρικής ανάλυσης βασισμένης σε πραγματικά δεδομένα.</a:t>
            </a:r>
          </a:p>
        </p:txBody>
      </p:sp>
      <p:sp>
        <p:nvSpPr>
          <p:cNvPr id="1035" name="Rectangle 1034">
            <a:extLst>
              <a:ext uri="{FF2B5EF4-FFF2-40B4-BE49-F238E27FC236}">
                <a16:creationId xmlns:a16="http://schemas.microsoft.com/office/drawing/2014/main" id="{5401B466-517B-4B8B-A80A-FD0ECAECFD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1248792" y="3886200"/>
            <a:ext cx="949990" cy="29718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1A42EF36-E4B3-4B8C-A6B8-4C12B704C6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9823615" y="2413875"/>
            <a:ext cx="2289284" cy="3815228"/>
          </a:xfrm>
          <a:prstGeom prst="rect">
            <a:avLst/>
          </a:pr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100+] Data Center Wallpapers | Wallpapers.com">
            <a:extLst>
              <a:ext uri="{FF2B5EF4-FFF2-40B4-BE49-F238E27FC236}">
                <a16:creationId xmlns:a16="http://schemas.microsoft.com/office/drawing/2014/main" id="{21C38549-68B4-4BBE-4FEA-87807CD27C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6841" r="26909"/>
          <a:stretch/>
        </p:blipFill>
        <p:spPr bwMode="auto">
          <a:xfrm>
            <a:off x="6868453" y="926416"/>
            <a:ext cx="4712383" cy="4712383"/>
          </a:xfrm>
          <a:custGeom>
            <a:avLst/>
            <a:gdLst/>
            <a:ahLst/>
            <a:cxnLst/>
            <a:rect l="l" t="t" r="r" b="b"/>
            <a:pathLst>
              <a:path w="4487466" h="4487466">
                <a:moveTo>
                  <a:pt x="2243733" y="0"/>
                </a:moveTo>
                <a:cubicBezTo>
                  <a:pt x="3482913" y="0"/>
                  <a:pt x="4487466" y="1004553"/>
                  <a:pt x="4487466" y="2243733"/>
                </a:cubicBezTo>
                <a:cubicBezTo>
                  <a:pt x="4487466" y="3482913"/>
                  <a:pt x="3482913" y="4487466"/>
                  <a:pt x="2243733" y="4487466"/>
                </a:cubicBezTo>
                <a:cubicBezTo>
                  <a:pt x="1004553" y="4487466"/>
                  <a:pt x="0" y="3482913"/>
                  <a:pt x="0" y="2243733"/>
                </a:cubicBezTo>
                <a:cubicBezTo>
                  <a:pt x="0" y="1004553"/>
                  <a:pt x="1004553" y="0"/>
                  <a:pt x="2243733"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8018643"/>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ED2F08D-1D29-4936-B7D6-9F88442A01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47C5722B-8FAA-61B0-0CC8-0C317246685C}"/>
              </a:ext>
            </a:extLst>
          </p:cNvPr>
          <p:cNvSpPr>
            <a:spLocks noGrp="1"/>
          </p:cNvSpPr>
          <p:nvPr>
            <p:ph type="title"/>
          </p:nvPr>
        </p:nvSpPr>
        <p:spPr>
          <a:xfrm>
            <a:off x="800100" y="395926"/>
            <a:ext cx="10535235" cy="1065229"/>
          </a:xfrm>
        </p:spPr>
        <p:txBody>
          <a:bodyPr anchor="ctr">
            <a:normAutofit/>
          </a:bodyPr>
          <a:lstStyle/>
          <a:p>
            <a:r>
              <a:rPr lang="el-GR" dirty="0" err="1">
                <a:latin typeface="Times New Roman" panose="02020603050405020304" pitchFamily="18" charset="0"/>
                <a:cs typeface="Times New Roman" panose="02020603050405020304" pitchFamily="18" charset="0"/>
              </a:rPr>
              <a:t>Στοχοι</a:t>
            </a:r>
            <a:r>
              <a:rPr lang="el-GR" dirty="0">
                <a:latin typeface="Times New Roman" panose="02020603050405020304" pitchFamily="18" charset="0"/>
                <a:cs typeface="Times New Roman" panose="02020603050405020304" pitchFamily="18" charset="0"/>
              </a:rPr>
              <a:t> της </a:t>
            </a:r>
            <a:r>
              <a:rPr lang="el-GR" dirty="0" err="1">
                <a:latin typeface="Times New Roman" panose="02020603050405020304" pitchFamily="18" charset="0"/>
                <a:cs typeface="Times New Roman" panose="02020603050405020304" pitchFamily="18" charset="0"/>
              </a:rPr>
              <a:t>Μελετης</a:t>
            </a:r>
            <a:endParaRPr lang="el-GR"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8ACC75C7-D8A5-44A4-92E4-A0797BB61F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207106" cy="20193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FC727D49-D2FD-46AD-8B1A-11C9E5D9AE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3997298" y="3248167"/>
            <a:ext cx="8194701" cy="3608015"/>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Rectangle 13">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2614" y="1739386"/>
            <a:ext cx="9666748" cy="4294415"/>
          </a:xfrm>
          <a:prstGeom prst="rect">
            <a:avLst/>
          </a:prstGeom>
          <a:solidFill>
            <a:schemeClr val="accent1">
              <a:lumMod val="20000"/>
              <a:lumOff val="80000"/>
            </a:schemeClr>
          </a:solidFill>
          <a:ln w="38100">
            <a:noFill/>
          </a:ln>
          <a:effectLst>
            <a:outerShdw dist="190500" dir="270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75B20713-5B9E-2D44-8BDB-C2FEA73C0CA9}"/>
              </a:ext>
            </a:extLst>
          </p:cNvPr>
          <p:cNvSpPr>
            <a:spLocks noGrp="1"/>
          </p:cNvSpPr>
          <p:nvPr>
            <p:ph idx="1"/>
          </p:nvPr>
        </p:nvSpPr>
        <p:spPr>
          <a:xfrm>
            <a:off x="1602613" y="1618298"/>
            <a:ext cx="9666748" cy="4294414"/>
          </a:xfrm>
        </p:spPr>
        <p:txBody>
          <a:bodyPr>
            <a:noAutofit/>
          </a:bodyPr>
          <a:lstStyle/>
          <a:p>
            <a:pPr>
              <a:lnSpc>
                <a:spcPct val="120000"/>
              </a:lnSpc>
              <a:buNone/>
            </a:pPr>
            <a:r>
              <a:rPr lang="el-GR" sz="1700" dirty="0">
                <a:solidFill>
                  <a:srgbClr val="000000"/>
                </a:solidFill>
                <a:latin typeface="Times New Roman" panose="02020603050405020304" pitchFamily="18" charset="0"/>
                <a:cs typeface="Times New Roman" panose="02020603050405020304" pitchFamily="18" charset="0"/>
              </a:rPr>
              <a:t>Η συγκεκριμένη μελέτη έχει ως βασικό στόχο την κατανόηση των χαρακτηριστικών της κυκλοφορίας μέσα στα δίκτυα των </a:t>
            </a:r>
            <a:r>
              <a:rPr lang="el-GR" sz="1700" dirty="0" err="1">
                <a:solidFill>
                  <a:srgbClr val="000000"/>
                </a:solidFill>
                <a:latin typeface="Times New Roman" panose="02020603050405020304" pitchFamily="18" charset="0"/>
                <a:cs typeface="Times New Roman" panose="02020603050405020304" pitchFamily="18" charset="0"/>
              </a:rPr>
              <a:t>Data</a:t>
            </a:r>
            <a:r>
              <a:rPr lang="el-GR" sz="1700" dirty="0">
                <a:solidFill>
                  <a:srgbClr val="000000"/>
                </a:solidFill>
                <a:latin typeface="Times New Roman" panose="02020603050405020304" pitchFamily="18" charset="0"/>
                <a:cs typeface="Times New Roman" panose="02020603050405020304" pitchFamily="18" charset="0"/>
              </a:rPr>
              <a:t> </a:t>
            </a:r>
            <a:r>
              <a:rPr lang="el-GR" sz="1700" dirty="0" err="1">
                <a:solidFill>
                  <a:srgbClr val="000000"/>
                </a:solidFill>
                <a:latin typeface="Times New Roman" panose="02020603050405020304" pitchFamily="18" charset="0"/>
                <a:cs typeface="Times New Roman" panose="02020603050405020304" pitchFamily="18" charset="0"/>
              </a:rPr>
              <a:t>Centers</a:t>
            </a:r>
            <a:r>
              <a:rPr lang="el-GR" sz="1700" dirty="0">
                <a:solidFill>
                  <a:srgbClr val="000000"/>
                </a:solidFill>
                <a:latin typeface="Times New Roman" panose="02020603050405020304" pitchFamily="18" charset="0"/>
                <a:cs typeface="Times New Roman" panose="02020603050405020304" pitchFamily="18" charset="0"/>
              </a:rPr>
              <a:t> και την ανάπτυξη μιας μεθοδολογίας που θα επιτρέπει την εξαγωγή λεπτομερών πληροφοριών από δεδομένα χαμηλής ανάλυσης (όπως τα SNMP </a:t>
            </a:r>
            <a:r>
              <a:rPr lang="el-GR" sz="1700" dirty="0" err="1">
                <a:solidFill>
                  <a:srgbClr val="000000"/>
                </a:solidFill>
                <a:latin typeface="Times New Roman" panose="02020603050405020304" pitchFamily="18" charset="0"/>
                <a:cs typeface="Times New Roman" panose="02020603050405020304" pitchFamily="18" charset="0"/>
              </a:rPr>
              <a:t>logs</a:t>
            </a:r>
            <a:r>
              <a:rPr lang="el-GR" sz="1700" dirty="0">
                <a:solidFill>
                  <a:srgbClr val="000000"/>
                </a:solidFill>
                <a:latin typeface="Times New Roman" panose="02020603050405020304" pitchFamily="18" charset="0"/>
                <a:cs typeface="Times New Roman" panose="02020603050405020304" pitchFamily="18" charset="0"/>
              </a:rPr>
              <a:t>).</a:t>
            </a:r>
          </a:p>
          <a:p>
            <a:pPr>
              <a:lnSpc>
                <a:spcPct val="120000"/>
              </a:lnSpc>
              <a:buNone/>
            </a:pPr>
            <a:r>
              <a:rPr lang="el-GR" sz="1700" dirty="0">
                <a:solidFill>
                  <a:srgbClr val="000000"/>
                </a:solidFill>
                <a:latin typeface="Times New Roman" panose="02020603050405020304" pitchFamily="18" charset="0"/>
                <a:cs typeface="Times New Roman" panose="02020603050405020304" pitchFamily="18" charset="0"/>
              </a:rPr>
              <a:t>Συγκεκριμένοι στόχοι της μελέτης περιλαμβάνουν:</a:t>
            </a:r>
          </a:p>
          <a:p>
            <a:pPr>
              <a:lnSpc>
                <a:spcPct val="120000"/>
              </a:lnSpc>
              <a:buFont typeface="+mj-lt"/>
              <a:buAutoNum type="arabicPeriod"/>
            </a:pPr>
            <a:r>
              <a:rPr lang="el-GR" sz="1700" dirty="0">
                <a:solidFill>
                  <a:srgbClr val="000000"/>
                </a:solidFill>
                <a:latin typeface="Times New Roman" panose="02020603050405020304" pitchFamily="18" charset="0"/>
                <a:cs typeface="Times New Roman" panose="02020603050405020304" pitchFamily="18" charset="0"/>
              </a:rPr>
              <a:t>Ανάλυση των μοτίβων κυκλοφορίας στα </a:t>
            </a:r>
            <a:r>
              <a:rPr lang="el-GR" sz="1700" dirty="0" err="1">
                <a:solidFill>
                  <a:srgbClr val="000000"/>
                </a:solidFill>
                <a:latin typeface="Times New Roman" panose="02020603050405020304" pitchFamily="18" charset="0"/>
                <a:cs typeface="Times New Roman" panose="02020603050405020304" pitchFamily="18" charset="0"/>
              </a:rPr>
              <a:t>Data</a:t>
            </a:r>
            <a:r>
              <a:rPr lang="el-GR" sz="1700" dirty="0">
                <a:solidFill>
                  <a:srgbClr val="000000"/>
                </a:solidFill>
                <a:latin typeface="Times New Roman" panose="02020603050405020304" pitchFamily="18" charset="0"/>
                <a:cs typeface="Times New Roman" panose="02020603050405020304" pitchFamily="18" charset="0"/>
              </a:rPr>
              <a:t> </a:t>
            </a:r>
            <a:r>
              <a:rPr lang="el-GR" sz="1700" dirty="0" err="1">
                <a:solidFill>
                  <a:srgbClr val="000000"/>
                </a:solidFill>
                <a:latin typeface="Times New Roman" panose="02020603050405020304" pitchFamily="18" charset="0"/>
                <a:cs typeface="Times New Roman" panose="02020603050405020304" pitchFamily="18" charset="0"/>
              </a:rPr>
              <a:t>Centers</a:t>
            </a:r>
            <a:r>
              <a:rPr lang="el-GR" sz="1700" dirty="0">
                <a:solidFill>
                  <a:srgbClr val="000000"/>
                </a:solidFill>
                <a:latin typeface="Times New Roman" panose="02020603050405020304" pitchFamily="18" charset="0"/>
                <a:cs typeface="Times New Roman" panose="02020603050405020304" pitchFamily="18" charset="0"/>
              </a:rPr>
              <a:t>:</a:t>
            </a:r>
          </a:p>
          <a:p>
            <a:pPr marL="742950" lvl="1" indent="-285750">
              <a:lnSpc>
                <a:spcPct val="120000"/>
              </a:lnSpc>
              <a:buFont typeface="Wingdings" panose="05000000000000000000" pitchFamily="2" charset="2"/>
              <a:buChar char="v"/>
            </a:pPr>
            <a:r>
              <a:rPr lang="el-GR" sz="1700" dirty="0">
                <a:solidFill>
                  <a:srgbClr val="000000"/>
                </a:solidFill>
                <a:latin typeface="Times New Roman" panose="02020603050405020304" pitchFamily="18" charset="0"/>
                <a:cs typeface="Times New Roman" panose="02020603050405020304" pitchFamily="18" charset="0"/>
              </a:rPr>
              <a:t>Καταγραφή και ανάλυση της κίνησης στα δίκτυα των </a:t>
            </a:r>
            <a:r>
              <a:rPr lang="el-GR" sz="1700" dirty="0" err="1">
                <a:solidFill>
                  <a:srgbClr val="000000"/>
                </a:solidFill>
                <a:latin typeface="Times New Roman" panose="02020603050405020304" pitchFamily="18" charset="0"/>
                <a:cs typeface="Times New Roman" panose="02020603050405020304" pitchFamily="18" charset="0"/>
              </a:rPr>
              <a:t>Data</a:t>
            </a:r>
            <a:r>
              <a:rPr lang="el-GR" sz="1700" dirty="0">
                <a:solidFill>
                  <a:srgbClr val="000000"/>
                </a:solidFill>
                <a:latin typeface="Times New Roman" panose="02020603050405020304" pitchFamily="18" charset="0"/>
                <a:cs typeface="Times New Roman" panose="02020603050405020304" pitchFamily="18" charset="0"/>
              </a:rPr>
              <a:t> </a:t>
            </a:r>
            <a:r>
              <a:rPr lang="el-GR" sz="1700" dirty="0" err="1">
                <a:solidFill>
                  <a:srgbClr val="000000"/>
                </a:solidFill>
                <a:latin typeface="Times New Roman" panose="02020603050405020304" pitchFamily="18" charset="0"/>
                <a:cs typeface="Times New Roman" panose="02020603050405020304" pitchFamily="18" charset="0"/>
              </a:rPr>
              <a:t>Centers</a:t>
            </a:r>
            <a:r>
              <a:rPr lang="el-GR" sz="1700" dirty="0">
                <a:solidFill>
                  <a:srgbClr val="000000"/>
                </a:solidFill>
                <a:latin typeface="Times New Roman" panose="02020603050405020304" pitchFamily="18" charset="0"/>
                <a:cs typeface="Times New Roman" panose="02020603050405020304" pitchFamily="18" charset="0"/>
              </a:rPr>
              <a:t> με χρήση δεδομένων από 19 παραγωγικά περιβάλλοντα.</a:t>
            </a:r>
          </a:p>
          <a:p>
            <a:pPr marL="742950" lvl="1" indent="-285750">
              <a:lnSpc>
                <a:spcPct val="120000"/>
              </a:lnSpc>
              <a:buFont typeface="Wingdings" panose="05000000000000000000" pitchFamily="2" charset="2"/>
              <a:buChar char="v"/>
            </a:pPr>
            <a:r>
              <a:rPr lang="el-GR" sz="1700" dirty="0">
                <a:solidFill>
                  <a:srgbClr val="000000"/>
                </a:solidFill>
                <a:latin typeface="Times New Roman" panose="02020603050405020304" pitchFamily="18" charset="0"/>
                <a:cs typeface="Times New Roman" panose="02020603050405020304" pitchFamily="18" charset="0"/>
              </a:rPr>
              <a:t>Μελέτη του τρόπου με τον οποίο η κυκλοφορία μεταβάλλεται χρονικά και χωρικά εντός του δικτύου.</a:t>
            </a:r>
          </a:p>
          <a:p>
            <a:pPr>
              <a:lnSpc>
                <a:spcPct val="120000"/>
              </a:lnSpc>
              <a:buFont typeface="+mj-lt"/>
              <a:buAutoNum type="arabicPeriod"/>
            </a:pPr>
            <a:r>
              <a:rPr lang="el-GR" sz="1700" dirty="0">
                <a:solidFill>
                  <a:srgbClr val="000000"/>
                </a:solidFill>
                <a:latin typeface="Times New Roman" panose="02020603050405020304" pitchFamily="18" charset="0"/>
                <a:cs typeface="Times New Roman" panose="02020603050405020304" pitchFamily="18" charset="0"/>
              </a:rPr>
              <a:t>Μελέτη των απωλειών πακέτων και της συμφόρησης σε διάφορα επίπεδα του δικτύου:</a:t>
            </a:r>
          </a:p>
          <a:p>
            <a:pPr marL="742950" lvl="1" indent="-285750">
              <a:lnSpc>
                <a:spcPct val="120000"/>
              </a:lnSpc>
              <a:buFont typeface="Wingdings" panose="05000000000000000000" pitchFamily="2" charset="2"/>
              <a:buChar char="v"/>
            </a:pPr>
            <a:r>
              <a:rPr lang="el-GR" sz="1700" dirty="0">
                <a:solidFill>
                  <a:srgbClr val="000000"/>
                </a:solidFill>
                <a:latin typeface="Times New Roman" panose="02020603050405020304" pitchFamily="18" charset="0"/>
                <a:cs typeface="Times New Roman" panose="02020603050405020304" pitchFamily="18" charset="0"/>
              </a:rPr>
              <a:t>Ανάλυση της σχέσης μεταξύ χρήσης των συνδέσεων και απωλειών πακέτων.</a:t>
            </a:r>
          </a:p>
          <a:p>
            <a:pPr marL="742950" lvl="1" indent="-285750">
              <a:lnSpc>
                <a:spcPct val="120000"/>
              </a:lnSpc>
              <a:buFont typeface="Wingdings" panose="05000000000000000000" pitchFamily="2" charset="2"/>
              <a:buChar char="v"/>
            </a:pPr>
            <a:r>
              <a:rPr lang="el-GR" sz="1700" dirty="0">
                <a:solidFill>
                  <a:srgbClr val="000000"/>
                </a:solidFill>
                <a:latin typeface="Times New Roman" panose="02020603050405020304" pitchFamily="18" charset="0"/>
                <a:cs typeface="Times New Roman" panose="02020603050405020304" pitchFamily="18" charset="0"/>
              </a:rPr>
              <a:t>Καταγραφή των σημείων του δικτύου που παρουσιάζουν τα υψηλότερα ποσοστά απωλειών.</a:t>
            </a:r>
          </a:p>
          <a:p>
            <a:pPr marL="0" indent="0">
              <a:lnSpc>
                <a:spcPct val="120000"/>
              </a:lnSpc>
              <a:buNone/>
            </a:pPr>
            <a:endParaRPr lang="el-GR" sz="1700" dirty="0">
              <a:solidFill>
                <a:srgbClr val="000000"/>
              </a:solidFill>
            </a:endParaRPr>
          </a:p>
        </p:txBody>
      </p:sp>
    </p:spTree>
    <p:extLst>
      <p:ext uri="{BB962C8B-B14F-4D97-AF65-F5344CB8AC3E}">
        <p14:creationId xmlns:p14="http://schemas.microsoft.com/office/powerpoint/2010/main" val="1329868133"/>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47E0C5A-B4CE-720B-7AB3-1E07071CD6EE}"/>
              </a:ext>
            </a:extLst>
          </p:cNvPr>
          <p:cNvSpPr>
            <a:spLocks noGrp="1"/>
          </p:cNvSpPr>
          <p:nvPr>
            <p:ph type="title"/>
          </p:nvPr>
        </p:nvSpPr>
        <p:spPr/>
        <p:txBody>
          <a:bodyPr/>
          <a:lstStyle/>
          <a:p>
            <a:r>
              <a:rPr lang="el-GR" dirty="0" err="1">
                <a:latin typeface="Times New Roman" panose="02020603050405020304" pitchFamily="18" charset="0"/>
                <a:cs typeface="Times New Roman" panose="02020603050405020304" pitchFamily="18" charset="0"/>
              </a:rPr>
              <a:t>Στοχοι</a:t>
            </a:r>
            <a:r>
              <a:rPr lang="el-GR" dirty="0">
                <a:latin typeface="Times New Roman" panose="02020603050405020304" pitchFamily="18" charset="0"/>
                <a:cs typeface="Times New Roman" panose="02020603050405020304" pitchFamily="18" charset="0"/>
              </a:rPr>
              <a:t> της </a:t>
            </a:r>
            <a:r>
              <a:rPr lang="el-GR" dirty="0" err="1">
                <a:latin typeface="Times New Roman" panose="02020603050405020304" pitchFamily="18" charset="0"/>
                <a:cs typeface="Times New Roman" panose="02020603050405020304" pitchFamily="18" charset="0"/>
              </a:rPr>
              <a:t>Μελετης</a:t>
            </a:r>
            <a:endParaRPr lang="el-GR" dirty="0"/>
          </a:p>
        </p:txBody>
      </p:sp>
      <p:sp>
        <p:nvSpPr>
          <p:cNvPr id="3" name="Θέση περιεχομένου 2">
            <a:extLst>
              <a:ext uri="{FF2B5EF4-FFF2-40B4-BE49-F238E27FC236}">
                <a16:creationId xmlns:a16="http://schemas.microsoft.com/office/drawing/2014/main" id="{998C8E7A-0950-2939-A7CD-2396B97ED4A1}"/>
              </a:ext>
            </a:extLst>
          </p:cNvPr>
          <p:cNvSpPr>
            <a:spLocks noGrp="1"/>
          </p:cNvSpPr>
          <p:nvPr>
            <p:ph idx="1"/>
          </p:nvPr>
        </p:nvSpPr>
        <p:spPr/>
        <p:txBody>
          <a:bodyPr>
            <a:normAutofit/>
          </a:bodyPr>
          <a:lstStyle/>
          <a:p>
            <a:pPr marL="457200" indent="-457200">
              <a:buFont typeface="+mj-lt"/>
              <a:buAutoNum type="arabicPeriod" startAt="3"/>
            </a:pPr>
            <a:r>
              <a:rPr lang="el-GR" dirty="0">
                <a:latin typeface="Times New Roman" panose="02020603050405020304" pitchFamily="18" charset="0"/>
                <a:cs typeface="Times New Roman" panose="02020603050405020304" pitchFamily="18" charset="0"/>
              </a:rPr>
              <a:t>Ανάλυση του τρόπου με τον οποίο η κυκλοφορία εμφανίζει διακυμάνσεις:</a:t>
            </a:r>
          </a:p>
          <a:p>
            <a:pPr marL="742950" lvl="1" indent="-285750">
              <a:buFont typeface="Wingdings" panose="05000000000000000000" pitchFamily="2" charset="2"/>
              <a:buChar char="v"/>
            </a:pPr>
            <a:r>
              <a:rPr lang="el-GR" dirty="0">
                <a:latin typeface="Times New Roman" panose="02020603050405020304" pitchFamily="18" charset="0"/>
                <a:cs typeface="Times New Roman" panose="02020603050405020304" pitchFamily="18" charset="0"/>
              </a:rPr>
              <a:t>Εξέταση της ύπαρξης μοτίβων τύπου "ON-OFF", όπου τα δεδομένα μεταδίδονται με εκρήξεις (</a:t>
            </a:r>
            <a:r>
              <a:rPr lang="el-GR" dirty="0" err="1">
                <a:latin typeface="Times New Roman" panose="02020603050405020304" pitchFamily="18" charset="0"/>
                <a:cs typeface="Times New Roman" panose="02020603050405020304" pitchFamily="18" charset="0"/>
              </a:rPr>
              <a:t>bursts</a:t>
            </a:r>
            <a:r>
              <a:rPr lang="el-GR" dirty="0">
                <a:latin typeface="Times New Roman" panose="02020603050405020304" pitchFamily="18" charset="0"/>
                <a:cs typeface="Times New Roman" panose="02020603050405020304" pitchFamily="18" charset="0"/>
              </a:rPr>
              <a:t>) και ακολουθούνται από περιόδους αδράνειας.</a:t>
            </a:r>
          </a:p>
          <a:p>
            <a:pPr>
              <a:buFont typeface="+mj-lt"/>
              <a:buAutoNum type="arabicPeriod" startAt="3"/>
            </a:pPr>
            <a:r>
              <a:rPr lang="el-GR" dirty="0">
                <a:latin typeface="Times New Roman" panose="02020603050405020304" pitchFamily="18" charset="0"/>
                <a:cs typeface="Times New Roman" panose="02020603050405020304" pitchFamily="18" charset="0"/>
              </a:rPr>
              <a:t>Ανάπτυξη ενός πλαισίου (</a:t>
            </a:r>
            <a:r>
              <a:rPr lang="el-GR" dirty="0" err="1">
                <a:latin typeface="Times New Roman" panose="02020603050405020304" pitchFamily="18" charset="0"/>
                <a:cs typeface="Times New Roman" panose="02020603050405020304" pitchFamily="18" charset="0"/>
              </a:rPr>
              <a:t>framework</a:t>
            </a:r>
            <a:r>
              <a:rPr lang="el-GR" dirty="0">
                <a:latin typeface="Times New Roman" panose="02020603050405020304" pitchFamily="18" charset="0"/>
                <a:cs typeface="Times New Roman" panose="02020603050405020304" pitchFamily="18" charset="0"/>
              </a:rPr>
              <a:t>) που επιτρέπει την ανακατασκευή των λεπτομερών χαρακτηριστικών της κυκλοφορίας από δεδομένα χαμηλής ανάλυσης (</a:t>
            </a:r>
            <a:r>
              <a:rPr lang="el-GR" dirty="0" err="1">
                <a:latin typeface="Times New Roman" panose="02020603050405020304" pitchFamily="18" charset="0"/>
                <a:cs typeface="Times New Roman" panose="02020603050405020304" pitchFamily="18" charset="0"/>
              </a:rPr>
              <a:t>coarse-grained</a:t>
            </a:r>
            <a:r>
              <a:rPr lang="el-GR" dirty="0">
                <a:latin typeface="Times New Roman" panose="02020603050405020304" pitchFamily="18" charset="0"/>
                <a:cs typeface="Times New Roman" panose="02020603050405020304" pitchFamily="18" charset="0"/>
              </a:rPr>
              <a:t> </a:t>
            </a:r>
            <a:r>
              <a:rPr lang="el-GR" dirty="0" err="1">
                <a:latin typeface="Times New Roman" panose="02020603050405020304" pitchFamily="18" charset="0"/>
                <a:cs typeface="Times New Roman" panose="02020603050405020304" pitchFamily="18" charset="0"/>
              </a:rPr>
              <a:t>data</a:t>
            </a:r>
            <a:r>
              <a:rPr lang="el-GR"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v"/>
            </a:pPr>
            <a:r>
              <a:rPr lang="el-GR" dirty="0">
                <a:latin typeface="Times New Roman" panose="02020603050405020304" pitchFamily="18" charset="0"/>
                <a:cs typeface="Times New Roman" panose="02020603050405020304" pitchFamily="18" charset="0"/>
              </a:rPr>
              <a:t>Εισαγωγή μιας μεθόδου που χρησιμοποιεί στατιστικά μοντέλα για την παραγωγή πιο ακριβών προσομοιώσεων της κυκλοφορίας.</a:t>
            </a:r>
          </a:p>
          <a:p>
            <a:pPr marL="742950" lvl="1" indent="-285750">
              <a:buFont typeface="Wingdings" panose="05000000000000000000" pitchFamily="2" charset="2"/>
              <a:buChar char="v"/>
            </a:pPr>
            <a:r>
              <a:rPr lang="el-GR" dirty="0">
                <a:latin typeface="Times New Roman" panose="02020603050405020304" pitchFamily="18" charset="0"/>
                <a:cs typeface="Times New Roman" panose="02020603050405020304" pitchFamily="18" charset="0"/>
              </a:rPr>
              <a:t>Δοκιμή της μεθόδου αυτής σε πραγματικά δεδομένα και σύγκρισή της με τις παραδοσιακές μεθόδους </a:t>
            </a:r>
            <a:r>
              <a:rPr lang="el-GR" dirty="0" err="1">
                <a:latin typeface="Times New Roman" panose="02020603050405020304" pitchFamily="18" charset="0"/>
                <a:cs typeface="Times New Roman" panose="02020603050405020304" pitchFamily="18" charset="0"/>
              </a:rPr>
              <a:t>traffic</a:t>
            </a:r>
            <a:r>
              <a:rPr lang="el-GR" dirty="0">
                <a:latin typeface="Times New Roman" panose="02020603050405020304" pitchFamily="18" charset="0"/>
                <a:cs typeface="Times New Roman" panose="02020603050405020304" pitchFamily="18" charset="0"/>
              </a:rPr>
              <a:t> </a:t>
            </a:r>
            <a:r>
              <a:rPr lang="el-GR" dirty="0" err="1">
                <a:latin typeface="Times New Roman" panose="02020603050405020304" pitchFamily="18" charset="0"/>
                <a:cs typeface="Times New Roman" panose="02020603050405020304" pitchFamily="18" charset="0"/>
              </a:rPr>
              <a:t>engineering</a:t>
            </a:r>
            <a:r>
              <a:rPr lang="el-GR" dirty="0">
                <a:latin typeface="Times New Roman" panose="02020603050405020304" pitchFamily="18" charset="0"/>
                <a:cs typeface="Times New Roman" panose="02020603050405020304" pitchFamily="18" charset="0"/>
              </a:rPr>
              <a:t>.</a:t>
            </a:r>
          </a:p>
          <a:p>
            <a:endParaRPr lang="el-GR" dirty="0"/>
          </a:p>
        </p:txBody>
      </p:sp>
    </p:spTree>
    <p:extLst>
      <p:ext uri="{BB962C8B-B14F-4D97-AF65-F5344CB8AC3E}">
        <p14:creationId xmlns:p14="http://schemas.microsoft.com/office/powerpoint/2010/main" val="2302363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C614264-BA32-414F-95BE-0A30CC072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AF967ECE-2F93-E896-ABB3-CC193D7307A2}"/>
              </a:ext>
            </a:extLst>
          </p:cNvPr>
          <p:cNvSpPr>
            <a:spLocks noGrp="1"/>
          </p:cNvSpPr>
          <p:nvPr>
            <p:ph type="title"/>
          </p:nvPr>
        </p:nvSpPr>
        <p:spPr>
          <a:xfrm>
            <a:off x="818873" y="554981"/>
            <a:ext cx="6383684" cy="1101541"/>
          </a:xfrm>
        </p:spPr>
        <p:txBody>
          <a:bodyPr>
            <a:normAutofit fontScale="90000"/>
          </a:bodyPr>
          <a:lstStyle/>
          <a:p>
            <a:r>
              <a:rPr lang="el-GR" dirty="0" err="1">
                <a:latin typeface="Times New Roman" panose="02020603050405020304" pitchFamily="18" charset="0"/>
                <a:cs typeface="Times New Roman" panose="02020603050405020304" pitchFamily="18" charset="0"/>
              </a:rPr>
              <a:t>Δεδομ</a:t>
            </a:r>
            <a:r>
              <a:rPr lang="en-US" dirty="0">
                <a:latin typeface="Times New Roman" panose="02020603050405020304" pitchFamily="18" charset="0"/>
                <a:cs typeface="Times New Roman" panose="02020603050405020304" pitchFamily="18" charset="0"/>
              </a:rPr>
              <a:t>e</a:t>
            </a:r>
            <a:r>
              <a:rPr lang="el-GR" dirty="0">
                <a:latin typeface="Times New Roman" panose="02020603050405020304" pitchFamily="18" charset="0"/>
                <a:cs typeface="Times New Roman" panose="02020603050405020304" pitchFamily="18" charset="0"/>
              </a:rPr>
              <a:t>να και </a:t>
            </a:r>
            <a:r>
              <a:rPr lang="el-GR" dirty="0" err="1">
                <a:latin typeface="Times New Roman" panose="02020603050405020304" pitchFamily="18" charset="0"/>
                <a:cs typeface="Times New Roman" panose="02020603050405020304" pitchFamily="18" charset="0"/>
              </a:rPr>
              <a:t>Μεθοδολογ</a:t>
            </a:r>
            <a:r>
              <a:rPr lang="en-US" dirty="0" err="1">
                <a:latin typeface="Times New Roman" panose="02020603050405020304" pitchFamily="18" charset="0"/>
                <a:cs typeface="Times New Roman" panose="02020603050405020304" pitchFamily="18" charset="0"/>
              </a:rPr>
              <a:t>i</a:t>
            </a:r>
            <a:r>
              <a:rPr lang="el-GR" dirty="0">
                <a:latin typeface="Times New Roman" panose="02020603050405020304" pitchFamily="18" charset="0"/>
                <a:cs typeface="Times New Roman" panose="02020603050405020304" pitchFamily="18" charset="0"/>
              </a:rPr>
              <a:t>α</a:t>
            </a:r>
          </a:p>
        </p:txBody>
      </p:sp>
      <p:sp>
        <p:nvSpPr>
          <p:cNvPr id="3" name="Θέση περιεχομένου 2">
            <a:extLst>
              <a:ext uri="{FF2B5EF4-FFF2-40B4-BE49-F238E27FC236}">
                <a16:creationId xmlns:a16="http://schemas.microsoft.com/office/drawing/2014/main" id="{5A816655-7571-32D3-DD5E-723A15EFB6EE}"/>
              </a:ext>
            </a:extLst>
          </p:cNvPr>
          <p:cNvSpPr>
            <a:spLocks noGrp="1"/>
          </p:cNvSpPr>
          <p:nvPr>
            <p:ph idx="1"/>
          </p:nvPr>
        </p:nvSpPr>
        <p:spPr>
          <a:xfrm>
            <a:off x="818871" y="1656523"/>
            <a:ext cx="6430775" cy="4951056"/>
          </a:xfrm>
        </p:spPr>
        <p:txBody>
          <a:bodyPr>
            <a:normAutofit fontScale="47500" lnSpcReduction="20000"/>
          </a:bodyPr>
          <a:lstStyle/>
          <a:p>
            <a:pPr>
              <a:lnSpc>
                <a:spcPct val="120000"/>
              </a:lnSpc>
              <a:buNone/>
            </a:pPr>
            <a:r>
              <a:rPr lang="el-GR" sz="3700" dirty="0">
                <a:latin typeface="Times New Roman" panose="02020603050405020304" pitchFamily="18" charset="0"/>
                <a:cs typeface="Times New Roman" panose="02020603050405020304" pitchFamily="18" charset="0"/>
              </a:rPr>
              <a:t>Για την ανάλυση της κυκλοφορίας στα </a:t>
            </a:r>
            <a:r>
              <a:rPr lang="el-GR" sz="3700" dirty="0" err="1">
                <a:latin typeface="Times New Roman" panose="02020603050405020304" pitchFamily="18" charset="0"/>
                <a:cs typeface="Times New Roman" panose="02020603050405020304" pitchFamily="18" charset="0"/>
              </a:rPr>
              <a:t>Data</a:t>
            </a:r>
            <a:r>
              <a:rPr lang="el-GR" sz="3700" dirty="0">
                <a:latin typeface="Times New Roman" panose="02020603050405020304" pitchFamily="18" charset="0"/>
                <a:cs typeface="Times New Roman" panose="02020603050405020304" pitchFamily="18" charset="0"/>
              </a:rPr>
              <a:t> </a:t>
            </a:r>
            <a:r>
              <a:rPr lang="el-GR" sz="3700" dirty="0" err="1">
                <a:latin typeface="Times New Roman" panose="02020603050405020304" pitchFamily="18" charset="0"/>
                <a:cs typeface="Times New Roman" panose="02020603050405020304" pitchFamily="18" charset="0"/>
              </a:rPr>
              <a:t>Centers</a:t>
            </a:r>
            <a:r>
              <a:rPr lang="el-GR" sz="3700" dirty="0">
                <a:latin typeface="Times New Roman" panose="02020603050405020304" pitchFamily="18" charset="0"/>
                <a:cs typeface="Times New Roman" panose="02020603050405020304" pitchFamily="18" charset="0"/>
              </a:rPr>
              <a:t>, χρησιμοποιήθηκαν δύο διαφορετικά σύνολα δεδομένων:</a:t>
            </a:r>
          </a:p>
          <a:p>
            <a:pPr>
              <a:lnSpc>
                <a:spcPct val="120000"/>
              </a:lnSpc>
              <a:buNone/>
            </a:pPr>
            <a:r>
              <a:rPr lang="el-GR" sz="3700" b="1" dirty="0">
                <a:latin typeface="Times New Roman" panose="02020603050405020304" pitchFamily="18" charset="0"/>
                <a:cs typeface="Times New Roman" panose="02020603050405020304" pitchFamily="18" charset="0"/>
              </a:rPr>
              <a:t>1. SNMP δεδομένα από 19 </a:t>
            </a:r>
            <a:r>
              <a:rPr lang="el-GR" sz="3700" b="1" dirty="0" err="1">
                <a:latin typeface="Times New Roman" panose="02020603050405020304" pitchFamily="18" charset="0"/>
                <a:cs typeface="Times New Roman" panose="02020603050405020304" pitchFamily="18" charset="0"/>
              </a:rPr>
              <a:t>Data</a:t>
            </a:r>
            <a:r>
              <a:rPr lang="el-GR" sz="3700" b="1" dirty="0">
                <a:latin typeface="Times New Roman" panose="02020603050405020304" pitchFamily="18" charset="0"/>
                <a:cs typeface="Times New Roman" panose="02020603050405020304" pitchFamily="18" charset="0"/>
              </a:rPr>
              <a:t> </a:t>
            </a:r>
            <a:r>
              <a:rPr lang="el-GR" sz="3700" b="1" dirty="0" err="1">
                <a:latin typeface="Times New Roman" panose="02020603050405020304" pitchFamily="18" charset="0"/>
                <a:cs typeface="Times New Roman" panose="02020603050405020304" pitchFamily="18" charset="0"/>
              </a:rPr>
              <a:t>Centers</a:t>
            </a:r>
            <a:endParaRPr lang="el-GR" sz="3700" b="1" dirty="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v"/>
            </a:pPr>
            <a:r>
              <a:rPr lang="el-GR" sz="3700" dirty="0">
                <a:latin typeface="Times New Roman" panose="02020603050405020304" pitchFamily="18" charset="0"/>
                <a:cs typeface="Times New Roman" panose="02020603050405020304" pitchFamily="18" charset="0"/>
              </a:rPr>
              <a:t>Τα δεδομένα SNMP συλλέχθηκαν από 19 </a:t>
            </a:r>
            <a:r>
              <a:rPr lang="el-GR" sz="3700" dirty="0" err="1">
                <a:latin typeface="Times New Roman" panose="02020603050405020304" pitchFamily="18" charset="0"/>
                <a:cs typeface="Times New Roman" panose="02020603050405020304" pitchFamily="18" charset="0"/>
              </a:rPr>
              <a:t>Data</a:t>
            </a:r>
            <a:r>
              <a:rPr lang="el-GR" sz="3700" dirty="0">
                <a:latin typeface="Times New Roman" panose="02020603050405020304" pitchFamily="18" charset="0"/>
                <a:cs typeface="Times New Roman" panose="02020603050405020304" pitchFamily="18" charset="0"/>
              </a:rPr>
              <a:t> </a:t>
            </a:r>
            <a:r>
              <a:rPr lang="el-GR" sz="3700" dirty="0" err="1">
                <a:latin typeface="Times New Roman" panose="02020603050405020304" pitchFamily="18" charset="0"/>
                <a:cs typeface="Times New Roman" panose="02020603050405020304" pitchFamily="18" charset="0"/>
              </a:rPr>
              <a:t>Centers</a:t>
            </a:r>
            <a:r>
              <a:rPr lang="el-GR" sz="3700" dirty="0">
                <a:latin typeface="Times New Roman" panose="02020603050405020304" pitchFamily="18" charset="0"/>
                <a:cs typeface="Times New Roman" panose="02020603050405020304" pitchFamily="18" charset="0"/>
              </a:rPr>
              <a:t> που ανήκουν σε επιχειρήσεις και οργανισμούς.</a:t>
            </a:r>
          </a:p>
          <a:p>
            <a:pPr>
              <a:lnSpc>
                <a:spcPct val="120000"/>
              </a:lnSpc>
              <a:buFont typeface="Wingdings" panose="05000000000000000000" pitchFamily="2" charset="2"/>
              <a:buChar char="v"/>
            </a:pPr>
            <a:r>
              <a:rPr lang="el-GR" sz="3700" dirty="0">
                <a:latin typeface="Times New Roman" panose="02020603050405020304" pitchFamily="18" charset="0"/>
                <a:cs typeface="Times New Roman" panose="02020603050405020304" pitchFamily="18" charset="0"/>
              </a:rPr>
              <a:t>Τα </a:t>
            </a:r>
            <a:r>
              <a:rPr lang="el-GR" sz="3700" dirty="0" err="1">
                <a:latin typeface="Times New Roman" panose="02020603050405020304" pitchFamily="18" charset="0"/>
                <a:cs typeface="Times New Roman" panose="02020603050405020304" pitchFamily="18" charset="0"/>
              </a:rPr>
              <a:t>Data</a:t>
            </a:r>
            <a:r>
              <a:rPr lang="el-GR" sz="3700" dirty="0">
                <a:latin typeface="Times New Roman" panose="02020603050405020304" pitchFamily="18" charset="0"/>
                <a:cs typeface="Times New Roman" panose="02020603050405020304" pitchFamily="18" charset="0"/>
              </a:rPr>
              <a:t> </a:t>
            </a:r>
            <a:r>
              <a:rPr lang="el-GR" sz="3700" dirty="0" err="1">
                <a:latin typeface="Times New Roman" panose="02020603050405020304" pitchFamily="18" charset="0"/>
                <a:cs typeface="Times New Roman" panose="02020603050405020304" pitchFamily="18" charset="0"/>
              </a:rPr>
              <a:t>Centers</a:t>
            </a:r>
            <a:r>
              <a:rPr lang="el-GR" sz="3700" dirty="0">
                <a:latin typeface="Times New Roman" panose="02020603050405020304" pitchFamily="18" charset="0"/>
                <a:cs typeface="Times New Roman" panose="02020603050405020304" pitchFamily="18" charset="0"/>
              </a:rPr>
              <a:t> αυτά εξυπηρετούν διάφορες εφαρμογές, όπως αναζητήσεις, βίντεο </a:t>
            </a:r>
            <a:r>
              <a:rPr lang="el-GR" sz="3700" dirty="0" err="1">
                <a:latin typeface="Times New Roman" panose="02020603050405020304" pitchFamily="18" charset="0"/>
                <a:cs typeface="Times New Roman" panose="02020603050405020304" pitchFamily="18" charset="0"/>
              </a:rPr>
              <a:t>streaming</a:t>
            </a:r>
            <a:r>
              <a:rPr lang="el-GR" sz="3700" dirty="0">
                <a:latin typeface="Times New Roman" panose="02020603050405020304" pitchFamily="18" charset="0"/>
                <a:cs typeface="Times New Roman" panose="02020603050405020304" pitchFamily="18" charset="0"/>
              </a:rPr>
              <a:t>, υπηρεσίες μηνυμάτων, </a:t>
            </a:r>
            <a:r>
              <a:rPr lang="el-GR" sz="3700" dirty="0" err="1">
                <a:latin typeface="Times New Roman" panose="02020603050405020304" pitchFamily="18" charset="0"/>
                <a:cs typeface="Times New Roman" panose="02020603050405020304" pitchFamily="18" charset="0"/>
              </a:rPr>
              <a:t>MapReduce</a:t>
            </a:r>
            <a:r>
              <a:rPr lang="el-GR" sz="3700" dirty="0">
                <a:latin typeface="Times New Roman" panose="02020603050405020304" pitchFamily="18" charset="0"/>
                <a:cs typeface="Times New Roman" panose="02020603050405020304" pitchFamily="18" charset="0"/>
              </a:rPr>
              <a:t> και </a:t>
            </a:r>
            <a:r>
              <a:rPr lang="el-GR" sz="3700" dirty="0" err="1">
                <a:latin typeface="Times New Roman" panose="02020603050405020304" pitchFamily="18" charset="0"/>
                <a:cs typeface="Times New Roman" panose="02020603050405020304" pitchFamily="18" charset="0"/>
              </a:rPr>
              <a:t>web</a:t>
            </a:r>
            <a:r>
              <a:rPr lang="el-GR" sz="3700" dirty="0">
                <a:latin typeface="Times New Roman" panose="02020603050405020304" pitchFamily="18" charset="0"/>
                <a:cs typeface="Times New Roman" panose="02020603050405020304" pitchFamily="18" charset="0"/>
              </a:rPr>
              <a:t> </a:t>
            </a:r>
            <a:r>
              <a:rPr lang="el-GR" sz="3700" dirty="0" err="1">
                <a:latin typeface="Times New Roman" panose="02020603050405020304" pitchFamily="18" charset="0"/>
                <a:cs typeface="Times New Roman" panose="02020603050405020304" pitchFamily="18" charset="0"/>
              </a:rPr>
              <a:t>hosting</a:t>
            </a:r>
            <a:r>
              <a:rPr lang="el-GR" sz="3700" dirty="0">
                <a:latin typeface="Times New Roman" panose="02020603050405020304" pitchFamily="18" charset="0"/>
                <a:cs typeface="Times New Roman" panose="02020603050405020304" pitchFamily="18" charset="0"/>
              </a:rPr>
              <a:t>.</a:t>
            </a:r>
          </a:p>
          <a:p>
            <a:pPr>
              <a:lnSpc>
                <a:spcPct val="120000"/>
              </a:lnSpc>
              <a:buFont typeface="Wingdings" panose="05000000000000000000" pitchFamily="2" charset="2"/>
              <a:buChar char="v"/>
            </a:pPr>
            <a:r>
              <a:rPr lang="el-GR" sz="3700" dirty="0">
                <a:latin typeface="Times New Roman" panose="02020603050405020304" pitchFamily="18" charset="0"/>
                <a:cs typeface="Times New Roman" panose="02020603050405020304" pitchFamily="18" charset="0"/>
              </a:rPr>
              <a:t>Η συλλογή των δεδομένων έγινε μέσω </a:t>
            </a:r>
            <a:r>
              <a:rPr lang="el-GR" sz="3700" dirty="0" err="1">
                <a:latin typeface="Times New Roman" panose="02020603050405020304" pitchFamily="18" charset="0"/>
                <a:cs typeface="Times New Roman" panose="02020603050405020304" pitchFamily="18" charset="0"/>
              </a:rPr>
              <a:t>polling</a:t>
            </a:r>
            <a:r>
              <a:rPr lang="el-GR" sz="3700" dirty="0">
                <a:latin typeface="Times New Roman" panose="02020603050405020304" pitchFamily="18" charset="0"/>
                <a:cs typeface="Times New Roman" panose="02020603050405020304" pitchFamily="18" charset="0"/>
              </a:rPr>
              <a:t> των διακομιστών κάθε 5 λεπτά, και οι πληροφορίες περιλαμβάνουν:</a:t>
            </a:r>
          </a:p>
          <a:p>
            <a:pPr marL="1028700" lvl="1" indent="-571500">
              <a:lnSpc>
                <a:spcPct val="120000"/>
              </a:lnSpc>
              <a:buFont typeface="Wingdings" panose="05000000000000000000" pitchFamily="2" charset="2"/>
              <a:buChar char="v"/>
            </a:pPr>
            <a:r>
              <a:rPr lang="el-GR" sz="3700" dirty="0">
                <a:latin typeface="Times New Roman" panose="02020603050405020304" pitchFamily="18" charset="0"/>
                <a:cs typeface="Times New Roman" panose="02020603050405020304" pitchFamily="18" charset="0"/>
              </a:rPr>
              <a:t>Όγκο δεδομένων που μεταδίδεται και λαμβάνεται ανά συσκευή (</a:t>
            </a:r>
            <a:r>
              <a:rPr lang="en-US" sz="3700" b="1" dirty="0">
                <a:latin typeface="Times New Roman" panose="02020603050405020304" pitchFamily="18" charset="0"/>
                <a:cs typeface="Times New Roman" panose="02020603050405020304" pitchFamily="18" charset="0"/>
              </a:rPr>
              <a:t>I</a:t>
            </a:r>
            <a:r>
              <a:rPr lang="el-GR" sz="3700" b="1" dirty="0">
                <a:latin typeface="Times New Roman" panose="02020603050405020304" pitchFamily="18" charset="0"/>
                <a:cs typeface="Times New Roman" panose="02020603050405020304" pitchFamily="18" charset="0"/>
              </a:rPr>
              <a:t>n</a:t>
            </a:r>
            <a:r>
              <a:rPr lang="en-US" sz="3700" b="1" dirty="0">
                <a:latin typeface="Times New Roman" panose="02020603050405020304" pitchFamily="18" charset="0"/>
                <a:cs typeface="Times New Roman" panose="02020603050405020304" pitchFamily="18" charset="0"/>
              </a:rPr>
              <a:t>O</a:t>
            </a:r>
            <a:r>
              <a:rPr lang="el-GR" sz="3700" b="1" dirty="0" err="1">
                <a:latin typeface="Times New Roman" panose="02020603050405020304" pitchFamily="18" charset="0"/>
                <a:cs typeface="Times New Roman" panose="02020603050405020304" pitchFamily="18" charset="0"/>
              </a:rPr>
              <a:t>ctets</a:t>
            </a:r>
            <a:r>
              <a:rPr lang="el-GR" sz="3700" dirty="0">
                <a:latin typeface="Times New Roman" panose="02020603050405020304" pitchFamily="18" charset="0"/>
                <a:cs typeface="Times New Roman" panose="02020603050405020304" pitchFamily="18" charset="0"/>
              </a:rPr>
              <a:t>, </a:t>
            </a:r>
            <a:r>
              <a:rPr lang="en-US" sz="3700" b="1" dirty="0">
                <a:latin typeface="Times New Roman" panose="02020603050405020304" pitchFamily="18" charset="0"/>
                <a:cs typeface="Times New Roman" panose="02020603050405020304" pitchFamily="18" charset="0"/>
              </a:rPr>
              <a:t>O</a:t>
            </a:r>
            <a:r>
              <a:rPr lang="el-GR" sz="3700" b="1" dirty="0" err="1">
                <a:latin typeface="Times New Roman" panose="02020603050405020304" pitchFamily="18" charset="0"/>
                <a:cs typeface="Times New Roman" panose="02020603050405020304" pitchFamily="18" charset="0"/>
              </a:rPr>
              <a:t>ut</a:t>
            </a:r>
            <a:r>
              <a:rPr lang="en-US" sz="3700" b="1" dirty="0">
                <a:latin typeface="Times New Roman" panose="02020603050405020304" pitchFamily="18" charset="0"/>
                <a:cs typeface="Times New Roman" panose="02020603050405020304" pitchFamily="18" charset="0"/>
              </a:rPr>
              <a:t>O</a:t>
            </a:r>
            <a:r>
              <a:rPr lang="el-GR" sz="3700" b="1" dirty="0" err="1">
                <a:latin typeface="Times New Roman" panose="02020603050405020304" pitchFamily="18" charset="0"/>
                <a:cs typeface="Times New Roman" panose="02020603050405020304" pitchFamily="18" charset="0"/>
              </a:rPr>
              <a:t>ctets</a:t>
            </a:r>
            <a:r>
              <a:rPr lang="el-GR" sz="3700" dirty="0">
                <a:latin typeface="Times New Roman" panose="02020603050405020304" pitchFamily="18" charset="0"/>
                <a:cs typeface="Times New Roman" panose="02020603050405020304" pitchFamily="18" charset="0"/>
              </a:rPr>
              <a:t>).</a:t>
            </a:r>
          </a:p>
          <a:p>
            <a:pPr marL="1028700" lvl="1" indent="-571500">
              <a:lnSpc>
                <a:spcPct val="120000"/>
              </a:lnSpc>
              <a:buFont typeface="Wingdings" panose="05000000000000000000" pitchFamily="2" charset="2"/>
              <a:buChar char="v"/>
            </a:pPr>
            <a:r>
              <a:rPr lang="el-GR" sz="3700" dirty="0">
                <a:latin typeface="Times New Roman" panose="02020603050405020304" pitchFamily="18" charset="0"/>
                <a:cs typeface="Times New Roman" panose="02020603050405020304" pitchFamily="18" charset="0"/>
              </a:rPr>
              <a:t>Αριθμό πακέτων που απορρίπτονται λόγω συμφόρησης (</a:t>
            </a:r>
            <a:r>
              <a:rPr lang="en-US" sz="3700" b="1" dirty="0">
                <a:latin typeface="Times New Roman" panose="02020603050405020304" pitchFamily="18" charset="0"/>
                <a:cs typeface="Times New Roman" panose="02020603050405020304" pitchFamily="18" charset="0"/>
              </a:rPr>
              <a:t>I</a:t>
            </a:r>
            <a:r>
              <a:rPr lang="el-GR" sz="3700" b="1" dirty="0">
                <a:latin typeface="Times New Roman" panose="02020603050405020304" pitchFamily="18" charset="0"/>
                <a:cs typeface="Times New Roman" panose="02020603050405020304" pitchFamily="18" charset="0"/>
              </a:rPr>
              <a:t>n</a:t>
            </a:r>
            <a:r>
              <a:rPr lang="en-US" sz="3700" b="1" dirty="0">
                <a:latin typeface="Times New Roman" panose="02020603050405020304" pitchFamily="18" charset="0"/>
                <a:cs typeface="Times New Roman" panose="02020603050405020304" pitchFamily="18" charset="0"/>
              </a:rPr>
              <a:t>D</a:t>
            </a:r>
            <a:r>
              <a:rPr lang="el-GR" sz="3700" b="1" dirty="0" err="1">
                <a:latin typeface="Times New Roman" panose="02020603050405020304" pitchFamily="18" charset="0"/>
                <a:cs typeface="Times New Roman" panose="02020603050405020304" pitchFamily="18" charset="0"/>
              </a:rPr>
              <a:t>iscards</a:t>
            </a:r>
            <a:r>
              <a:rPr lang="el-GR" sz="3700" dirty="0">
                <a:latin typeface="Times New Roman" panose="02020603050405020304" pitchFamily="18" charset="0"/>
                <a:cs typeface="Times New Roman" panose="02020603050405020304" pitchFamily="18" charset="0"/>
              </a:rPr>
              <a:t>, </a:t>
            </a:r>
            <a:r>
              <a:rPr lang="en-US" sz="3700" b="1" dirty="0">
                <a:latin typeface="Times New Roman" panose="02020603050405020304" pitchFamily="18" charset="0"/>
                <a:cs typeface="Times New Roman" panose="02020603050405020304" pitchFamily="18" charset="0"/>
              </a:rPr>
              <a:t>O</a:t>
            </a:r>
            <a:r>
              <a:rPr lang="el-GR" sz="3700" b="1" dirty="0" err="1">
                <a:latin typeface="Times New Roman" panose="02020603050405020304" pitchFamily="18" charset="0"/>
                <a:cs typeface="Times New Roman" panose="02020603050405020304" pitchFamily="18" charset="0"/>
              </a:rPr>
              <a:t>ut</a:t>
            </a:r>
            <a:r>
              <a:rPr lang="en-US" sz="3700" b="1" dirty="0">
                <a:latin typeface="Times New Roman" panose="02020603050405020304" pitchFamily="18" charset="0"/>
                <a:cs typeface="Times New Roman" panose="02020603050405020304" pitchFamily="18" charset="0"/>
              </a:rPr>
              <a:t>D</a:t>
            </a:r>
            <a:r>
              <a:rPr lang="el-GR" sz="3700" b="1" dirty="0" err="1">
                <a:latin typeface="Times New Roman" panose="02020603050405020304" pitchFamily="18" charset="0"/>
                <a:cs typeface="Times New Roman" panose="02020603050405020304" pitchFamily="18" charset="0"/>
              </a:rPr>
              <a:t>iscards</a:t>
            </a:r>
            <a:r>
              <a:rPr lang="el-GR" sz="3700" dirty="0">
                <a:latin typeface="Times New Roman" panose="02020603050405020304" pitchFamily="18" charset="0"/>
                <a:cs typeface="Times New Roman" panose="02020603050405020304" pitchFamily="18" charset="0"/>
              </a:rPr>
              <a:t>).</a:t>
            </a:r>
          </a:p>
          <a:p>
            <a:pPr marL="1028700" lvl="1" indent="-571500">
              <a:lnSpc>
                <a:spcPct val="120000"/>
              </a:lnSpc>
              <a:buFont typeface="Wingdings" panose="05000000000000000000" pitchFamily="2" charset="2"/>
              <a:buChar char="v"/>
            </a:pPr>
            <a:r>
              <a:rPr lang="el-GR" sz="3700" dirty="0">
                <a:latin typeface="Times New Roman" panose="02020603050405020304" pitchFamily="18" charset="0"/>
                <a:cs typeface="Times New Roman" panose="02020603050405020304" pitchFamily="18" charset="0"/>
              </a:rPr>
              <a:t>Σφάλματα κατά τη μετάδοση (</a:t>
            </a:r>
            <a:r>
              <a:rPr lang="en-US" sz="3700" b="1" dirty="0">
                <a:latin typeface="Times New Roman" panose="02020603050405020304" pitchFamily="18" charset="0"/>
                <a:cs typeface="Times New Roman" panose="02020603050405020304" pitchFamily="18" charset="0"/>
              </a:rPr>
              <a:t>I</a:t>
            </a:r>
            <a:r>
              <a:rPr lang="el-GR" sz="3700" b="1" dirty="0">
                <a:latin typeface="Times New Roman" panose="02020603050405020304" pitchFamily="18" charset="0"/>
                <a:cs typeface="Times New Roman" panose="02020603050405020304" pitchFamily="18" charset="0"/>
              </a:rPr>
              <a:t>n</a:t>
            </a:r>
            <a:r>
              <a:rPr lang="en-US" sz="3700" b="1" dirty="0">
                <a:latin typeface="Times New Roman" panose="02020603050405020304" pitchFamily="18" charset="0"/>
                <a:cs typeface="Times New Roman" panose="02020603050405020304" pitchFamily="18" charset="0"/>
              </a:rPr>
              <a:t>E</a:t>
            </a:r>
            <a:r>
              <a:rPr lang="el-GR" sz="3700" b="1" dirty="0" err="1">
                <a:latin typeface="Times New Roman" panose="02020603050405020304" pitchFamily="18" charset="0"/>
                <a:cs typeface="Times New Roman" panose="02020603050405020304" pitchFamily="18" charset="0"/>
              </a:rPr>
              <a:t>rrors</a:t>
            </a:r>
            <a:r>
              <a:rPr lang="el-GR" sz="3700" dirty="0">
                <a:latin typeface="Times New Roman" panose="02020603050405020304" pitchFamily="18" charset="0"/>
                <a:cs typeface="Times New Roman" panose="02020603050405020304" pitchFamily="18" charset="0"/>
              </a:rPr>
              <a:t>, </a:t>
            </a:r>
            <a:r>
              <a:rPr lang="en-US" sz="3700" b="1" dirty="0">
                <a:latin typeface="Times New Roman" panose="02020603050405020304" pitchFamily="18" charset="0"/>
                <a:cs typeface="Times New Roman" panose="02020603050405020304" pitchFamily="18" charset="0"/>
              </a:rPr>
              <a:t>O</a:t>
            </a:r>
            <a:r>
              <a:rPr lang="el-GR" sz="3700" b="1" dirty="0" err="1">
                <a:latin typeface="Times New Roman" panose="02020603050405020304" pitchFamily="18" charset="0"/>
                <a:cs typeface="Times New Roman" panose="02020603050405020304" pitchFamily="18" charset="0"/>
              </a:rPr>
              <a:t>ut</a:t>
            </a:r>
            <a:r>
              <a:rPr lang="en-US" sz="3700" b="1" dirty="0">
                <a:latin typeface="Times New Roman" panose="02020603050405020304" pitchFamily="18" charset="0"/>
                <a:cs typeface="Times New Roman" panose="02020603050405020304" pitchFamily="18" charset="0"/>
              </a:rPr>
              <a:t>E</a:t>
            </a:r>
            <a:r>
              <a:rPr lang="el-GR" sz="3700" b="1" dirty="0" err="1">
                <a:latin typeface="Times New Roman" panose="02020603050405020304" pitchFamily="18" charset="0"/>
                <a:cs typeface="Times New Roman" panose="02020603050405020304" pitchFamily="18" charset="0"/>
              </a:rPr>
              <a:t>rrors</a:t>
            </a:r>
            <a:r>
              <a:rPr lang="el-GR" sz="3700" dirty="0">
                <a:latin typeface="Times New Roman" panose="02020603050405020304" pitchFamily="18" charset="0"/>
                <a:cs typeface="Times New Roman" panose="02020603050405020304" pitchFamily="18" charset="0"/>
              </a:rPr>
              <a:t>).</a:t>
            </a:r>
          </a:p>
          <a:p>
            <a:pPr>
              <a:lnSpc>
                <a:spcPct val="120000"/>
              </a:lnSpc>
            </a:pPr>
            <a:endParaRPr lang="el-GR" sz="1100"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CBD70695-D4EF-489F-B2D8-F61EA5CD5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653787" y="1915886"/>
            <a:ext cx="3538211" cy="495105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A271658-CA48-4EC3-B484-C7DC7360F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8370349" y="1499446"/>
            <a:ext cx="4811359" cy="2792182"/>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descr="A table of numbers with numbers&#10;&#10;AI-generated content may be incorrect.">
            <a:extLst>
              <a:ext uri="{FF2B5EF4-FFF2-40B4-BE49-F238E27FC236}">
                <a16:creationId xmlns:a16="http://schemas.microsoft.com/office/drawing/2014/main" id="{46F5C0CF-E7D8-4B87-8273-E296901A38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49649" y="1556783"/>
            <a:ext cx="4250852" cy="4189688"/>
          </a:xfrm>
          <a:prstGeom prst="rect">
            <a:avLst/>
          </a:prstGeom>
        </p:spPr>
      </p:pic>
    </p:spTree>
    <p:extLst>
      <p:ext uri="{BB962C8B-B14F-4D97-AF65-F5344CB8AC3E}">
        <p14:creationId xmlns:p14="http://schemas.microsoft.com/office/powerpoint/2010/main" val="3667595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9148959-F229-4F0F-B4C1-E747A04DD6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2"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065462EE-C2C5-340B-C8F4-AB196B5BC75E}"/>
              </a:ext>
            </a:extLst>
          </p:cNvPr>
          <p:cNvSpPr>
            <a:spLocks noGrp="1"/>
          </p:cNvSpPr>
          <p:nvPr>
            <p:ph type="title"/>
          </p:nvPr>
        </p:nvSpPr>
        <p:spPr>
          <a:xfrm>
            <a:off x="822847" y="392341"/>
            <a:ext cx="5544666" cy="1061076"/>
          </a:xfrm>
        </p:spPr>
        <p:txBody>
          <a:bodyPr>
            <a:normAutofit fontScale="90000"/>
          </a:bodyPr>
          <a:lstStyle/>
          <a:p>
            <a:r>
              <a:rPr lang="el-GR" dirty="0" err="1">
                <a:latin typeface="Times New Roman" panose="02020603050405020304" pitchFamily="18" charset="0"/>
                <a:cs typeface="Times New Roman" panose="02020603050405020304" pitchFamily="18" charset="0"/>
              </a:rPr>
              <a:t>Δεδομ</a:t>
            </a:r>
            <a:r>
              <a:rPr lang="en-US" dirty="0">
                <a:latin typeface="Times New Roman" panose="02020603050405020304" pitchFamily="18" charset="0"/>
                <a:cs typeface="Times New Roman" panose="02020603050405020304" pitchFamily="18" charset="0"/>
              </a:rPr>
              <a:t>e</a:t>
            </a:r>
            <a:r>
              <a:rPr lang="el-GR" dirty="0">
                <a:latin typeface="Times New Roman" panose="02020603050405020304" pitchFamily="18" charset="0"/>
                <a:cs typeface="Times New Roman" panose="02020603050405020304" pitchFamily="18" charset="0"/>
              </a:rPr>
              <a:t>να και </a:t>
            </a:r>
            <a:r>
              <a:rPr lang="el-GR" dirty="0" err="1">
                <a:latin typeface="Times New Roman" panose="02020603050405020304" pitchFamily="18" charset="0"/>
                <a:cs typeface="Times New Roman" panose="02020603050405020304" pitchFamily="18" charset="0"/>
              </a:rPr>
              <a:t>Μεθοδολογ</a:t>
            </a:r>
            <a:r>
              <a:rPr lang="en-US" dirty="0" err="1">
                <a:latin typeface="Times New Roman" panose="02020603050405020304" pitchFamily="18" charset="0"/>
                <a:cs typeface="Times New Roman" panose="02020603050405020304" pitchFamily="18" charset="0"/>
              </a:rPr>
              <a:t>i</a:t>
            </a:r>
            <a:r>
              <a:rPr lang="el-GR" dirty="0">
                <a:latin typeface="Times New Roman" panose="02020603050405020304" pitchFamily="18" charset="0"/>
                <a:cs typeface="Times New Roman" panose="02020603050405020304" pitchFamily="18" charset="0"/>
              </a:rPr>
              <a:t>α</a:t>
            </a:r>
            <a:endParaRPr lang="el-GR" dirty="0"/>
          </a:p>
        </p:txBody>
      </p:sp>
      <p:sp>
        <p:nvSpPr>
          <p:cNvPr id="12" name="Rectangle 6">
            <a:extLst>
              <a:ext uri="{FF2B5EF4-FFF2-40B4-BE49-F238E27FC236}">
                <a16:creationId xmlns:a16="http://schemas.microsoft.com/office/drawing/2014/main" id="{38278EEC-7F87-4B09-9691-C2F29A278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9529" y="3026358"/>
            <a:ext cx="3745582" cy="3917703"/>
          </a:xfrm>
          <a:custGeom>
            <a:avLst/>
            <a:gdLst>
              <a:gd name="connsiteX0" fmla="*/ 0 w 1369143"/>
              <a:gd name="connsiteY0" fmla="*/ 0 h 1229160"/>
              <a:gd name="connsiteX1" fmla="*/ 1369143 w 1369143"/>
              <a:gd name="connsiteY1" fmla="*/ 0 h 1229160"/>
              <a:gd name="connsiteX2" fmla="*/ 1369143 w 1369143"/>
              <a:gd name="connsiteY2" fmla="*/ 1229160 h 1229160"/>
              <a:gd name="connsiteX3" fmla="*/ 0 w 1369143"/>
              <a:gd name="connsiteY3" fmla="*/ 1229160 h 1229160"/>
              <a:gd name="connsiteX4" fmla="*/ 0 w 1369143"/>
              <a:gd name="connsiteY4" fmla="*/ 0 h 1229160"/>
              <a:gd name="connsiteX0" fmla="*/ 0 w 1369143"/>
              <a:gd name="connsiteY0" fmla="*/ 0 h 1229160"/>
              <a:gd name="connsiteX1" fmla="*/ 1369143 w 1369143"/>
              <a:gd name="connsiteY1" fmla="*/ 0 h 1229160"/>
              <a:gd name="connsiteX2" fmla="*/ 0 w 1369143"/>
              <a:gd name="connsiteY2" fmla="*/ 1229160 h 1229160"/>
              <a:gd name="connsiteX3" fmla="*/ 0 w 1369143"/>
              <a:gd name="connsiteY3" fmla="*/ 0 h 1229160"/>
            </a:gdLst>
            <a:ahLst/>
            <a:cxnLst>
              <a:cxn ang="0">
                <a:pos x="connsiteX0" y="connsiteY0"/>
              </a:cxn>
              <a:cxn ang="0">
                <a:pos x="connsiteX1" y="connsiteY1"/>
              </a:cxn>
              <a:cxn ang="0">
                <a:pos x="connsiteX2" y="connsiteY2"/>
              </a:cxn>
              <a:cxn ang="0">
                <a:pos x="connsiteX3" y="connsiteY3"/>
              </a:cxn>
            </a:cxnLst>
            <a:rect l="l" t="t" r="r" b="b"/>
            <a:pathLst>
              <a:path w="1369143" h="1229160">
                <a:moveTo>
                  <a:pt x="0" y="0"/>
                </a:moveTo>
                <a:lnTo>
                  <a:pt x="1369143" y="0"/>
                </a:lnTo>
                <a:lnTo>
                  <a:pt x="0" y="1229160"/>
                </a:lnTo>
                <a:lnTo>
                  <a:pt x="0" y="0"/>
                </a:lnTo>
                <a:close/>
              </a:path>
            </a:pathLst>
          </a:custGeom>
          <a:solidFill>
            <a:schemeClr val="accent1">
              <a:lumMod val="20000"/>
              <a:lumOff val="8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667544E-95B7-4AB2-ACE8-34C58B80E4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29" y="3026358"/>
            <a:ext cx="3745582" cy="3917703"/>
          </a:xfrm>
          <a:custGeom>
            <a:avLst/>
            <a:gdLst>
              <a:gd name="connsiteX0" fmla="*/ 3745582 w 3745582"/>
              <a:gd name="connsiteY0" fmla="*/ 0 h 3917703"/>
              <a:gd name="connsiteX1" fmla="*/ 3745582 w 3745582"/>
              <a:gd name="connsiteY1" fmla="*/ 3917703 h 3917703"/>
              <a:gd name="connsiteX2" fmla="*/ 0 w 3745582"/>
              <a:gd name="connsiteY2" fmla="*/ 3917703 h 3917703"/>
            </a:gdLst>
            <a:ahLst/>
            <a:cxnLst>
              <a:cxn ang="0">
                <a:pos x="connsiteX0" y="connsiteY0"/>
              </a:cxn>
              <a:cxn ang="0">
                <a:pos x="connsiteX1" y="connsiteY1"/>
              </a:cxn>
              <a:cxn ang="0">
                <a:pos x="connsiteX2" y="connsiteY2"/>
              </a:cxn>
            </a:cxnLst>
            <a:rect l="l" t="t" r="r" b="b"/>
            <a:pathLst>
              <a:path w="3745582" h="3917703">
                <a:moveTo>
                  <a:pt x="3745582" y="0"/>
                </a:moveTo>
                <a:lnTo>
                  <a:pt x="3745582" y="3917703"/>
                </a:lnTo>
                <a:lnTo>
                  <a:pt x="0" y="391770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257D0D69-9DEF-4B79-9383-8B93AB356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1985391"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66C553F0-E998-2EC4-A9BB-2286D3E60C76}"/>
              </a:ext>
            </a:extLst>
          </p:cNvPr>
          <p:cNvSpPr>
            <a:spLocks noGrp="1"/>
          </p:cNvSpPr>
          <p:nvPr>
            <p:ph idx="1"/>
          </p:nvPr>
        </p:nvSpPr>
        <p:spPr>
          <a:xfrm>
            <a:off x="5283621" y="392341"/>
            <a:ext cx="6695238" cy="6073318"/>
          </a:xfrm>
        </p:spPr>
        <p:txBody>
          <a:bodyPr>
            <a:noAutofit/>
          </a:bodyPr>
          <a:lstStyle/>
          <a:p>
            <a:pPr>
              <a:lnSpc>
                <a:spcPct val="120000"/>
              </a:lnSpc>
              <a:buNone/>
            </a:pPr>
            <a:r>
              <a:rPr lang="el-GR" sz="1600" b="1" dirty="0"/>
              <a:t>2. </a:t>
            </a:r>
            <a:r>
              <a:rPr lang="el-GR" sz="1600" b="1" dirty="0">
                <a:latin typeface="Times New Roman" panose="02020603050405020304" pitchFamily="18" charset="0"/>
                <a:cs typeface="Times New Roman" panose="02020603050405020304" pitchFamily="18" charset="0"/>
              </a:rPr>
              <a:t>Πακέτα δεδομένων από </a:t>
            </a:r>
            <a:r>
              <a:rPr lang="el-GR" sz="1600" b="1" dirty="0" err="1">
                <a:latin typeface="Times New Roman" panose="02020603050405020304" pitchFamily="18" charset="0"/>
                <a:cs typeface="Times New Roman" panose="02020603050405020304" pitchFamily="18" charset="0"/>
              </a:rPr>
              <a:t>switches</a:t>
            </a:r>
            <a:r>
              <a:rPr lang="el-GR" sz="1600" b="1" dirty="0">
                <a:latin typeface="Times New Roman" panose="02020603050405020304" pitchFamily="18" charset="0"/>
                <a:cs typeface="Times New Roman" panose="02020603050405020304" pitchFamily="18" charset="0"/>
              </a:rPr>
              <a:t> σε ένα </a:t>
            </a:r>
            <a:r>
              <a:rPr lang="el-GR" sz="1600" b="1" dirty="0" err="1">
                <a:latin typeface="Times New Roman" panose="02020603050405020304" pitchFamily="18" charset="0"/>
                <a:cs typeface="Times New Roman" panose="02020603050405020304" pitchFamily="18" charset="0"/>
              </a:rPr>
              <a:t>Data</a:t>
            </a:r>
            <a:r>
              <a:rPr lang="el-GR" sz="1600" b="1" dirty="0">
                <a:latin typeface="Times New Roman" panose="02020603050405020304" pitchFamily="18" charset="0"/>
                <a:cs typeface="Times New Roman" panose="02020603050405020304" pitchFamily="18" charset="0"/>
              </a:rPr>
              <a:t> </a:t>
            </a:r>
            <a:r>
              <a:rPr lang="el-GR" sz="1600" b="1" dirty="0" err="1">
                <a:latin typeface="Times New Roman" panose="02020603050405020304" pitchFamily="18" charset="0"/>
                <a:cs typeface="Times New Roman" panose="02020603050405020304" pitchFamily="18" charset="0"/>
              </a:rPr>
              <a:t>Center</a:t>
            </a:r>
            <a:endParaRPr lang="el-GR" sz="1600" b="1" dirty="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v"/>
            </a:pPr>
            <a:r>
              <a:rPr lang="el-GR" sz="1600" dirty="0">
                <a:latin typeface="Times New Roman" panose="02020603050405020304" pitchFamily="18" charset="0"/>
                <a:cs typeface="Times New Roman" panose="02020603050405020304" pitchFamily="18" charset="0"/>
              </a:rPr>
              <a:t>Πέρα από τα SNMP δεδομένα, συλλέχθηκαν λεπτομερή πακέτα δεδομένων από </a:t>
            </a:r>
            <a:r>
              <a:rPr lang="el-GR" sz="1600" dirty="0" err="1">
                <a:latin typeface="Times New Roman" panose="02020603050405020304" pitchFamily="18" charset="0"/>
                <a:cs typeface="Times New Roman" panose="02020603050405020304" pitchFamily="18" charset="0"/>
              </a:rPr>
              <a:t>switches</a:t>
            </a:r>
            <a:r>
              <a:rPr lang="el-GR" sz="1600" dirty="0">
                <a:latin typeface="Times New Roman" panose="02020603050405020304" pitchFamily="18" charset="0"/>
                <a:cs typeface="Times New Roman" panose="02020603050405020304" pitchFamily="18" charset="0"/>
              </a:rPr>
              <a:t> ενός </a:t>
            </a:r>
            <a:r>
              <a:rPr lang="el-GR" sz="1600" dirty="0" err="1">
                <a:latin typeface="Times New Roman" panose="02020603050405020304" pitchFamily="18" charset="0"/>
                <a:cs typeface="Times New Roman" panose="02020603050405020304" pitchFamily="18" charset="0"/>
              </a:rPr>
              <a:t>Data</a:t>
            </a:r>
            <a:r>
              <a:rPr lang="el-GR" sz="1600" dirty="0">
                <a:latin typeface="Times New Roman" panose="02020603050405020304" pitchFamily="18" charset="0"/>
                <a:cs typeface="Times New Roman" panose="02020603050405020304" pitchFamily="18" charset="0"/>
              </a:rPr>
              <a:t> </a:t>
            </a:r>
            <a:r>
              <a:rPr lang="el-GR" sz="1600" dirty="0" err="1">
                <a:latin typeface="Times New Roman" panose="02020603050405020304" pitchFamily="18" charset="0"/>
                <a:cs typeface="Times New Roman" panose="02020603050405020304" pitchFamily="18" charset="0"/>
              </a:rPr>
              <a:t>Center</a:t>
            </a:r>
            <a:r>
              <a:rPr lang="el-GR" sz="1600" dirty="0">
                <a:latin typeface="Times New Roman" panose="02020603050405020304" pitchFamily="18" charset="0"/>
                <a:cs typeface="Times New Roman" panose="02020603050405020304" pitchFamily="18" charset="0"/>
              </a:rPr>
              <a:t>.</a:t>
            </a:r>
          </a:p>
          <a:p>
            <a:pPr>
              <a:lnSpc>
                <a:spcPct val="120000"/>
              </a:lnSpc>
              <a:buFont typeface="Wingdings" panose="05000000000000000000" pitchFamily="2" charset="2"/>
              <a:buChar char="v"/>
            </a:pPr>
            <a:r>
              <a:rPr lang="el-GR" sz="1600" dirty="0">
                <a:latin typeface="Times New Roman" panose="02020603050405020304" pitchFamily="18" charset="0"/>
                <a:cs typeface="Times New Roman" panose="02020603050405020304" pitchFamily="18" charset="0"/>
              </a:rPr>
              <a:t>Τα δεδομένα καταγράφηκαν με τη χρήση ενός ειδικού </a:t>
            </a:r>
            <a:r>
              <a:rPr lang="el-GR" sz="1600" dirty="0" err="1">
                <a:latin typeface="Times New Roman" panose="02020603050405020304" pitchFamily="18" charset="0"/>
                <a:cs typeface="Times New Roman" panose="02020603050405020304" pitchFamily="18" charset="0"/>
              </a:rPr>
              <a:t>packet</a:t>
            </a:r>
            <a:r>
              <a:rPr lang="el-GR" sz="1600" dirty="0">
                <a:latin typeface="Times New Roman" panose="02020603050405020304" pitchFamily="18" charset="0"/>
                <a:cs typeface="Times New Roman" panose="02020603050405020304" pitchFamily="18" charset="0"/>
              </a:rPr>
              <a:t> </a:t>
            </a:r>
            <a:r>
              <a:rPr lang="el-GR" sz="1600" dirty="0" err="1">
                <a:latin typeface="Times New Roman" panose="02020603050405020304" pitchFamily="18" charset="0"/>
                <a:cs typeface="Times New Roman" panose="02020603050405020304" pitchFamily="18" charset="0"/>
              </a:rPr>
              <a:t>sniffer</a:t>
            </a:r>
            <a:r>
              <a:rPr lang="el-GR" sz="1600" dirty="0">
                <a:latin typeface="Times New Roman" panose="02020603050405020304" pitchFamily="18" charset="0"/>
                <a:cs typeface="Times New Roman" panose="02020603050405020304" pitchFamily="18" charset="0"/>
              </a:rPr>
              <a:t>, συνδεδεμένου σε SPAN </a:t>
            </a:r>
            <a:r>
              <a:rPr lang="el-GR" sz="1600" dirty="0" err="1">
                <a:latin typeface="Times New Roman" panose="02020603050405020304" pitchFamily="18" charset="0"/>
                <a:cs typeface="Times New Roman" panose="02020603050405020304" pitchFamily="18" charset="0"/>
              </a:rPr>
              <a:t>port</a:t>
            </a:r>
            <a:r>
              <a:rPr lang="el-GR" sz="1600" dirty="0">
                <a:latin typeface="Times New Roman" panose="02020603050405020304" pitchFamily="18" charset="0"/>
                <a:cs typeface="Times New Roman" panose="02020603050405020304" pitchFamily="18" charset="0"/>
              </a:rPr>
              <a:t> σε πέντε </a:t>
            </a:r>
            <a:r>
              <a:rPr lang="el-GR" sz="1600" dirty="0" err="1">
                <a:latin typeface="Times New Roman" panose="02020603050405020304" pitchFamily="18" charset="0"/>
                <a:cs typeface="Times New Roman" panose="02020603050405020304" pitchFamily="18" charset="0"/>
              </a:rPr>
              <a:t>switches</a:t>
            </a:r>
            <a:r>
              <a:rPr lang="el-GR" sz="1600" dirty="0">
                <a:latin typeface="Times New Roman" panose="02020603050405020304" pitchFamily="18" charset="0"/>
                <a:cs typeface="Times New Roman" panose="02020603050405020304" pitchFamily="18" charset="0"/>
              </a:rPr>
              <a:t>.</a:t>
            </a:r>
          </a:p>
          <a:p>
            <a:pPr>
              <a:lnSpc>
                <a:spcPct val="120000"/>
              </a:lnSpc>
              <a:buFont typeface="Wingdings" panose="05000000000000000000" pitchFamily="2" charset="2"/>
              <a:buChar char="v"/>
            </a:pPr>
            <a:r>
              <a:rPr lang="el-GR" sz="1600" dirty="0">
                <a:latin typeface="Times New Roman" panose="02020603050405020304" pitchFamily="18" charset="0"/>
                <a:cs typeface="Times New Roman" panose="02020603050405020304" pitchFamily="18" charset="0"/>
              </a:rPr>
              <a:t>Οι καταγραφές περιλαμβάνουν </a:t>
            </a:r>
            <a:r>
              <a:rPr lang="el-GR" sz="1600" dirty="0" err="1">
                <a:latin typeface="Times New Roman" panose="02020603050405020304" pitchFamily="18" charset="0"/>
                <a:cs typeface="Times New Roman" panose="02020603050405020304" pitchFamily="18" charset="0"/>
              </a:rPr>
              <a:t>χρονοσφραγίδες</a:t>
            </a:r>
            <a:r>
              <a:rPr lang="el-GR" sz="1600" dirty="0">
                <a:latin typeface="Times New Roman" panose="02020603050405020304" pitchFamily="18" charset="0"/>
                <a:cs typeface="Times New Roman" panose="02020603050405020304" pitchFamily="18" charset="0"/>
              </a:rPr>
              <a:t> (</a:t>
            </a:r>
            <a:r>
              <a:rPr lang="el-GR" sz="1600" dirty="0" err="1">
                <a:latin typeface="Times New Roman" panose="02020603050405020304" pitchFamily="18" charset="0"/>
                <a:cs typeface="Times New Roman" panose="02020603050405020304" pitchFamily="18" charset="0"/>
              </a:rPr>
              <a:t>timestamps</a:t>
            </a:r>
            <a:r>
              <a:rPr lang="el-GR" sz="1600" dirty="0">
                <a:latin typeface="Times New Roman" panose="02020603050405020304" pitchFamily="18" charset="0"/>
                <a:cs typeface="Times New Roman" panose="02020603050405020304" pitchFamily="18" charset="0"/>
              </a:rPr>
              <a:t>) και TCP/IP </a:t>
            </a:r>
            <a:r>
              <a:rPr lang="el-GR" sz="1600" dirty="0" err="1">
                <a:latin typeface="Times New Roman" panose="02020603050405020304" pitchFamily="18" charset="0"/>
                <a:cs typeface="Times New Roman" panose="02020603050405020304" pitchFamily="18" charset="0"/>
              </a:rPr>
              <a:t>headers</a:t>
            </a:r>
            <a:r>
              <a:rPr lang="el-GR" sz="1600" dirty="0">
                <a:latin typeface="Times New Roman" panose="02020603050405020304" pitchFamily="18" charset="0"/>
                <a:cs typeface="Times New Roman" panose="02020603050405020304" pitchFamily="18" charset="0"/>
              </a:rPr>
              <a:t>, επιτρέποντας την ανάλυση του τρόπου με τον οποίο η κυκλοφορία εξελίσσεται σε </a:t>
            </a:r>
            <a:r>
              <a:rPr lang="el-GR" sz="1600" dirty="0" err="1">
                <a:latin typeface="Times New Roman" panose="02020603050405020304" pitchFamily="18" charset="0"/>
                <a:cs typeface="Times New Roman" panose="02020603050405020304" pitchFamily="18" charset="0"/>
              </a:rPr>
              <a:t>μικροεπίπεδο</a:t>
            </a:r>
            <a:r>
              <a:rPr lang="el-GR" sz="1600" dirty="0">
                <a:latin typeface="Times New Roman" panose="02020603050405020304" pitchFamily="18" charset="0"/>
                <a:cs typeface="Times New Roman" panose="02020603050405020304" pitchFamily="18" charset="0"/>
              </a:rPr>
              <a:t>.</a:t>
            </a:r>
          </a:p>
          <a:p>
            <a:pPr>
              <a:lnSpc>
                <a:spcPct val="120000"/>
              </a:lnSpc>
              <a:buNone/>
            </a:pPr>
            <a:r>
              <a:rPr lang="el-GR" sz="1600" b="1" dirty="0">
                <a:latin typeface="Times New Roman" panose="02020603050405020304" pitchFamily="18" charset="0"/>
                <a:cs typeface="Times New Roman" panose="02020603050405020304" pitchFamily="18" charset="0"/>
              </a:rPr>
              <a:t>Πλεονεκτήματα της μεθόδου</a:t>
            </a:r>
          </a:p>
          <a:p>
            <a:pPr>
              <a:lnSpc>
                <a:spcPct val="120000"/>
              </a:lnSpc>
              <a:buFont typeface="Wingdings" panose="05000000000000000000" pitchFamily="2" charset="2"/>
              <a:buChar char="v"/>
            </a:pPr>
            <a:r>
              <a:rPr lang="el-GR" sz="1600" dirty="0">
                <a:latin typeface="Times New Roman" panose="02020603050405020304" pitchFamily="18" charset="0"/>
                <a:cs typeface="Times New Roman" panose="02020603050405020304" pitchFamily="18" charset="0"/>
              </a:rPr>
              <a:t>Τα SNMP δεδομένα επιτρέπουν τη μακροσκοπική </a:t>
            </a:r>
            <a:r>
              <a:rPr lang="el-GR" sz="1600" b="1" dirty="0" err="1">
                <a:latin typeface="Times New Roman" panose="02020603050405020304" pitchFamily="18" charset="0"/>
                <a:cs typeface="Times New Roman" panose="02020603050405020304" pitchFamily="18" charset="0"/>
              </a:rPr>
              <a:t>macroscopic</a:t>
            </a:r>
            <a:r>
              <a:rPr lang="el-GR" sz="1600" dirty="0">
                <a:latin typeface="Times New Roman" panose="02020603050405020304" pitchFamily="18" charset="0"/>
                <a:cs typeface="Times New Roman" panose="02020603050405020304" pitchFamily="18" charset="0"/>
              </a:rPr>
              <a:t> ανάλυση της κυκλοφορίας και των απωλειών.</a:t>
            </a:r>
          </a:p>
          <a:p>
            <a:pPr>
              <a:lnSpc>
                <a:spcPct val="120000"/>
              </a:lnSpc>
              <a:buFont typeface="Wingdings" panose="05000000000000000000" pitchFamily="2" charset="2"/>
              <a:buChar char="v"/>
            </a:pPr>
            <a:r>
              <a:rPr lang="el-GR" sz="1600" dirty="0">
                <a:latin typeface="Times New Roman" panose="02020603050405020304" pitchFamily="18" charset="0"/>
                <a:cs typeface="Times New Roman" panose="02020603050405020304" pitchFamily="18" charset="0"/>
              </a:rPr>
              <a:t>Τα δεδομένα από </a:t>
            </a:r>
            <a:r>
              <a:rPr lang="el-GR" sz="1600" dirty="0" err="1">
                <a:latin typeface="Times New Roman" panose="02020603050405020304" pitchFamily="18" charset="0"/>
                <a:cs typeface="Times New Roman" panose="02020603050405020304" pitchFamily="18" charset="0"/>
              </a:rPr>
              <a:t>switches</a:t>
            </a:r>
            <a:r>
              <a:rPr lang="el-GR" sz="1600" dirty="0">
                <a:latin typeface="Times New Roman" panose="02020603050405020304" pitchFamily="18" charset="0"/>
                <a:cs typeface="Times New Roman" panose="02020603050405020304" pitchFamily="18" charset="0"/>
              </a:rPr>
              <a:t> παρέχουν μια </a:t>
            </a:r>
            <a:r>
              <a:rPr lang="el-GR" sz="1600" b="1" dirty="0" err="1">
                <a:latin typeface="Times New Roman" panose="02020603050405020304" pitchFamily="18" charset="0"/>
                <a:cs typeface="Times New Roman" panose="02020603050405020304" pitchFamily="18" charset="0"/>
              </a:rPr>
              <a:t>microscopic</a:t>
            </a:r>
            <a:r>
              <a:rPr lang="el-GR" sz="1600" dirty="0">
                <a:latin typeface="Times New Roman" panose="02020603050405020304" pitchFamily="18" charset="0"/>
                <a:cs typeface="Times New Roman" panose="02020603050405020304" pitchFamily="18" charset="0"/>
              </a:rPr>
              <a:t> ματιά στη συμπεριφορά των πακέτων και την ύπαρξη "ON-OFF" μοτίβων.</a:t>
            </a:r>
          </a:p>
          <a:p>
            <a:pPr>
              <a:lnSpc>
                <a:spcPct val="120000"/>
              </a:lnSpc>
              <a:buFont typeface="Wingdings" panose="05000000000000000000" pitchFamily="2" charset="2"/>
              <a:buChar char="v"/>
            </a:pPr>
            <a:r>
              <a:rPr lang="el-GR" sz="1600" dirty="0">
                <a:latin typeface="Times New Roman" panose="02020603050405020304" pitchFamily="18" charset="0"/>
                <a:cs typeface="Times New Roman" panose="02020603050405020304" pitchFamily="18" charset="0"/>
              </a:rPr>
              <a:t>Ο συνδυασμός αυτών των δύο τύπων δεδομένων επιτρέπει την ανάπτυξη ενός μοντέλου που εξάγει λεπτομερείς πληροφορίες από δεδομένα χαμηλής ανάλυσης.</a:t>
            </a:r>
          </a:p>
          <a:p>
            <a:pPr>
              <a:lnSpc>
                <a:spcPct val="120000"/>
              </a:lnSpc>
            </a:pPr>
            <a:endParaRPr lang="el-GR" sz="1600" dirty="0"/>
          </a:p>
        </p:txBody>
      </p:sp>
      <p:pic>
        <p:nvPicPr>
          <p:cNvPr id="7" name="Picture 6" descr="A table with numbers and text&#10;&#10;AI-generated content may be incorrect.">
            <a:extLst>
              <a:ext uri="{FF2B5EF4-FFF2-40B4-BE49-F238E27FC236}">
                <a16:creationId xmlns:a16="http://schemas.microsoft.com/office/drawing/2014/main" id="{DAD0D00B-EAD9-8AA7-F647-B4A652B832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2846" y="2389471"/>
            <a:ext cx="4460775" cy="2176364"/>
          </a:xfrm>
          <a:prstGeom prst="rect">
            <a:avLst/>
          </a:prstGeom>
        </p:spPr>
      </p:pic>
    </p:spTree>
    <p:extLst>
      <p:ext uri="{BB962C8B-B14F-4D97-AF65-F5344CB8AC3E}">
        <p14:creationId xmlns:p14="http://schemas.microsoft.com/office/powerpoint/2010/main" val="2827308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9D6D29B-CE0F-43B0-AD58-007C16D883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29DA5727-B665-3852-835C-24A021D96C26}"/>
              </a:ext>
            </a:extLst>
          </p:cNvPr>
          <p:cNvSpPr>
            <a:spLocks noGrp="1"/>
          </p:cNvSpPr>
          <p:nvPr>
            <p:ph type="title"/>
          </p:nvPr>
        </p:nvSpPr>
        <p:spPr>
          <a:xfrm>
            <a:off x="598933" y="80750"/>
            <a:ext cx="9903871" cy="743981"/>
          </a:xfrm>
        </p:spPr>
        <p:txBody>
          <a:bodyPr>
            <a:normAutofit/>
          </a:bodyPr>
          <a:lstStyle/>
          <a:p>
            <a:r>
              <a:rPr lang="el-GR" sz="1800" dirty="0" err="1">
                <a:latin typeface="Times New Roman" panose="02020603050405020304" pitchFamily="18" charset="0"/>
                <a:cs typeface="Times New Roman" panose="02020603050405020304" pitchFamily="18" charset="0"/>
              </a:rPr>
              <a:t>Μακροσκοπικη</a:t>
            </a:r>
            <a:r>
              <a:rPr lang="el-GR" sz="1800" dirty="0">
                <a:latin typeface="Times New Roman" panose="02020603050405020304" pitchFamily="18" charset="0"/>
                <a:cs typeface="Times New Roman" panose="02020603050405020304" pitchFamily="18" charset="0"/>
              </a:rPr>
              <a:t> </a:t>
            </a:r>
            <a:r>
              <a:rPr lang="el-GR" sz="1800" dirty="0" err="1">
                <a:latin typeface="Times New Roman" panose="02020603050405020304" pitchFamily="18" charset="0"/>
                <a:cs typeface="Times New Roman" panose="02020603050405020304" pitchFamily="18" charset="0"/>
              </a:rPr>
              <a:t>Αναλυση</a:t>
            </a:r>
            <a:r>
              <a:rPr lang="el-GR" sz="1800" dirty="0">
                <a:latin typeface="Times New Roman" panose="02020603050405020304" pitchFamily="18" charset="0"/>
                <a:cs typeface="Times New Roman" panose="02020603050405020304" pitchFamily="18" charset="0"/>
              </a:rPr>
              <a:t> της </a:t>
            </a:r>
            <a:r>
              <a:rPr lang="el-GR" sz="1800" dirty="0" err="1">
                <a:latin typeface="Times New Roman" panose="02020603050405020304" pitchFamily="18" charset="0"/>
                <a:cs typeface="Times New Roman" panose="02020603050405020304" pitchFamily="18" charset="0"/>
              </a:rPr>
              <a:t>Κυκλοφοριας</a:t>
            </a:r>
            <a:r>
              <a:rPr lang="el-GR" sz="1800" dirty="0">
                <a:latin typeface="Times New Roman" panose="02020603050405020304" pitchFamily="18" charset="0"/>
                <a:cs typeface="Times New Roman" panose="02020603050405020304" pitchFamily="18" charset="0"/>
              </a:rPr>
              <a:t> στα </a:t>
            </a:r>
            <a:r>
              <a:rPr lang="el-GR" sz="1800" dirty="0" err="1">
                <a:latin typeface="Times New Roman" panose="02020603050405020304" pitchFamily="18" charset="0"/>
                <a:cs typeface="Times New Roman" panose="02020603050405020304" pitchFamily="18" charset="0"/>
              </a:rPr>
              <a:t>Data</a:t>
            </a:r>
            <a:r>
              <a:rPr lang="el-GR" sz="1800" dirty="0">
                <a:latin typeface="Times New Roman" panose="02020603050405020304" pitchFamily="18" charset="0"/>
                <a:cs typeface="Times New Roman" panose="02020603050405020304" pitchFamily="18" charset="0"/>
              </a:rPr>
              <a:t> </a:t>
            </a:r>
            <a:r>
              <a:rPr lang="el-GR" sz="1800" dirty="0" err="1">
                <a:latin typeface="Times New Roman" panose="02020603050405020304" pitchFamily="18" charset="0"/>
                <a:cs typeface="Times New Roman" panose="02020603050405020304" pitchFamily="18" charset="0"/>
              </a:rPr>
              <a:t>Centers</a:t>
            </a:r>
            <a:endParaRPr lang="el-GR" sz="1800"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606BE796-9648-4A96-8E5C-7FDB123C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1985391"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Εικόνα 4">
            <a:extLst>
              <a:ext uri="{FF2B5EF4-FFF2-40B4-BE49-F238E27FC236}">
                <a16:creationId xmlns:a16="http://schemas.microsoft.com/office/drawing/2014/main" id="{5C01C879-DA15-13CC-9480-5B4E052847ED}"/>
              </a:ext>
            </a:extLst>
          </p:cNvPr>
          <p:cNvPicPr>
            <a:picLocks noChangeAspect="1"/>
          </p:cNvPicPr>
          <p:nvPr/>
        </p:nvPicPr>
        <p:blipFill>
          <a:blip r:embed="rId2"/>
          <a:stretch>
            <a:fillRect/>
          </a:stretch>
        </p:blipFill>
        <p:spPr>
          <a:xfrm>
            <a:off x="136344" y="4066704"/>
            <a:ext cx="4026605" cy="2425568"/>
          </a:xfrm>
          <a:prstGeom prst="rect">
            <a:avLst/>
          </a:prstGeom>
        </p:spPr>
      </p:pic>
      <p:sp>
        <p:nvSpPr>
          <p:cNvPr id="3" name="Θέση περιεχομένου 2">
            <a:extLst>
              <a:ext uri="{FF2B5EF4-FFF2-40B4-BE49-F238E27FC236}">
                <a16:creationId xmlns:a16="http://schemas.microsoft.com/office/drawing/2014/main" id="{FC382069-88DB-7853-3A63-E04328E2D5D0}"/>
              </a:ext>
            </a:extLst>
          </p:cNvPr>
          <p:cNvSpPr>
            <a:spLocks noGrp="1"/>
          </p:cNvSpPr>
          <p:nvPr>
            <p:ph idx="1"/>
          </p:nvPr>
        </p:nvSpPr>
        <p:spPr>
          <a:xfrm>
            <a:off x="3792708" y="824731"/>
            <a:ext cx="8001727" cy="5952519"/>
          </a:xfrm>
        </p:spPr>
        <p:txBody>
          <a:bodyPr>
            <a:normAutofit fontScale="32500" lnSpcReduction="20000"/>
          </a:bodyPr>
          <a:lstStyle/>
          <a:p>
            <a:pPr>
              <a:lnSpc>
                <a:spcPct val="120000"/>
              </a:lnSpc>
              <a:buNone/>
            </a:pPr>
            <a:r>
              <a:rPr lang="el-GR" sz="4400" dirty="0">
                <a:latin typeface="Times New Roman" panose="02020603050405020304" pitchFamily="18" charset="0"/>
                <a:cs typeface="Times New Roman" panose="02020603050405020304" pitchFamily="18" charset="0"/>
              </a:rPr>
              <a:t>Η ανάλυση των SNMP δεδομένων αποκάλυψε βασικά μοτίβα στη χρήση των συνδέσεων και στις απώλειες πακέτων στα </a:t>
            </a:r>
            <a:r>
              <a:rPr lang="el-GR" sz="4400" dirty="0" err="1">
                <a:latin typeface="Times New Roman" panose="02020603050405020304" pitchFamily="18" charset="0"/>
                <a:cs typeface="Times New Roman" panose="02020603050405020304" pitchFamily="18" charset="0"/>
              </a:rPr>
              <a:t>Data</a:t>
            </a:r>
            <a:r>
              <a:rPr lang="el-GR" sz="4400" dirty="0">
                <a:latin typeface="Times New Roman" panose="02020603050405020304" pitchFamily="18" charset="0"/>
                <a:cs typeface="Times New Roman" panose="02020603050405020304" pitchFamily="18" charset="0"/>
              </a:rPr>
              <a:t> </a:t>
            </a:r>
            <a:r>
              <a:rPr lang="el-GR" sz="4400" dirty="0" err="1">
                <a:latin typeface="Times New Roman" panose="02020603050405020304" pitchFamily="18" charset="0"/>
                <a:cs typeface="Times New Roman" panose="02020603050405020304" pitchFamily="18" charset="0"/>
              </a:rPr>
              <a:t>Centers</a:t>
            </a:r>
            <a:r>
              <a:rPr lang="el-GR" sz="4400" dirty="0">
                <a:latin typeface="Times New Roman" panose="02020603050405020304" pitchFamily="18" charset="0"/>
                <a:cs typeface="Times New Roman" panose="02020603050405020304" pitchFamily="18" charset="0"/>
              </a:rPr>
              <a:t>:</a:t>
            </a:r>
          </a:p>
          <a:p>
            <a:pPr>
              <a:lnSpc>
                <a:spcPct val="120000"/>
              </a:lnSpc>
              <a:buNone/>
            </a:pPr>
            <a:r>
              <a:rPr lang="el-GR" sz="4400" b="1" dirty="0">
                <a:latin typeface="Times New Roman" panose="02020603050405020304" pitchFamily="18" charset="0"/>
                <a:cs typeface="Times New Roman" panose="02020603050405020304" pitchFamily="18" charset="0"/>
              </a:rPr>
              <a:t>1. Χρήση των συνδέσεων στα διάφορα επίπεδα του δικτύου</a:t>
            </a:r>
          </a:p>
          <a:p>
            <a:pPr>
              <a:lnSpc>
                <a:spcPct val="120000"/>
              </a:lnSpc>
              <a:buFont typeface="Wingdings" panose="05000000000000000000" pitchFamily="2" charset="2"/>
              <a:buChar char="v"/>
            </a:pPr>
            <a:r>
              <a:rPr lang="el-GR" sz="4400" dirty="0">
                <a:latin typeface="Times New Roman" panose="02020603050405020304" pitchFamily="18" charset="0"/>
                <a:cs typeface="Times New Roman" panose="02020603050405020304" pitchFamily="18" charset="0"/>
              </a:rPr>
              <a:t>Τα </a:t>
            </a:r>
            <a:r>
              <a:rPr lang="el-GR" sz="4400" dirty="0" err="1">
                <a:latin typeface="Times New Roman" panose="02020603050405020304" pitchFamily="18" charset="0"/>
                <a:cs typeface="Times New Roman" panose="02020603050405020304" pitchFamily="18" charset="0"/>
              </a:rPr>
              <a:t>Data</a:t>
            </a:r>
            <a:r>
              <a:rPr lang="el-GR" sz="4400" dirty="0">
                <a:latin typeface="Times New Roman" panose="02020603050405020304" pitchFamily="18" charset="0"/>
                <a:cs typeface="Times New Roman" panose="02020603050405020304" pitchFamily="18" charset="0"/>
              </a:rPr>
              <a:t> </a:t>
            </a:r>
            <a:r>
              <a:rPr lang="el-GR" sz="4400" dirty="0" err="1">
                <a:latin typeface="Times New Roman" panose="02020603050405020304" pitchFamily="18" charset="0"/>
                <a:cs typeface="Times New Roman" panose="02020603050405020304" pitchFamily="18" charset="0"/>
              </a:rPr>
              <a:t>Centers</a:t>
            </a:r>
            <a:r>
              <a:rPr lang="el-GR" sz="4400" dirty="0">
                <a:latin typeface="Times New Roman" panose="02020603050405020304" pitchFamily="18" charset="0"/>
                <a:cs typeface="Times New Roman" panose="02020603050405020304" pitchFamily="18" charset="0"/>
              </a:rPr>
              <a:t> ακολουθούν </a:t>
            </a:r>
            <a:r>
              <a:rPr lang="el-GR" sz="4400" dirty="0" err="1">
                <a:latin typeface="Times New Roman" panose="02020603050405020304" pitchFamily="18" charset="0"/>
                <a:cs typeface="Times New Roman" panose="02020603050405020304" pitchFamily="18" charset="0"/>
              </a:rPr>
              <a:t>πολυεπίπεδη</a:t>
            </a:r>
            <a:r>
              <a:rPr lang="el-GR" sz="4400" dirty="0">
                <a:latin typeface="Times New Roman" panose="02020603050405020304" pitchFamily="18" charset="0"/>
                <a:cs typeface="Times New Roman" panose="02020603050405020304" pitchFamily="18" charset="0"/>
              </a:rPr>
              <a:t> αρχιτεκτονική (</a:t>
            </a:r>
            <a:r>
              <a:rPr lang="el-GR" sz="4400" dirty="0" err="1">
                <a:latin typeface="Times New Roman" panose="02020603050405020304" pitchFamily="18" charset="0"/>
                <a:cs typeface="Times New Roman" panose="02020603050405020304" pitchFamily="18" charset="0"/>
              </a:rPr>
              <a:t>tiered</a:t>
            </a:r>
            <a:r>
              <a:rPr lang="el-GR" sz="4400" dirty="0">
                <a:latin typeface="Times New Roman" panose="02020603050405020304" pitchFamily="18" charset="0"/>
                <a:cs typeface="Times New Roman" panose="02020603050405020304" pitchFamily="18" charset="0"/>
              </a:rPr>
              <a:t> </a:t>
            </a:r>
            <a:r>
              <a:rPr lang="el-GR" sz="4400" dirty="0" err="1">
                <a:latin typeface="Times New Roman" panose="02020603050405020304" pitchFamily="18" charset="0"/>
                <a:cs typeface="Times New Roman" panose="02020603050405020304" pitchFamily="18" charset="0"/>
              </a:rPr>
              <a:t>architecture</a:t>
            </a:r>
            <a:r>
              <a:rPr lang="el-GR" sz="4400" dirty="0">
                <a:latin typeface="Times New Roman" panose="02020603050405020304" pitchFamily="18" charset="0"/>
                <a:cs typeface="Times New Roman" panose="02020603050405020304" pitchFamily="18" charset="0"/>
              </a:rPr>
              <a:t>), με το δίκτυο να χωρίζεται σε τρία επίπεδα: </a:t>
            </a:r>
            <a:r>
              <a:rPr lang="el-GR" sz="4400" b="1" dirty="0" err="1">
                <a:latin typeface="Times New Roman" panose="02020603050405020304" pitchFamily="18" charset="0"/>
                <a:cs typeface="Times New Roman" panose="02020603050405020304" pitchFamily="18" charset="0"/>
              </a:rPr>
              <a:t>Core</a:t>
            </a:r>
            <a:r>
              <a:rPr lang="el-GR" sz="4400" b="1" dirty="0">
                <a:latin typeface="Times New Roman" panose="02020603050405020304" pitchFamily="18" charset="0"/>
                <a:cs typeface="Times New Roman" panose="02020603050405020304" pitchFamily="18" charset="0"/>
              </a:rPr>
              <a:t>, </a:t>
            </a:r>
            <a:r>
              <a:rPr lang="el-GR" sz="4400" b="1" dirty="0" err="1">
                <a:latin typeface="Times New Roman" panose="02020603050405020304" pitchFamily="18" charset="0"/>
                <a:cs typeface="Times New Roman" panose="02020603050405020304" pitchFamily="18" charset="0"/>
              </a:rPr>
              <a:t>Aggregation</a:t>
            </a:r>
            <a:r>
              <a:rPr lang="el-GR" sz="4400" b="1" dirty="0">
                <a:latin typeface="Times New Roman" panose="02020603050405020304" pitchFamily="18" charset="0"/>
                <a:cs typeface="Times New Roman" panose="02020603050405020304" pitchFamily="18" charset="0"/>
              </a:rPr>
              <a:t> και </a:t>
            </a:r>
            <a:r>
              <a:rPr lang="el-GR" sz="4400" b="1" dirty="0" err="1">
                <a:latin typeface="Times New Roman" panose="02020603050405020304" pitchFamily="18" charset="0"/>
                <a:cs typeface="Times New Roman" panose="02020603050405020304" pitchFamily="18" charset="0"/>
              </a:rPr>
              <a:t>Edge</a:t>
            </a:r>
            <a:r>
              <a:rPr lang="el-GR" sz="4400" b="1" dirty="0">
                <a:latin typeface="Times New Roman" panose="02020603050405020304" pitchFamily="18" charset="0"/>
                <a:cs typeface="Times New Roman" panose="02020603050405020304" pitchFamily="18" charset="0"/>
              </a:rPr>
              <a:t>.</a:t>
            </a:r>
            <a:endParaRPr lang="el-GR" sz="4400" dirty="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v"/>
            </a:pPr>
            <a:r>
              <a:rPr lang="el-GR" sz="4400" dirty="0">
                <a:latin typeface="Times New Roman" panose="02020603050405020304" pitchFamily="18" charset="0"/>
                <a:cs typeface="Times New Roman" panose="02020603050405020304" pitchFamily="18" charset="0"/>
              </a:rPr>
              <a:t>Η μέση χρήση των συνδέσεων είναι υψηλότερη στον πυρήνα (</a:t>
            </a:r>
            <a:r>
              <a:rPr lang="el-GR" sz="4400" dirty="0" err="1">
                <a:latin typeface="Times New Roman" panose="02020603050405020304" pitchFamily="18" charset="0"/>
                <a:cs typeface="Times New Roman" panose="02020603050405020304" pitchFamily="18" charset="0"/>
              </a:rPr>
              <a:t>core</a:t>
            </a:r>
            <a:r>
              <a:rPr lang="el-GR" sz="4400" dirty="0">
                <a:latin typeface="Times New Roman" panose="02020603050405020304" pitchFamily="18" charset="0"/>
                <a:cs typeface="Times New Roman" panose="02020603050405020304" pitchFamily="18" charset="0"/>
              </a:rPr>
              <a:t>) του δικτύου και μειώνεται προοδευτικά καθώς πλησιάζουμε στην άκρη του δικτύου (</a:t>
            </a:r>
            <a:r>
              <a:rPr lang="el-GR" sz="4400" dirty="0" err="1">
                <a:latin typeface="Times New Roman" panose="02020603050405020304" pitchFamily="18" charset="0"/>
                <a:cs typeface="Times New Roman" panose="02020603050405020304" pitchFamily="18" charset="0"/>
              </a:rPr>
              <a:t>edge</a:t>
            </a:r>
            <a:r>
              <a:rPr lang="el-GR" sz="4400" dirty="0">
                <a:latin typeface="Times New Roman" panose="02020603050405020304" pitchFamily="18" charset="0"/>
                <a:cs typeface="Times New Roman" panose="02020603050405020304" pitchFamily="18" charset="0"/>
              </a:rPr>
              <a:t>).</a:t>
            </a:r>
          </a:p>
          <a:p>
            <a:pPr>
              <a:lnSpc>
                <a:spcPct val="120000"/>
              </a:lnSpc>
              <a:buFont typeface="Wingdings" panose="05000000000000000000" pitchFamily="2" charset="2"/>
              <a:buChar char="v"/>
            </a:pPr>
            <a:r>
              <a:rPr lang="el-GR" sz="4400" dirty="0">
                <a:latin typeface="Times New Roman" panose="02020603050405020304" pitchFamily="18" charset="0"/>
                <a:cs typeface="Times New Roman" panose="02020603050405020304" pitchFamily="18" charset="0"/>
              </a:rPr>
              <a:t>Παρόλο που οι </a:t>
            </a:r>
            <a:r>
              <a:rPr lang="el-GR" sz="4400" dirty="0" err="1">
                <a:latin typeface="Times New Roman" panose="02020603050405020304" pitchFamily="18" charset="0"/>
                <a:cs typeface="Times New Roman" panose="02020603050405020304" pitchFamily="18" charset="0"/>
              </a:rPr>
              <a:t>core</a:t>
            </a:r>
            <a:r>
              <a:rPr lang="el-GR" sz="4400" dirty="0">
                <a:latin typeface="Times New Roman" panose="02020603050405020304" pitchFamily="18" charset="0"/>
                <a:cs typeface="Times New Roman" panose="02020603050405020304" pitchFamily="18" charset="0"/>
              </a:rPr>
              <a:t> συνδέσεις διαχειρίζονται μεγαλύτερο όγκο δεδομένων, έχουν μικρότερες απώλειες σε σύγκριση με τις </a:t>
            </a:r>
            <a:r>
              <a:rPr lang="el-GR" sz="4400" dirty="0" err="1">
                <a:latin typeface="Times New Roman" panose="02020603050405020304" pitchFamily="18" charset="0"/>
                <a:cs typeface="Times New Roman" panose="02020603050405020304" pitchFamily="18" charset="0"/>
              </a:rPr>
              <a:t>edge</a:t>
            </a:r>
            <a:r>
              <a:rPr lang="el-GR" sz="4400" dirty="0">
                <a:latin typeface="Times New Roman" panose="02020603050405020304" pitchFamily="18" charset="0"/>
                <a:cs typeface="Times New Roman" panose="02020603050405020304" pitchFamily="18" charset="0"/>
              </a:rPr>
              <a:t> συνδέσεις.</a:t>
            </a:r>
          </a:p>
          <a:p>
            <a:pPr>
              <a:lnSpc>
                <a:spcPct val="120000"/>
              </a:lnSpc>
              <a:buNone/>
            </a:pPr>
            <a:r>
              <a:rPr lang="el-GR" sz="4400" b="1" dirty="0">
                <a:latin typeface="Times New Roman" panose="02020603050405020304" pitchFamily="18" charset="0"/>
                <a:cs typeface="Times New Roman" panose="02020603050405020304" pitchFamily="18" charset="0"/>
              </a:rPr>
              <a:t>2. Απώλειες πακέτων στα διάφορα επίπεδα του δικτύου</a:t>
            </a:r>
          </a:p>
          <a:p>
            <a:pPr>
              <a:lnSpc>
                <a:spcPct val="120000"/>
              </a:lnSpc>
              <a:buFont typeface="Wingdings" panose="05000000000000000000" pitchFamily="2" charset="2"/>
              <a:buChar char="v"/>
            </a:pPr>
            <a:r>
              <a:rPr lang="el-GR" sz="4400" dirty="0">
                <a:latin typeface="Times New Roman" panose="02020603050405020304" pitchFamily="18" charset="0"/>
                <a:cs typeface="Times New Roman" panose="02020603050405020304" pitchFamily="18" charset="0"/>
              </a:rPr>
              <a:t>Ενώ οι </a:t>
            </a:r>
            <a:r>
              <a:rPr lang="el-GR" sz="4400" dirty="0" err="1">
                <a:latin typeface="Times New Roman" panose="02020603050405020304" pitchFamily="18" charset="0"/>
                <a:cs typeface="Times New Roman" panose="02020603050405020304" pitchFamily="18" charset="0"/>
              </a:rPr>
              <a:t>core</a:t>
            </a:r>
            <a:r>
              <a:rPr lang="el-GR" sz="4400" dirty="0">
                <a:latin typeface="Times New Roman" panose="02020603050405020304" pitchFamily="18" charset="0"/>
                <a:cs typeface="Times New Roman" panose="02020603050405020304" pitchFamily="18" charset="0"/>
              </a:rPr>
              <a:t> συνδέσεις εμφανίζουν υψηλή χρήση, οι απώλειες πακέτων είναι ελάχιστες.</a:t>
            </a:r>
          </a:p>
          <a:p>
            <a:pPr>
              <a:lnSpc>
                <a:spcPct val="120000"/>
              </a:lnSpc>
              <a:buFont typeface="Wingdings" panose="05000000000000000000" pitchFamily="2" charset="2"/>
              <a:buChar char="v"/>
            </a:pPr>
            <a:r>
              <a:rPr lang="el-GR" sz="4400" dirty="0">
                <a:latin typeface="Times New Roman" panose="02020603050405020304" pitchFamily="18" charset="0"/>
                <a:cs typeface="Times New Roman" panose="02020603050405020304" pitchFamily="18" charset="0"/>
              </a:rPr>
              <a:t>Οι περισσότερες απώλειες σημειώνονται στα </a:t>
            </a:r>
            <a:r>
              <a:rPr lang="el-GR" sz="4400" dirty="0" err="1">
                <a:latin typeface="Times New Roman" panose="02020603050405020304" pitchFamily="18" charset="0"/>
                <a:cs typeface="Times New Roman" panose="02020603050405020304" pitchFamily="18" charset="0"/>
              </a:rPr>
              <a:t>edge</a:t>
            </a:r>
            <a:r>
              <a:rPr lang="el-GR" sz="4400" dirty="0">
                <a:latin typeface="Times New Roman" panose="02020603050405020304" pitchFamily="18" charset="0"/>
                <a:cs typeface="Times New Roman" panose="02020603050405020304" pitchFamily="18" charset="0"/>
              </a:rPr>
              <a:t> </a:t>
            </a:r>
            <a:r>
              <a:rPr lang="el-GR" sz="4400" dirty="0" err="1">
                <a:latin typeface="Times New Roman" panose="02020603050405020304" pitchFamily="18" charset="0"/>
                <a:cs typeface="Times New Roman" panose="02020603050405020304" pitchFamily="18" charset="0"/>
              </a:rPr>
              <a:t>switches</a:t>
            </a:r>
            <a:r>
              <a:rPr lang="el-GR" sz="4400" dirty="0">
                <a:latin typeface="Times New Roman" panose="02020603050405020304" pitchFamily="18" charset="0"/>
                <a:cs typeface="Times New Roman" panose="02020603050405020304" pitchFamily="18" charset="0"/>
              </a:rPr>
              <a:t>, γεγονός που υποδηλώνει ότι η κυκλοφορία σε αυτά είναι πιο εκρηκτική (</a:t>
            </a:r>
            <a:r>
              <a:rPr lang="el-GR" sz="4400" dirty="0" err="1">
                <a:latin typeface="Times New Roman" panose="02020603050405020304" pitchFamily="18" charset="0"/>
                <a:cs typeface="Times New Roman" panose="02020603050405020304" pitchFamily="18" charset="0"/>
              </a:rPr>
              <a:t>bursty</a:t>
            </a:r>
            <a:r>
              <a:rPr lang="el-GR" sz="4400" dirty="0">
                <a:latin typeface="Times New Roman" panose="02020603050405020304" pitchFamily="18" charset="0"/>
                <a:cs typeface="Times New Roman" panose="02020603050405020304" pitchFamily="18" charset="0"/>
              </a:rPr>
              <a:t>) και δύσκολο να διαχειριστεί.</a:t>
            </a:r>
          </a:p>
          <a:p>
            <a:pPr>
              <a:lnSpc>
                <a:spcPct val="120000"/>
              </a:lnSpc>
              <a:buFont typeface="Wingdings" panose="05000000000000000000" pitchFamily="2" charset="2"/>
              <a:buChar char="v"/>
            </a:pPr>
            <a:r>
              <a:rPr lang="el-GR" sz="4400" dirty="0">
                <a:latin typeface="Times New Roman" panose="02020603050405020304" pitchFamily="18" charset="0"/>
                <a:cs typeface="Times New Roman" panose="02020603050405020304" pitchFamily="18" charset="0"/>
              </a:rPr>
              <a:t>Η ύπαρξη περιόδων μεγάλης και απότομης αύξησης της κίνησης (</a:t>
            </a:r>
            <a:r>
              <a:rPr lang="el-GR" sz="4400" dirty="0" err="1">
                <a:latin typeface="Times New Roman" panose="02020603050405020304" pitchFamily="18" charset="0"/>
                <a:cs typeface="Times New Roman" panose="02020603050405020304" pitchFamily="18" charset="0"/>
              </a:rPr>
              <a:t>traffic</a:t>
            </a:r>
            <a:r>
              <a:rPr lang="el-GR" sz="4400" dirty="0">
                <a:latin typeface="Times New Roman" panose="02020603050405020304" pitchFamily="18" charset="0"/>
                <a:cs typeface="Times New Roman" panose="02020603050405020304" pitchFamily="18" charset="0"/>
              </a:rPr>
              <a:t> </a:t>
            </a:r>
            <a:r>
              <a:rPr lang="el-GR" sz="4400" dirty="0" err="1">
                <a:latin typeface="Times New Roman" panose="02020603050405020304" pitchFamily="18" charset="0"/>
                <a:cs typeface="Times New Roman" panose="02020603050405020304" pitchFamily="18" charset="0"/>
              </a:rPr>
              <a:t>bursts</a:t>
            </a:r>
            <a:r>
              <a:rPr lang="el-GR" sz="4400" dirty="0">
                <a:latin typeface="Times New Roman" panose="02020603050405020304" pitchFamily="18" charset="0"/>
                <a:cs typeface="Times New Roman" panose="02020603050405020304" pitchFamily="18" charset="0"/>
              </a:rPr>
              <a:t>) στις </a:t>
            </a:r>
            <a:r>
              <a:rPr lang="el-GR" sz="4400" dirty="0" err="1">
                <a:latin typeface="Times New Roman" panose="02020603050405020304" pitchFamily="18" charset="0"/>
                <a:cs typeface="Times New Roman" panose="02020603050405020304" pitchFamily="18" charset="0"/>
              </a:rPr>
              <a:t>edge</a:t>
            </a:r>
            <a:r>
              <a:rPr lang="el-GR" sz="4400" dirty="0">
                <a:latin typeface="Times New Roman" panose="02020603050405020304" pitchFamily="18" charset="0"/>
                <a:cs typeface="Times New Roman" panose="02020603050405020304" pitchFamily="18" charset="0"/>
              </a:rPr>
              <a:t> συνδέσεις καθιστά αναποτελεσματικές τις παραδοσιακές τεχνικές </a:t>
            </a:r>
            <a:r>
              <a:rPr lang="el-GR" sz="4400" dirty="0" err="1">
                <a:latin typeface="Times New Roman" panose="02020603050405020304" pitchFamily="18" charset="0"/>
                <a:cs typeface="Times New Roman" panose="02020603050405020304" pitchFamily="18" charset="0"/>
              </a:rPr>
              <a:t>traffic</a:t>
            </a:r>
            <a:r>
              <a:rPr lang="el-GR" sz="4400" dirty="0">
                <a:latin typeface="Times New Roman" panose="02020603050405020304" pitchFamily="18" charset="0"/>
                <a:cs typeface="Times New Roman" panose="02020603050405020304" pitchFamily="18" charset="0"/>
              </a:rPr>
              <a:t> </a:t>
            </a:r>
            <a:r>
              <a:rPr lang="el-GR" sz="4400" dirty="0" err="1">
                <a:latin typeface="Times New Roman" panose="02020603050405020304" pitchFamily="18" charset="0"/>
                <a:cs typeface="Times New Roman" panose="02020603050405020304" pitchFamily="18" charset="0"/>
              </a:rPr>
              <a:t>engineering</a:t>
            </a:r>
            <a:r>
              <a:rPr lang="el-GR" sz="4400" dirty="0">
                <a:latin typeface="Times New Roman" panose="02020603050405020304" pitchFamily="18" charset="0"/>
                <a:cs typeface="Times New Roman" panose="02020603050405020304" pitchFamily="18" charset="0"/>
              </a:rPr>
              <a:t>.</a:t>
            </a:r>
          </a:p>
          <a:p>
            <a:pPr>
              <a:lnSpc>
                <a:spcPct val="120000"/>
              </a:lnSpc>
              <a:buNone/>
            </a:pPr>
            <a:r>
              <a:rPr lang="el-GR" sz="4400" b="1" dirty="0">
                <a:latin typeface="Times New Roman" panose="02020603050405020304" pitchFamily="18" charset="0"/>
                <a:cs typeface="Times New Roman" panose="02020603050405020304" pitchFamily="18" charset="0"/>
              </a:rPr>
              <a:t>3. Αξιοποίηση αδρανών συνδέσεων</a:t>
            </a:r>
          </a:p>
          <a:p>
            <a:pPr>
              <a:lnSpc>
                <a:spcPct val="120000"/>
              </a:lnSpc>
              <a:buFont typeface="Wingdings" panose="05000000000000000000" pitchFamily="2" charset="2"/>
              <a:buChar char="v"/>
            </a:pPr>
            <a:r>
              <a:rPr lang="el-GR" sz="4400" dirty="0">
                <a:latin typeface="Times New Roman" panose="02020603050405020304" pitchFamily="18" charset="0"/>
                <a:cs typeface="Times New Roman" panose="02020603050405020304" pitchFamily="18" charset="0"/>
              </a:rPr>
              <a:t>Περίπου </a:t>
            </a:r>
            <a:r>
              <a:rPr lang="el-GR" sz="4400" b="1" dirty="0">
                <a:latin typeface="Times New Roman" panose="02020603050405020304" pitchFamily="18" charset="0"/>
                <a:cs typeface="Times New Roman" panose="02020603050405020304" pitchFamily="18" charset="0"/>
              </a:rPr>
              <a:t>40% των συνδέσεων σε ένα </a:t>
            </a:r>
            <a:r>
              <a:rPr lang="el-GR" sz="4400" b="1" dirty="0" err="1">
                <a:latin typeface="Times New Roman" panose="02020603050405020304" pitchFamily="18" charset="0"/>
                <a:cs typeface="Times New Roman" panose="02020603050405020304" pitchFamily="18" charset="0"/>
              </a:rPr>
              <a:t>Data</a:t>
            </a:r>
            <a:r>
              <a:rPr lang="el-GR" sz="4400" b="1" dirty="0">
                <a:latin typeface="Times New Roman" panose="02020603050405020304" pitchFamily="18" charset="0"/>
                <a:cs typeface="Times New Roman" panose="02020603050405020304" pitchFamily="18" charset="0"/>
              </a:rPr>
              <a:t> </a:t>
            </a:r>
            <a:r>
              <a:rPr lang="el-GR" sz="4400" b="1" dirty="0" err="1">
                <a:latin typeface="Times New Roman" panose="02020603050405020304" pitchFamily="18" charset="0"/>
                <a:cs typeface="Times New Roman" panose="02020603050405020304" pitchFamily="18" charset="0"/>
              </a:rPr>
              <a:t>Center</a:t>
            </a:r>
            <a:r>
              <a:rPr lang="el-GR" sz="4400" b="1" dirty="0">
                <a:latin typeface="Times New Roman" panose="02020603050405020304" pitchFamily="18" charset="0"/>
                <a:cs typeface="Times New Roman" panose="02020603050405020304" pitchFamily="18" charset="0"/>
              </a:rPr>
              <a:t> παραμένουν αχρησιμοποίητες</a:t>
            </a:r>
            <a:r>
              <a:rPr lang="el-GR" sz="4400" dirty="0">
                <a:latin typeface="Times New Roman" panose="02020603050405020304" pitchFamily="18" charset="0"/>
                <a:cs typeface="Times New Roman" panose="02020603050405020304" pitchFamily="18" charset="0"/>
              </a:rPr>
              <a:t>, γεγονός που σημαίνει ότι υπάρχει σημαντική δυνατότητα βελτιστοποίησης της κατανομής της κυκλοφορίας.</a:t>
            </a:r>
          </a:p>
          <a:p>
            <a:pPr>
              <a:lnSpc>
                <a:spcPct val="120000"/>
              </a:lnSpc>
              <a:buFont typeface="Wingdings" panose="05000000000000000000" pitchFamily="2" charset="2"/>
              <a:buChar char="v"/>
            </a:pPr>
            <a:r>
              <a:rPr lang="el-GR" sz="4400" dirty="0">
                <a:latin typeface="Times New Roman" panose="02020603050405020304" pitchFamily="18" charset="0"/>
                <a:cs typeface="Times New Roman" panose="02020603050405020304" pitchFamily="18" charset="0"/>
              </a:rPr>
              <a:t>Ωστόσο, η ανάλυση έδειξε ότι οι αχρησιμοποίητες συνδέσεις αλλάζουν συνεχώς, καθιστώντας δύσκολη την ανάπτυξη σταθερών στρατηγικών εξισορρόπησης φορτίου.</a:t>
            </a:r>
          </a:p>
          <a:p>
            <a:pPr>
              <a:lnSpc>
                <a:spcPct val="120000"/>
              </a:lnSpc>
            </a:pPr>
            <a:endParaRPr lang="el-GR" sz="500" dirty="0"/>
          </a:p>
        </p:txBody>
      </p:sp>
      <p:sp>
        <p:nvSpPr>
          <p:cNvPr id="14" name="Freeform: Shape 13">
            <a:extLst>
              <a:ext uri="{FF2B5EF4-FFF2-40B4-BE49-F238E27FC236}">
                <a16:creationId xmlns:a16="http://schemas.microsoft.com/office/drawing/2014/main" id="{15440BF0-CCE6-42AA-8970-78523D4C12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3">
              <a:extLst>
                <a:ext uri="{96DAC541-7B7A-43D3-8B79-37D633B846F1}">
                  <asvg:svgBlip xmlns:asvg="http://schemas.microsoft.com/office/drawing/2016/SVG/main" r:embed="rId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a:extLst>
              <a:ext uri="{FF2B5EF4-FFF2-40B4-BE49-F238E27FC236}">
                <a16:creationId xmlns:a16="http://schemas.microsoft.com/office/drawing/2014/main" id="{A7D0AE8A-A40D-BE0C-6FA6-2585FD5C2C2D}"/>
              </a:ext>
            </a:extLst>
          </p:cNvPr>
          <p:cNvPicPr>
            <a:picLocks noChangeAspect="1"/>
          </p:cNvPicPr>
          <p:nvPr/>
        </p:nvPicPr>
        <p:blipFill>
          <a:blip r:embed="rId5"/>
          <a:stretch>
            <a:fillRect/>
          </a:stretch>
        </p:blipFill>
        <p:spPr>
          <a:xfrm>
            <a:off x="136344" y="1174411"/>
            <a:ext cx="3656364" cy="2930666"/>
          </a:xfrm>
          <a:prstGeom prst="rect">
            <a:avLst/>
          </a:prstGeom>
        </p:spPr>
      </p:pic>
    </p:spTree>
    <p:extLst>
      <p:ext uri="{BB962C8B-B14F-4D97-AF65-F5344CB8AC3E}">
        <p14:creationId xmlns:p14="http://schemas.microsoft.com/office/powerpoint/2010/main" val="127534563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0C614264-BA32-414F-95BE-0A30CC072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7D1F3860-1F15-885D-0806-ABF0E5D8A8B2}"/>
              </a:ext>
            </a:extLst>
          </p:cNvPr>
          <p:cNvSpPr>
            <a:spLocks noGrp="1"/>
          </p:cNvSpPr>
          <p:nvPr>
            <p:ph type="title"/>
          </p:nvPr>
        </p:nvSpPr>
        <p:spPr>
          <a:xfrm>
            <a:off x="363784" y="284212"/>
            <a:ext cx="6383684" cy="1676874"/>
          </a:xfrm>
        </p:spPr>
        <p:txBody>
          <a:bodyPr>
            <a:normAutofit/>
          </a:bodyPr>
          <a:lstStyle/>
          <a:p>
            <a:pPr>
              <a:lnSpc>
                <a:spcPct val="110000"/>
              </a:lnSpc>
            </a:pPr>
            <a:r>
              <a:rPr lang="el-GR" sz="2700" dirty="0" err="1">
                <a:latin typeface="Times New Roman" panose="02020603050405020304" pitchFamily="18" charset="0"/>
                <a:cs typeface="Times New Roman" panose="02020603050405020304" pitchFamily="18" charset="0"/>
              </a:rPr>
              <a:t>Μικροσκοπικη</a:t>
            </a:r>
            <a:r>
              <a:rPr lang="el-GR" sz="2700" dirty="0">
                <a:latin typeface="Times New Roman" panose="02020603050405020304" pitchFamily="18" charset="0"/>
                <a:cs typeface="Times New Roman" panose="02020603050405020304" pitchFamily="18" charset="0"/>
              </a:rPr>
              <a:t> </a:t>
            </a:r>
            <a:r>
              <a:rPr lang="el-GR" sz="2700" dirty="0" err="1">
                <a:latin typeface="Times New Roman" panose="02020603050405020304" pitchFamily="18" charset="0"/>
                <a:cs typeface="Times New Roman" panose="02020603050405020304" pitchFamily="18" charset="0"/>
              </a:rPr>
              <a:t>Αναλυση</a:t>
            </a:r>
            <a:r>
              <a:rPr lang="el-GR" sz="2700" dirty="0">
                <a:latin typeface="Times New Roman" panose="02020603050405020304" pitchFamily="18" charset="0"/>
                <a:cs typeface="Times New Roman" panose="02020603050405020304" pitchFamily="18" charset="0"/>
              </a:rPr>
              <a:t> της </a:t>
            </a:r>
            <a:r>
              <a:rPr lang="el-GR" sz="2700" dirty="0" err="1">
                <a:latin typeface="Times New Roman" panose="02020603050405020304" pitchFamily="18" charset="0"/>
                <a:cs typeface="Times New Roman" panose="02020603050405020304" pitchFamily="18" charset="0"/>
              </a:rPr>
              <a:t>Κυκλοφοριας</a:t>
            </a:r>
            <a:r>
              <a:rPr lang="el-GR" sz="2700" dirty="0">
                <a:latin typeface="Times New Roman" panose="02020603050405020304" pitchFamily="18" charset="0"/>
                <a:cs typeface="Times New Roman" panose="02020603050405020304" pitchFamily="18" charset="0"/>
              </a:rPr>
              <a:t> στα </a:t>
            </a:r>
            <a:r>
              <a:rPr lang="el-GR" sz="2700" dirty="0" err="1">
                <a:latin typeface="Times New Roman" panose="02020603050405020304" pitchFamily="18" charset="0"/>
                <a:cs typeface="Times New Roman" panose="02020603050405020304" pitchFamily="18" charset="0"/>
              </a:rPr>
              <a:t>Data</a:t>
            </a:r>
            <a:r>
              <a:rPr lang="el-GR" sz="2700" dirty="0">
                <a:latin typeface="Times New Roman" panose="02020603050405020304" pitchFamily="18" charset="0"/>
                <a:cs typeface="Times New Roman" panose="02020603050405020304" pitchFamily="18" charset="0"/>
              </a:rPr>
              <a:t> </a:t>
            </a:r>
            <a:r>
              <a:rPr lang="el-GR" sz="2700" dirty="0" err="1">
                <a:latin typeface="Times New Roman" panose="02020603050405020304" pitchFamily="18" charset="0"/>
                <a:cs typeface="Times New Roman" panose="02020603050405020304" pitchFamily="18" charset="0"/>
              </a:rPr>
              <a:t>Centers</a:t>
            </a:r>
            <a:endParaRPr lang="el-GR" sz="2700" dirty="0">
              <a:latin typeface="Times New Roman" panose="02020603050405020304" pitchFamily="18" charset="0"/>
              <a:cs typeface="Times New Roman" panose="02020603050405020304" pitchFamily="18" charset="0"/>
            </a:endParaRPr>
          </a:p>
        </p:txBody>
      </p:sp>
      <p:sp>
        <p:nvSpPr>
          <p:cNvPr id="3" name="Θέση περιεχομένου 2">
            <a:extLst>
              <a:ext uri="{FF2B5EF4-FFF2-40B4-BE49-F238E27FC236}">
                <a16:creationId xmlns:a16="http://schemas.microsoft.com/office/drawing/2014/main" id="{7BBFBB01-6184-9D2C-98F6-122516FE8399}"/>
              </a:ext>
            </a:extLst>
          </p:cNvPr>
          <p:cNvSpPr>
            <a:spLocks noGrp="1"/>
          </p:cNvSpPr>
          <p:nvPr>
            <p:ph idx="1"/>
          </p:nvPr>
        </p:nvSpPr>
        <p:spPr>
          <a:xfrm>
            <a:off x="818872" y="2166732"/>
            <a:ext cx="5928596" cy="3967368"/>
          </a:xfrm>
        </p:spPr>
        <p:txBody>
          <a:bodyPr>
            <a:noAutofit/>
          </a:bodyPr>
          <a:lstStyle/>
          <a:p>
            <a:pPr>
              <a:lnSpc>
                <a:spcPct val="120000"/>
              </a:lnSpc>
              <a:buNone/>
            </a:pPr>
            <a:r>
              <a:rPr lang="en-US" sz="1600" dirty="0">
                <a:latin typeface="Times New Roman" panose="02020603050405020304" pitchFamily="18" charset="0"/>
                <a:cs typeface="Times New Roman" panose="02020603050405020304" pitchFamily="18" charset="0"/>
              </a:rPr>
              <a:t> </a:t>
            </a:r>
            <a:r>
              <a:rPr lang="el-GR" sz="1600" dirty="0">
                <a:latin typeface="Times New Roman" panose="02020603050405020304" pitchFamily="18" charset="0"/>
                <a:cs typeface="Times New Roman" panose="02020603050405020304" pitchFamily="18" charset="0"/>
              </a:rPr>
              <a:t>Για την κατανόηση της κυκλοφορίας στα </a:t>
            </a:r>
            <a:r>
              <a:rPr lang="el-GR" sz="1600" dirty="0" err="1">
                <a:latin typeface="Times New Roman" panose="02020603050405020304" pitchFamily="18" charset="0"/>
                <a:cs typeface="Times New Roman" panose="02020603050405020304" pitchFamily="18" charset="0"/>
              </a:rPr>
              <a:t>Data</a:t>
            </a:r>
            <a:r>
              <a:rPr lang="el-GR" sz="1600" dirty="0">
                <a:latin typeface="Times New Roman" panose="02020603050405020304" pitchFamily="18" charset="0"/>
                <a:cs typeface="Times New Roman" panose="02020603050405020304" pitchFamily="18" charset="0"/>
              </a:rPr>
              <a:t> </a:t>
            </a:r>
            <a:r>
              <a:rPr lang="el-GR" sz="1600" dirty="0" err="1">
                <a:latin typeface="Times New Roman" panose="02020603050405020304" pitchFamily="18" charset="0"/>
                <a:cs typeface="Times New Roman" panose="02020603050405020304" pitchFamily="18" charset="0"/>
              </a:rPr>
              <a:t>Centers</a:t>
            </a:r>
            <a:r>
              <a:rPr lang="el-GR" sz="1600" dirty="0">
                <a:latin typeface="Times New Roman" panose="02020603050405020304" pitchFamily="18" charset="0"/>
                <a:cs typeface="Times New Roman" panose="02020603050405020304" pitchFamily="18" charset="0"/>
              </a:rPr>
              <a:t> σε </a:t>
            </a:r>
            <a:r>
              <a:rPr lang="el-GR" sz="1600" dirty="0" err="1">
                <a:latin typeface="Times New Roman" panose="02020603050405020304" pitchFamily="18" charset="0"/>
                <a:cs typeface="Times New Roman" panose="02020603050405020304" pitchFamily="18" charset="0"/>
              </a:rPr>
              <a:t>μικροεπίπεδο</a:t>
            </a:r>
            <a:r>
              <a:rPr lang="el-GR" sz="1600" dirty="0">
                <a:latin typeface="Times New Roman" panose="02020603050405020304" pitchFamily="18" charset="0"/>
                <a:cs typeface="Times New Roman" panose="02020603050405020304" pitchFamily="18" charset="0"/>
              </a:rPr>
              <a:t>, χρησιμοποιήθηκαν πακέτα δεδομένων από </a:t>
            </a:r>
            <a:r>
              <a:rPr lang="el-GR" sz="1600" dirty="0" err="1">
                <a:latin typeface="Times New Roman" panose="02020603050405020304" pitchFamily="18" charset="0"/>
                <a:cs typeface="Times New Roman" panose="02020603050405020304" pitchFamily="18" charset="0"/>
              </a:rPr>
              <a:t>switches</a:t>
            </a:r>
            <a:r>
              <a:rPr lang="el-GR" sz="1600" dirty="0">
                <a:latin typeface="Times New Roman" panose="02020603050405020304" pitchFamily="18" charset="0"/>
                <a:cs typeface="Times New Roman" panose="02020603050405020304" pitchFamily="18" charset="0"/>
              </a:rPr>
              <a:t> σε ένα </a:t>
            </a:r>
            <a:r>
              <a:rPr lang="el-GR" sz="1600" dirty="0" err="1">
                <a:latin typeface="Times New Roman" panose="02020603050405020304" pitchFamily="18" charset="0"/>
                <a:cs typeface="Times New Roman" panose="02020603050405020304" pitchFamily="18" charset="0"/>
              </a:rPr>
              <a:t>Data</a:t>
            </a:r>
            <a:r>
              <a:rPr lang="el-GR" sz="1600" dirty="0">
                <a:latin typeface="Times New Roman" panose="02020603050405020304" pitchFamily="18" charset="0"/>
                <a:cs typeface="Times New Roman" panose="02020603050405020304" pitchFamily="18" charset="0"/>
              </a:rPr>
              <a:t> </a:t>
            </a:r>
            <a:r>
              <a:rPr lang="el-GR" sz="1600" dirty="0" err="1">
                <a:latin typeface="Times New Roman" panose="02020603050405020304" pitchFamily="18" charset="0"/>
                <a:cs typeface="Times New Roman" panose="02020603050405020304" pitchFamily="18" charset="0"/>
              </a:rPr>
              <a:t>Center</a:t>
            </a:r>
            <a:r>
              <a:rPr lang="el-GR" sz="1600" dirty="0">
                <a:latin typeface="Times New Roman" panose="02020603050405020304" pitchFamily="18" charset="0"/>
                <a:cs typeface="Times New Roman" panose="02020603050405020304" pitchFamily="18" charset="0"/>
              </a:rPr>
              <a:t>. Τα δεδομένα αυτά παρείχαν λεπτομερείς πληροφορίες για τις χρονικές μεταβολές στην κυκλοφορία.</a:t>
            </a:r>
          </a:p>
          <a:p>
            <a:pPr>
              <a:lnSpc>
                <a:spcPct val="120000"/>
              </a:lnSpc>
              <a:buNone/>
            </a:pPr>
            <a:r>
              <a:rPr lang="el-GR" sz="1600" b="1" dirty="0">
                <a:latin typeface="Times New Roman" panose="02020603050405020304" pitchFamily="18" charset="0"/>
                <a:cs typeface="Times New Roman" panose="02020603050405020304" pitchFamily="18" charset="0"/>
              </a:rPr>
              <a:t>1. Παρουσία ON-OFF μοτίβων στην κυκλοφορία</a:t>
            </a:r>
          </a:p>
          <a:p>
            <a:pPr>
              <a:lnSpc>
                <a:spcPct val="120000"/>
              </a:lnSpc>
              <a:buFont typeface="Wingdings" panose="05000000000000000000" pitchFamily="2" charset="2"/>
              <a:buChar char="v"/>
            </a:pPr>
            <a:r>
              <a:rPr lang="el-GR" sz="1600" dirty="0">
                <a:latin typeface="Times New Roman" panose="02020603050405020304" pitchFamily="18" charset="0"/>
                <a:cs typeface="Times New Roman" panose="02020603050405020304" pitchFamily="18" charset="0"/>
              </a:rPr>
              <a:t>Η ανάλυση των πακέτων έδειξε ότι η κυκλοφορία στα </a:t>
            </a:r>
            <a:r>
              <a:rPr lang="el-GR" sz="1600" dirty="0" err="1">
                <a:latin typeface="Times New Roman" panose="02020603050405020304" pitchFamily="18" charset="0"/>
                <a:cs typeface="Times New Roman" panose="02020603050405020304" pitchFamily="18" charset="0"/>
              </a:rPr>
              <a:t>edge</a:t>
            </a:r>
            <a:r>
              <a:rPr lang="el-GR" sz="1600" dirty="0">
                <a:latin typeface="Times New Roman" panose="02020603050405020304" pitchFamily="18" charset="0"/>
                <a:cs typeface="Times New Roman" panose="02020603050405020304" pitchFamily="18" charset="0"/>
              </a:rPr>
              <a:t> </a:t>
            </a:r>
            <a:r>
              <a:rPr lang="el-GR" sz="1600" dirty="0" err="1">
                <a:latin typeface="Times New Roman" panose="02020603050405020304" pitchFamily="18" charset="0"/>
                <a:cs typeface="Times New Roman" panose="02020603050405020304" pitchFamily="18" charset="0"/>
              </a:rPr>
              <a:t>switches</a:t>
            </a:r>
            <a:r>
              <a:rPr lang="el-GR" sz="1600" dirty="0">
                <a:latin typeface="Times New Roman" panose="02020603050405020304" pitchFamily="18" charset="0"/>
                <a:cs typeface="Times New Roman" panose="02020603050405020304" pitchFamily="18" charset="0"/>
              </a:rPr>
              <a:t> δεν είναι σταθερή, αλλά χαρακτηρίζεται από περιόδους έντονης δραστηριότητας (ON </a:t>
            </a:r>
            <a:r>
              <a:rPr lang="el-GR" sz="1600" dirty="0" err="1">
                <a:latin typeface="Times New Roman" panose="02020603050405020304" pitchFamily="18" charset="0"/>
                <a:cs typeface="Times New Roman" panose="02020603050405020304" pitchFamily="18" charset="0"/>
              </a:rPr>
              <a:t>periods</a:t>
            </a:r>
            <a:r>
              <a:rPr lang="el-GR" sz="1600" dirty="0">
                <a:latin typeface="Times New Roman" panose="02020603050405020304" pitchFamily="18" charset="0"/>
                <a:cs typeface="Times New Roman" panose="02020603050405020304" pitchFamily="18" charset="0"/>
              </a:rPr>
              <a:t>) και περιόδους αδράνειας (OFF </a:t>
            </a:r>
            <a:r>
              <a:rPr lang="el-GR" sz="1600" dirty="0" err="1">
                <a:latin typeface="Times New Roman" panose="02020603050405020304" pitchFamily="18" charset="0"/>
                <a:cs typeface="Times New Roman" panose="02020603050405020304" pitchFamily="18" charset="0"/>
              </a:rPr>
              <a:t>periods</a:t>
            </a:r>
            <a:r>
              <a:rPr lang="el-GR" sz="1600" dirty="0">
                <a:latin typeface="Times New Roman" panose="02020603050405020304" pitchFamily="18" charset="0"/>
                <a:cs typeface="Times New Roman" panose="02020603050405020304" pitchFamily="18" charset="0"/>
              </a:rPr>
              <a:t>).</a:t>
            </a:r>
          </a:p>
          <a:p>
            <a:pPr>
              <a:lnSpc>
                <a:spcPct val="120000"/>
              </a:lnSpc>
              <a:buFont typeface="Wingdings" panose="05000000000000000000" pitchFamily="2" charset="2"/>
              <a:buChar char="v"/>
            </a:pPr>
            <a:r>
              <a:rPr lang="el-GR" sz="1600" dirty="0">
                <a:latin typeface="Times New Roman" panose="02020603050405020304" pitchFamily="18" charset="0"/>
                <a:cs typeface="Times New Roman" panose="02020603050405020304" pitchFamily="18" charset="0"/>
              </a:rPr>
              <a:t>Τα ON-OFF μοτίβα εμφανίζονται ανεξάρτητα από την κλίμακα παρατήρησης, είτε σε χιλιοστά του δευτερολέπτου (</a:t>
            </a:r>
            <a:r>
              <a:rPr lang="el-GR" sz="1600" dirty="0" err="1">
                <a:latin typeface="Times New Roman" panose="02020603050405020304" pitchFamily="18" charset="0"/>
                <a:cs typeface="Times New Roman" panose="02020603050405020304" pitchFamily="18" charset="0"/>
              </a:rPr>
              <a:t>ms</a:t>
            </a:r>
            <a:r>
              <a:rPr lang="el-GR" sz="1600" dirty="0">
                <a:latin typeface="Times New Roman" panose="02020603050405020304" pitchFamily="18" charset="0"/>
                <a:cs typeface="Times New Roman" panose="02020603050405020304" pitchFamily="18" charset="0"/>
              </a:rPr>
              <a:t>) είτε σε μεγαλύτερες χρονικές κλίμακες.</a:t>
            </a:r>
          </a:p>
          <a:p>
            <a:pPr marL="0" indent="0">
              <a:lnSpc>
                <a:spcPct val="120000"/>
              </a:lnSpc>
              <a:buNone/>
            </a:pPr>
            <a:endParaRPr lang="el-GR" sz="1600" dirty="0"/>
          </a:p>
        </p:txBody>
      </p:sp>
      <p:sp>
        <p:nvSpPr>
          <p:cNvPr id="32" name="Rectangle 31">
            <a:extLst>
              <a:ext uri="{FF2B5EF4-FFF2-40B4-BE49-F238E27FC236}">
                <a16:creationId xmlns:a16="http://schemas.microsoft.com/office/drawing/2014/main" id="{CBD70695-D4EF-489F-B2D8-F61EA5CD5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653787" y="1915886"/>
            <a:ext cx="3538211" cy="495105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9A271658-CA48-4EC3-B484-C7DC7360F8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8370349" y="1499446"/>
            <a:ext cx="4811359" cy="2792182"/>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descr="A bar code with numbers&#10;&#10;AI-generated content may be incorrect.">
            <a:extLst>
              <a:ext uri="{FF2B5EF4-FFF2-40B4-BE49-F238E27FC236}">
                <a16:creationId xmlns:a16="http://schemas.microsoft.com/office/drawing/2014/main" id="{1DBFD2E9-AB46-A61E-3F7F-FE63D06C81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02557" y="658893"/>
            <a:ext cx="4112322" cy="5540213"/>
          </a:xfrm>
          <a:prstGeom prst="rect">
            <a:avLst/>
          </a:prstGeom>
        </p:spPr>
      </p:pic>
    </p:spTree>
    <p:extLst>
      <p:ext uri="{BB962C8B-B14F-4D97-AF65-F5344CB8AC3E}">
        <p14:creationId xmlns:p14="http://schemas.microsoft.com/office/powerpoint/2010/main" val="2923417221"/>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9148959-F229-4F0F-B4C1-E747A04DD6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32" y="0"/>
            <a:ext cx="1219853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CF40CBC9-D320-4EFB-ECAE-7D24FA08BF6F}"/>
              </a:ext>
            </a:extLst>
          </p:cNvPr>
          <p:cNvSpPr>
            <a:spLocks noGrp="1"/>
          </p:cNvSpPr>
          <p:nvPr>
            <p:ph type="title"/>
          </p:nvPr>
        </p:nvSpPr>
        <p:spPr>
          <a:xfrm>
            <a:off x="5750418" y="283262"/>
            <a:ext cx="5376440" cy="1454780"/>
          </a:xfrm>
        </p:spPr>
        <p:txBody>
          <a:bodyPr>
            <a:normAutofit/>
          </a:bodyPr>
          <a:lstStyle/>
          <a:p>
            <a:pPr>
              <a:lnSpc>
                <a:spcPct val="110000"/>
              </a:lnSpc>
            </a:pPr>
            <a:r>
              <a:rPr kumimoji="0" lang="el-GR" sz="2000" b="0" i="0" u="none" strike="noStrike" kern="1200" cap="all" spc="700" normalizeH="0" baseline="0" noProof="0" dirty="0" err="1">
                <a:ln>
                  <a:noFill/>
                </a:ln>
                <a:effectLst/>
                <a:uLnTx/>
                <a:uFillTx/>
                <a:latin typeface="Times New Roman" panose="02020603050405020304" pitchFamily="18" charset="0"/>
                <a:ea typeface="+mj-ea"/>
                <a:cs typeface="Times New Roman" panose="02020603050405020304" pitchFamily="18" charset="0"/>
              </a:rPr>
              <a:t>Μικροσκοπικη</a:t>
            </a:r>
            <a:r>
              <a:rPr kumimoji="0" lang="el-GR" sz="2000" b="0" i="0" u="none" strike="noStrike" kern="1200" cap="all" spc="700" normalizeH="0" baseline="0" noProof="0" dirty="0">
                <a:ln>
                  <a:noFill/>
                </a:ln>
                <a:effectLst/>
                <a:uLnTx/>
                <a:uFillTx/>
                <a:latin typeface="Times New Roman" panose="02020603050405020304" pitchFamily="18" charset="0"/>
                <a:ea typeface="+mj-ea"/>
                <a:cs typeface="Times New Roman" panose="02020603050405020304" pitchFamily="18" charset="0"/>
              </a:rPr>
              <a:t> </a:t>
            </a:r>
            <a:r>
              <a:rPr kumimoji="0" lang="el-GR" sz="2000" b="0" i="0" u="none" strike="noStrike" kern="1200" cap="all" spc="700" normalizeH="0" baseline="0" noProof="0" dirty="0" err="1">
                <a:ln>
                  <a:noFill/>
                </a:ln>
                <a:effectLst/>
                <a:uLnTx/>
                <a:uFillTx/>
                <a:latin typeface="Times New Roman" panose="02020603050405020304" pitchFamily="18" charset="0"/>
                <a:ea typeface="+mj-ea"/>
                <a:cs typeface="Times New Roman" panose="02020603050405020304" pitchFamily="18" charset="0"/>
              </a:rPr>
              <a:t>Αναλυση</a:t>
            </a:r>
            <a:r>
              <a:rPr kumimoji="0" lang="el-GR" sz="2000" b="0" i="0" u="none" strike="noStrike" kern="1200" cap="all" spc="700" normalizeH="0" baseline="0" noProof="0" dirty="0">
                <a:ln>
                  <a:noFill/>
                </a:ln>
                <a:effectLst/>
                <a:uLnTx/>
                <a:uFillTx/>
                <a:latin typeface="Times New Roman" panose="02020603050405020304" pitchFamily="18" charset="0"/>
                <a:ea typeface="+mj-ea"/>
                <a:cs typeface="Times New Roman" panose="02020603050405020304" pitchFamily="18" charset="0"/>
              </a:rPr>
              <a:t> της </a:t>
            </a:r>
            <a:r>
              <a:rPr kumimoji="0" lang="el-GR" sz="2000" b="0" i="0" u="none" strike="noStrike" kern="1200" cap="all" spc="700" normalizeH="0" baseline="0" noProof="0" dirty="0" err="1">
                <a:ln>
                  <a:noFill/>
                </a:ln>
                <a:effectLst/>
                <a:uLnTx/>
                <a:uFillTx/>
                <a:latin typeface="Times New Roman" panose="02020603050405020304" pitchFamily="18" charset="0"/>
                <a:ea typeface="+mj-ea"/>
                <a:cs typeface="Times New Roman" panose="02020603050405020304" pitchFamily="18" charset="0"/>
              </a:rPr>
              <a:t>Κυκλοφοριας</a:t>
            </a:r>
            <a:r>
              <a:rPr kumimoji="0" lang="el-GR" sz="2000" b="0" i="0" u="none" strike="noStrike" kern="1200" cap="all" spc="700" normalizeH="0" baseline="0" noProof="0" dirty="0">
                <a:ln>
                  <a:noFill/>
                </a:ln>
                <a:effectLst/>
                <a:uLnTx/>
                <a:uFillTx/>
                <a:latin typeface="Times New Roman" panose="02020603050405020304" pitchFamily="18" charset="0"/>
                <a:ea typeface="+mj-ea"/>
                <a:cs typeface="Times New Roman" panose="02020603050405020304" pitchFamily="18" charset="0"/>
              </a:rPr>
              <a:t> στα </a:t>
            </a:r>
            <a:r>
              <a:rPr kumimoji="0" lang="el-GR" sz="2000" b="0" i="0" u="none" strike="noStrike" kern="1200" cap="all" spc="700" normalizeH="0" baseline="0" noProof="0" dirty="0" err="1">
                <a:ln>
                  <a:noFill/>
                </a:ln>
                <a:effectLst/>
                <a:uLnTx/>
                <a:uFillTx/>
                <a:latin typeface="Times New Roman" panose="02020603050405020304" pitchFamily="18" charset="0"/>
                <a:ea typeface="+mj-ea"/>
                <a:cs typeface="Times New Roman" panose="02020603050405020304" pitchFamily="18" charset="0"/>
              </a:rPr>
              <a:t>Data</a:t>
            </a:r>
            <a:r>
              <a:rPr kumimoji="0" lang="el-GR" sz="2000" b="0" i="0" u="none" strike="noStrike" kern="1200" cap="all" spc="700" normalizeH="0" baseline="0" noProof="0" dirty="0">
                <a:ln>
                  <a:noFill/>
                </a:ln>
                <a:effectLst/>
                <a:uLnTx/>
                <a:uFillTx/>
                <a:latin typeface="Times New Roman" panose="02020603050405020304" pitchFamily="18" charset="0"/>
                <a:ea typeface="+mj-ea"/>
                <a:cs typeface="Times New Roman" panose="02020603050405020304" pitchFamily="18" charset="0"/>
              </a:rPr>
              <a:t> </a:t>
            </a:r>
            <a:r>
              <a:rPr kumimoji="0" lang="el-GR" sz="2000" b="0" i="0" u="none" strike="noStrike" kern="1200" cap="all" spc="700" normalizeH="0" baseline="0" noProof="0" dirty="0" err="1">
                <a:ln>
                  <a:noFill/>
                </a:ln>
                <a:effectLst/>
                <a:uLnTx/>
                <a:uFillTx/>
                <a:latin typeface="Times New Roman" panose="02020603050405020304" pitchFamily="18" charset="0"/>
                <a:ea typeface="+mj-ea"/>
                <a:cs typeface="Times New Roman" panose="02020603050405020304" pitchFamily="18" charset="0"/>
              </a:rPr>
              <a:t>Centers</a:t>
            </a:r>
            <a:endParaRPr lang="el-GR" sz="2000" dirty="0"/>
          </a:p>
        </p:txBody>
      </p:sp>
      <p:sp>
        <p:nvSpPr>
          <p:cNvPr id="21" name="Rectangle 20">
            <a:extLst>
              <a:ext uri="{FF2B5EF4-FFF2-40B4-BE49-F238E27FC236}">
                <a16:creationId xmlns:a16="http://schemas.microsoft.com/office/drawing/2014/main" id="{257D0D69-9DEF-4B79-9383-8B93AB356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1985391"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6">
            <a:extLst>
              <a:ext uri="{FF2B5EF4-FFF2-40B4-BE49-F238E27FC236}">
                <a16:creationId xmlns:a16="http://schemas.microsoft.com/office/drawing/2014/main" id="{38278EEC-7F87-4B09-9691-C2F29A278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9529" y="3026358"/>
            <a:ext cx="3745582" cy="3917703"/>
          </a:xfrm>
          <a:custGeom>
            <a:avLst/>
            <a:gdLst>
              <a:gd name="connsiteX0" fmla="*/ 0 w 1369143"/>
              <a:gd name="connsiteY0" fmla="*/ 0 h 1229160"/>
              <a:gd name="connsiteX1" fmla="*/ 1369143 w 1369143"/>
              <a:gd name="connsiteY1" fmla="*/ 0 h 1229160"/>
              <a:gd name="connsiteX2" fmla="*/ 1369143 w 1369143"/>
              <a:gd name="connsiteY2" fmla="*/ 1229160 h 1229160"/>
              <a:gd name="connsiteX3" fmla="*/ 0 w 1369143"/>
              <a:gd name="connsiteY3" fmla="*/ 1229160 h 1229160"/>
              <a:gd name="connsiteX4" fmla="*/ 0 w 1369143"/>
              <a:gd name="connsiteY4" fmla="*/ 0 h 1229160"/>
              <a:gd name="connsiteX0" fmla="*/ 0 w 1369143"/>
              <a:gd name="connsiteY0" fmla="*/ 0 h 1229160"/>
              <a:gd name="connsiteX1" fmla="*/ 1369143 w 1369143"/>
              <a:gd name="connsiteY1" fmla="*/ 0 h 1229160"/>
              <a:gd name="connsiteX2" fmla="*/ 0 w 1369143"/>
              <a:gd name="connsiteY2" fmla="*/ 1229160 h 1229160"/>
              <a:gd name="connsiteX3" fmla="*/ 0 w 1369143"/>
              <a:gd name="connsiteY3" fmla="*/ 0 h 1229160"/>
            </a:gdLst>
            <a:ahLst/>
            <a:cxnLst>
              <a:cxn ang="0">
                <a:pos x="connsiteX0" y="connsiteY0"/>
              </a:cxn>
              <a:cxn ang="0">
                <a:pos x="connsiteX1" y="connsiteY1"/>
              </a:cxn>
              <a:cxn ang="0">
                <a:pos x="connsiteX2" y="connsiteY2"/>
              </a:cxn>
              <a:cxn ang="0">
                <a:pos x="connsiteX3" y="connsiteY3"/>
              </a:cxn>
            </a:cxnLst>
            <a:rect l="l" t="t" r="r" b="b"/>
            <a:pathLst>
              <a:path w="1369143" h="1229160">
                <a:moveTo>
                  <a:pt x="0" y="0"/>
                </a:moveTo>
                <a:lnTo>
                  <a:pt x="1369143" y="0"/>
                </a:lnTo>
                <a:lnTo>
                  <a:pt x="0" y="1229160"/>
                </a:lnTo>
                <a:lnTo>
                  <a:pt x="0" y="0"/>
                </a:lnTo>
                <a:close/>
              </a:path>
            </a:pathLst>
          </a:custGeom>
          <a:solidFill>
            <a:schemeClr val="accent1">
              <a:lumMod val="20000"/>
              <a:lumOff val="8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9667544E-95B7-4AB2-ACE8-34C58B80E4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29" y="3026358"/>
            <a:ext cx="3745582" cy="3917703"/>
          </a:xfrm>
          <a:custGeom>
            <a:avLst/>
            <a:gdLst>
              <a:gd name="connsiteX0" fmla="*/ 3745582 w 3745582"/>
              <a:gd name="connsiteY0" fmla="*/ 0 h 3917703"/>
              <a:gd name="connsiteX1" fmla="*/ 3745582 w 3745582"/>
              <a:gd name="connsiteY1" fmla="*/ 3917703 h 3917703"/>
              <a:gd name="connsiteX2" fmla="*/ 0 w 3745582"/>
              <a:gd name="connsiteY2" fmla="*/ 3917703 h 3917703"/>
            </a:gdLst>
            <a:ahLst/>
            <a:cxnLst>
              <a:cxn ang="0">
                <a:pos x="connsiteX0" y="connsiteY0"/>
              </a:cxn>
              <a:cxn ang="0">
                <a:pos x="connsiteX1" y="connsiteY1"/>
              </a:cxn>
              <a:cxn ang="0">
                <a:pos x="connsiteX2" y="connsiteY2"/>
              </a:cxn>
            </a:cxnLst>
            <a:rect l="l" t="t" r="r" b="b"/>
            <a:pathLst>
              <a:path w="3745582" h="3917703">
                <a:moveTo>
                  <a:pt x="3745582" y="0"/>
                </a:moveTo>
                <a:lnTo>
                  <a:pt x="3745582" y="3917703"/>
                </a:lnTo>
                <a:lnTo>
                  <a:pt x="0" y="391770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Θέση περιεχομένου 2">
            <a:extLst>
              <a:ext uri="{FF2B5EF4-FFF2-40B4-BE49-F238E27FC236}">
                <a16:creationId xmlns:a16="http://schemas.microsoft.com/office/drawing/2014/main" id="{BD371285-D2D3-69F3-11E0-9276A6C7ECE9}"/>
              </a:ext>
            </a:extLst>
          </p:cNvPr>
          <p:cNvSpPr>
            <a:spLocks noGrp="1"/>
          </p:cNvSpPr>
          <p:nvPr>
            <p:ph idx="1"/>
          </p:nvPr>
        </p:nvSpPr>
        <p:spPr>
          <a:xfrm>
            <a:off x="5750418" y="1909224"/>
            <a:ext cx="5297144" cy="4899079"/>
          </a:xfrm>
        </p:spPr>
        <p:txBody>
          <a:bodyPr>
            <a:normAutofit fontScale="92500" lnSpcReduction="20000"/>
          </a:bodyPr>
          <a:lstStyle/>
          <a:p>
            <a:pPr>
              <a:lnSpc>
                <a:spcPct val="120000"/>
              </a:lnSpc>
              <a:buNone/>
            </a:pPr>
            <a:r>
              <a:rPr lang="el-GR" sz="1400" b="1" dirty="0">
                <a:latin typeface="Times New Roman" panose="02020603050405020304" pitchFamily="18" charset="0"/>
                <a:cs typeface="Times New Roman" panose="02020603050405020304" pitchFamily="18" charset="0"/>
              </a:rPr>
              <a:t>2. Χαρακτηριστικά των ON και OFF περιόδων</a:t>
            </a:r>
          </a:p>
          <a:p>
            <a:pPr>
              <a:lnSpc>
                <a:spcPct val="120000"/>
              </a:lnSpc>
              <a:buFont typeface="Wingdings" panose="05000000000000000000" pitchFamily="2" charset="2"/>
              <a:buChar char="v"/>
            </a:pPr>
            <a:r>
              <a:rPr lang="el-GR" sz="1400" dirty="0">
                <a:latin typeface="Times New Roman" panose="02020603050405020304" pitchFamily="18" charset="0"/>
                <a:cs typeface="Times New Roman" panose="02020603050405020304" pitchFamily="18" charset="0"/>
              </a:rPr>
              <a:t>Οι ON και OFF περίοδοι παρουσιάζουν σημαντικές διακυμάνσεις στη διάρκεια τους.</a:t>
            </a:r>
          </a:p>
          <a:p>
            <a:pPr>
              <a:lnSpc>
                <a:spcPct val="120000"/>
              </a:lnSpc>
              <a:buFont typeface="Wingdings" panose="05000000000000000000" pitchFamily="2" charset="2"/>
              <a:buChar char="v"/>
            </a:pPr>
            <a:r>
              <a:rPr lang="el-GR" sz="1400" dirty="0">
                <a:latin typeface="Times New Roman" panose="02020603050405020304" pitchFamily="18" charset="0"/>
                <a:cs typeface="Times New Roman" panose="02020603050405020304" pitchFamily="18" charset="0"/>
              </a:rPr>
              <a:t>Η στατιστική ανάλυση έδειξε ότι τόσο οι διάρκειες των ON περιόδων, όσο και οι διάρκειες των OFF περιόδων ακολουθούν κατανομές λογάριθμο-κανονικές (</a:t>
            </a:r>
            <a:r>
              <a:rPr lang="el-GR" sz="1400" dirty="0" err="1">
                <a:latin typeface="Times New Roman" panose="02020603050405020304" pitchFamily="18" charset="0"/>
                <a:cs typeface="Times New Roman" panose="02020603050405020304" pitchFamily="18" charset="0"/>
              </a:rPr>
              <a:t>lognormal</a:t>
            </a:r>
            <a:r>
              <a:rPr lang="el-GR" sz="1400" dirty="0">
                <a:latin typeface="Times New Roman" panose="02020603050405020304" pitchFamily="18" charset="0"/>
                <a:cs typeface="Times New Roman" panose="02020603050405020304" pitchFamily="18" charset="0"/>
              </a:rPr>
              <a:t> </a:t>
            </a:r>
            <a:r>
              <a:rPr lang="el-GR" sz="1400" dirty="0" err="1">
                <a:latin typeface="Times New Roman" panose="02020603050405020304" pitchFamily="18" charset="0"/>
                <a:cs typeface="Times New Roman" panose="02020603050405020304" pitchFamily="18" charset="0"/>
              </a:rPr>
              <a:t>distributions</a:t>
            </a:r>
            <a:r>
              <a:rPr lang="el-GR" sz="1400" dirty="0">
                <a:latin typeface="Times New Roman" panose="02020603050405020304" pitchFamily="18" charset="0"/>
                <a:cs typeface="Times New Roman" panose="02020603050405020304" pitchFamily="18" charset="0"/>
              </a:rPr>
              <a:t>).</a:t>
            </a:r>
          </a:p>
          <a:p>
            <a:pPr>
              <a:lnSpc>
                <a:spcPct val="120000"/>
              </a:lnSpc>
              <a:buFont typeface="Wingdings" panose="05000000000000000000" pitchFamily="2" charset="2"/>
              <a:buChar char="v"/>
            </a:pPr>
            <a:r>
              <a:rPr lang="el-GR" sz="1400" dirty="0">
                <a:latin typeface="Times New Roman" panose="02020603050405020304" pitchFamily="18" charset="0"/>
                <a:cs typeface="Times New Roman" panose="02020603050405020304" pitchFamily="18" charset="0"/>
              </a:rPr>
              <a:t>Τα διαστήματα μεταξύ των πακέτων (</a:t>
            </a:r>
            <a:r>
              <a:rPr lang="el-GR" sz="1400" dirty="0" err="1">
                <a:latin typeface="Times New Roman" panose="02020603050405020304" pitchFamily="18" charset="0"/>
                <a:cs typeface="Times New Roman" panose="02020603050405020304" pitchFamily="18" charset="0"/>
              </a:rPr>
              <a:t>packet</a:t>
            </a:r>
            <a:r>
              <a:rPr lang="el-GR" sz="1400" dirty="0">
                <a:latin typeface="Times New Roman" panose="02020603050405020304" pitchFamily="18" charset="0"/>
                <a:cs typeface="Times New Roman" panose="02020603050405020304" pitchFamily="18" charset="0"/>
              </a:rPr>
              <a:t> </a:t>
            </a:r>
            <a:r>
              <a:rPr lang="el-GR" sz="1400" dirty="0" err="1">
                <a:latin typeface="Times New Roman" panose="02020603050405020304" pitchFamily="18" charset="0"/>
                <a:cs typeface="Times New Roman" panose="02020603050405020304" pitchFamily="18" charset="0"/>
              </a:rPr>
              <a:t>interarrival</a:t>
            </a:r>
            <a:r>
              <a:rPr lang="el-GR" sz="1400" dirty="0">
                <a:latin typeface="Times New Roman" panose="02020603050405020304" pitchFamily="18" charset="0"/>
                <a:cs typeface="Times New Roman" panose="02020603050405020304" pitchFamily="18" charset="0"/>
              </a:rPr>
              <a:t> </a:t>
            </a:r>
            <a:r>
              <a:rPr lang="el-GR" sz="1400" dirty="0" err="1">
                <a:latin typeface="Times New Roman" panose="02020603050405020304" pitchFamily="18" charset="0"/>
                <a:cs typeface="Times New Roman" panose="02020603050405020304" pitchFamily="18" charset="0"/>
              </a:rPr>
              <a:t>times</a:t>
            </a:r>
            <a:r>
              <a:rPr lang="el-GR" sz="1400" dirty="0">
                <a:latin typeface="Times New Roman" panose="02020603050405020304" pitchFamily="18" charset="0"/>
                <a:cs typeface="Times New Roman" panose="02020603050405020304" pitchFamily="18" charset="0"/>
              </a:rPr>
              <a:t>) εντός των ON περιόδων επίσης ακολουθούν λογάριθμο-κανονική κατανομή.</a:t>
            </a:r>
          </a:p>
          <a:p>
            <a:pPr>
              <a:lnSpc>
                <a:spcPct val="120000"/>
              </a:lnSpc>
              <a:buNone/>
            </a:pPr>
            <a:r>
              <a:rPr lang="el-GR" sz="1400" b="1" dirty="0">
                <a:latin typeface="Times New Roman" panose="02020603050405020304" pitchFamily="18" charset="0"/>
                <a:cs typeface="Times New Roman" panose="02020603050405020304" pitchFamily="18" charset="0"/>
              </a:rPr>
              <a:t>3. Επιπτώσεις των ON-OFF μοτίβων στη διαχείριση του δικτύου</a:t>
            </a:r>
          </a:p>
          <a:p>
            <a:pPr>
              <a:lnSpc>
                <a:spcPct val="120000"/>
              </a:lnSpc>
              <a:buFont typeface="Wingdings" panose="05000000000000000000" pitchFamily="2" charset="2"/>
              <a:buChar char="v"/>
            </a:pPr>
            <a:r>
              <a:rPr lang="el-GR" sz="1400" dirty="0">
                <a:latin typeface="Times New Roman" panose="02020603050405020304" pitchFamily="18" charset="0"/>
                <a:cs typeface="Times New Roman" panose="02020603050405020304" pitchFamily="18" charset="0"/>
              </a:rPr>
              <a:t>Οι διαχειριστές συνήθως προσαρμόζουν τις πολιτικές εξισορρόπησης φορτίου (</a:t>
            </a:r>
            <a:r>
              <a:rPr lang="el-GR" sz="1400" dirty="0" err="1">
                <a:latin typeface="Times New Roman" panose="02020603050405020304" pitchFamily="18" charset="0"/>
                <a:cs typeface="Times New Roman" panose="02020603050405020304" pitchFamily="18" charset="0"/>
              </a:rPr>
              <a:t>load</a:t>
            </a:r>
            <a:r>
              <a:rPr lang="el-GR" sz="1400" dirty="0">
                <a:latin typeface="Times New Roman" panose="02020603050405020304" pitchFamily="18" charset="0"/>
                <a:cs typeface="Times New Roman" panose="02020603050405020304" pitchFamily="18" charset="0"/>
              </a:rPr>
              <a:t> </a:t>
            </a:r>
            <a:r>
              <a:rPr lang="el-GR" sz="1400" dirty="0" err="1">
                <a:latin typeface="Times New Roman" panose="02020603050405020304" pitchFamily="18" charset="0"/>
                <a:cs typeface="Times New Roman" panose="02020603050405020304" pitchFamily="18" charset="0"/>
              </a:rPr>
              <a:t>balancing</a:t>
            </a:r>
            <a:r>
              <a:rPr lang="el-GR" sz="1400" dirty="0">
                <a:latin typeface="Times New Roman" panose="02020603050405020304" pitchFamily="18" charset="0"/>
                <a:cs typeface="Times New Roman" panose="02020603050405020304" pitchFamily="18" charset="0"/>
              </a:rPr>
              <a:t>) βάσει μέσων τιμών κυκλοφορίας.</a:t>
            </a:r>
          </a:p>
          <a:p>
            <a:pPr>
              <a:lnSpc>
                <a:spcPct val="120000"/>
              </a:lnSpc>
              <a:buFont typeface="Wingdings" panose="05000000000000000000" pitchFamily="2" charset="2"/>
              <a:buChar char="v"/>
            </a:pPr>
            <a:r>
              <a:rPr lang="el-GR" sz="1400" dirty="0">
                <a:latin typeface="Times New Roman" panose="02020603050405020304" pitchFamily="18" charset="0"/>
                <a:cs typeface="Times New Roman" panose="02020603050405020304" pitchFamily="18" charset="0"/>
              </a:rPr>
              <a:t>Ωστόσο, τα ON-OFF μοτίβα δημιουργούν έντονες και ξαφνικές αυξήσεις στην κυκλοφορία (</a:t>
            </a:r>
            <a:r>
              <a:rPr lang="el-GR" sz="1400" dirty="0" err="1">
                <a:latin typeface="Times New Roman" panose="02020603050405020304" pitchFamily="18" charset="0"/>
                <a:cs typeface="Times New Roman" panose="02020603050405020304" pitchFamily="18" charset="0"/>
              </a:rPr>
              <a:t>traffic</a:t>
            </a:r>
            <a:r>
              <a:rPr lang="el-GR" sz="1400" dirty="0">
                <a:latin typeface="Times New Roman" panose="02020603050405020304" pitchFamily="18" charset="0"/>
                <a:cs typeface="Times New Roman" panose="02020603050405020304" pitchFamily="18" charset="0"/>
              </a:rPr>
              <a:t> </a:t>
            </a:r>
            <a:r>
              <a:rPr lang="el-GR" sz="1400" dirty="0" err="1">
                <a:latin typeface="Times New Roman" panose="02020603050405020304" pitchFamily="18" charset="0"/>
                <a:cs typeface="Times New Roman" panose="02020603050405020304" pitchFamily="18" charset="0"/>
              </a:rPr>
              <a:t>bursts</a:t>
            </a:r>
            <a:r>
              <a:rPr lang="el-GR" sz="1400" dirty="0">
                <a:latin typeface="Times New Roman" panose="02020603050405020304" pitchFamily="18" charset="0"/>
                <a:cs typeface="Times New Roman" panose="02020603050405020304" pitchFamily="18" charset="0"/>
              </a:rPr>
              <a:t>), γεγονός που οδηγεί σε προσωρινή συμφόρηση (</a:t>
            </a:r>
            <a:r>
              <a:rPr lang="el-GR" sz="1400" dirty="0" err="1">
                <a:latin typeface="Times New Roman" panose="02020603050405020304" pitchFamily="18" charset="0"/>
                <a:cs typeface="Times New Roman" panose="02020603050405020304" pitchFamily="18" charset="0"/>
              </a:rPr>
              <a:t>congestion</a:t>
            </a:r>
            <a:r>
              <a:rPr lang="el-GR" sz="1400" dirty="0">
                <a:latin typeface="Times New Roman" panose="02020603050405020304" pitchFamily="18" charset="0"/>
                <a:cs typeface="Times New Roman" panose="02020603050405020304" pitchFamily="18" charset="0"/>
              </a:rPr>
              <a:t>) και απώλειες πακέτων (</a:t>
            </a:r>
            <a:r>
              <a:rPr lang="el-GR" sz="1400" dirty="0" err="1">
                <a:latin typeface="Times New Roman" panose="02020603050405020304" pitchFamily="18" charset="0"/>
                <a:cs typeface="Times New Roman" panose="02020603050405020304" pitchFamily="18" charset="0"/>
              </a:rPr>
              <a:t>packet</a:t>
            </a:r>
            <a:r>
              <a:rPr lang="el-GR" sz="1400" dirty="0">
                <a:latin typeface="Times New Roman" panose="02020603050405020304" pitchFamily="18" charset="0"/>
                <a:cs typeface="Times New Roman" panose="02020603050405020304" pitchFamily="18" charset="0"/>
              </a:rPr>
              <a:t> </a:t>
            </a:r>
            <a:r>
              <a:rPr lang="el-GR" sz="1400" dirty="0" err="1">
                <a:latin typeface="Times New Roman" panose="02020603050405020304" pitchFamily="18" charset="0"/>
                <a:cs typeface="Times New Roman" panose="02020603050405020304" pitchFamily="18" charset="0"/>
              </a:rPr>
              <a:t>losses</a:t>
            </a:r>
            <a:r>
              <a:rPr lang="el-GR" sz="1400" dirty="0">
                <a:latin typeface="Times New Roman" panose="02020603050405020304" pitchFamily="18" charset="0"/>
                <a:cs typeface="Times New Roman" panose="02020603050405020304" pitchFamily="18" charset="0"/>
              </a:rPr>
              <a:t>).</a:t>
            </a:r>
          </a:p>
          <a:p>
            <a:pPr>
              <a:lnSpc>
                <a:spcPct val="120000"/>
              </a:lnSpc>
              <a:buFont typeface="Wingdings" panose="05000000000000000000" pitchFamily="2" charset="2"/>
              <a:buChar char="v"/>
            </a:pPr>
            <a:r>
              <a:rPr lang="el-GR" sz="1400" dirty="0">
                <a:latin typeface="Times New Roman" panose="02020603050405020304" pitchFamily="18" charset="0"/>
                <a:cs typeface="Times New Roman" panose="02020603050405020304" pitchFamily="18" charset="0"/>
              </a:rPr>
              <a:t>Οι παραδοσιακές τεχνικές διαχείρισης (όπως ECMP και MPLS) δεν είναι αποτελεσματικές, καθώς τα </a:t>
            </a:r>
            <a:r>
              <a:rPr lang="el-GR" sz="1400" dirty="0" err="1">
                <a:latin typeface="Times New Roman" panose="02020603050405020304" pitchFamily="18" charset="0"/>
                <a:cs typeface="Times New Roman" panose="02020603050405020304" pitchFamily="18" charset="0"/>
              </a:rPr>
              <a:t>traffic</a:t>
            </a:r>
            <a:r>
              <a:rPr lang="el-GR" sz="1400" dirty="0">
                <a:latin typeface="Times New Roman" panose="02020603050405020304" pitchFamily="18" charset="0"/>
                <a:cs typeface="Times New Roman" panose="02020603050405020304" pitchFamily="18" charset="0"/>
              </a:rPr>
              <a:t> </a:t>
            </a:r>
            <a:r>
              <a:rPr lang="el-GR" sz="1400" dirty="0" err="1">
                <a:latin typeface="Times New Roman" panose="02020603050405020304" pitchFamily="18" charset="0"/>
                <a:cs typeface="Times New Roman" panose="02020603050405020304" pitchFamily="18" charset="0"/>
              </a:rPr>
              <a:t>bursts</a:t>
            </a:r>
            <a:r>
              <a:rPr lang="el-GR" sz="1400" dirty="0">
                <a:latin typeface="Times New Roman" panose="02020603050405020304" pitchFamily="18" charset="0"/>
                <a:cs typeface="Times New Roman" panose="02020603050405020304" pitchFamily="18" charset="0"/>
              </a:rPr>
              <a:t> διαρκούν λίγα δευτερόλεπτα – χρόνος πολύ μικρός για τις συμβατικές μεθόδους δρομολόγησης να προσαρμοστούν</a:t>
            </a:r>
            <a:r>
              <a:rPr lang="el-GR" sz="800" dirty="0">
                <a:latin typeface="Times New Roman" panose="02020603050405020304" pitchFamily="18" charset="0"/>
                <a:cs typeface="Times New Roman" panose="02020603050405020304" pitchFamily="18" charset="0"/>
              </a:rPr>
              <a:t>.</a:t>
            </a:r>
          </a:p>
          <a:p>
            <a:pPr>
              <a:lnSpc>
                <a:spcPct val="120000"/>
              </a:lnSpc>
            </a:pPr>
            <a:endParaRPr lang="el-GR" sz="800" dirty="0"/>
          </a:p>
        </p:txBody>
      </p:sp>
      <p:pic>
        <p:nvPicPr>
          <p:cNvPr id="5" name="Picture 4" descr="A graph of a number of data&#10;&#10;AI-generated content may be incorrect.">
            <a:extLst>
              <a:ext uri="{FF2B5EF4-FFF2-40B4-BE49-F238E27FC236}">
                <a16:creationId xmlns:a16="http://schemas.microsoft.com/office/drawing/2014/main" id="{F56AED4E-594F-E93A-35BC-80B65629CE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3688" y="3497353"/>
            <a:ext cx="4472304" cy="3141573"/>
          </a:xfrm>
          <a:prstGeom prst="rect">
            <a:avLst/>
          </a:prstGeom>
        </p:spPr>
      </p:pic>
      <p:pic>
        <p:nvPicPr>
          <p:cNvPr id="8" name="Picture 7" descr="A graph of a logistic curve&#10;&#10;AI-generated content may be incorrect.">
            <a:extLst>
              <a:ext uri="{FF2B5EF4-FFF2-40B4-BE49-F238E27FC236}">
                <a16:creationId xmlns:a16="http://schemas.microsoft.com/office/drawing/2014/main" id="{2CCC366C-ABE2-FEF2-CA8B-E528ACA8DE6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3766" y="219074"/>
            <a:ext cx="4472304" cy="3209925"/>
          </a:xfrm>
          <a:prstGeom prst="rect">
            <a:avLst/>
          </a:prstGeom>
        </p:spPr>
      </p:pic>
      <p:pic>
        <p:nvPicPr>
          <p:cNvPr id="6" name="Picture 5" descr="A graph of a function&#10;&#10;AI-generated content may be incorrect.">
            <a:extLst>
              <a:ext uri="{FF2B5EF4-FFF2-40B4-BE49-F238E27FC236}">
                <a16:creationId xmlns:a16="http://schemas.microsoft.com/office/drawing/2014/main" id="{6366572F-7063-2D0C-3402-9441CA195A5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23766" y="1258957"/>
            <a:ext cx="4956730" cy="4108173"/>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67404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C2AFA5F-EB7F-4280-BAAD-A7641CA3FF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8A9E131B-D155-86DB-FCA2-A3D501BA5292}"/>
              </a:ext>
            </a:extLst>
          </p:cNvPr>
          <p:cNvSpPr>
            <a:spLocks noGrp="1"/>
          </p:cNvSpPr>
          <p:nvPr>
            <p:ph type="title"/>
          </p:nvPr>
        </p:nvSpPr>
        <p:spPr>
          <a:xfrm>
            <a:off x="1600200" y="699591"/>
            <a:ext cx="7638168" cy="1470404"/>
          </a:xfrm>
        </p:spPr>
        <p:txBody>
          <a:bodyPr anchor="b">
            <a:normAutofit/>
          </a:bodyPr>
          <a:lstStyle/>
          <a:p>
            <a:r>
              <a:rPr lang="el-GR" sz="3000" dirty="0" err="1"/>
              <a:t>Αναπτυξη</a:t>
            </a:r>
            <a:r>
              <a:rPr lang="el-GR" sz="3000" dirty="0"/>
              <a:t> </a:t>
            </a:r>
            <a:r>
              <a:rPr lang="el-GR" sz="3000" dirty="0" err="1"/>
              <a:t>ενος</a:t>
            </a:r>
            <a:r>
              <a:rPr lang="el-GR" sz="3000" dirty="0"/>
              <a:t> </a:t>
            </a:r>
            <a:r>
              <a:rPr lang="el-GR" sz="3000" dirty="0" err="1"/>
              <a:t>Μοντελου</a:t>
            </a:r>
            <a:r>
              <a:rPr lang="el-GR" sz="3000" dirty="0"/>
              <a:t> </a:t>
            </a:r>
            <a:r>
              <a:rPr lang="el-GR" sz="3000" dirty="0" err="1"/>
              <a:t>Προβλεψης</a:t>
            </a:r>
            <a:r>
              <a:rPr lang="el-GR" sz="3000" dirty="0"/>
              <a:t> της </a:t>
            </a:r>
            <a:r>
              <a:rPr lang="el-GR" sz="3000" dirty="0" err="1"/>
              <a:t>Κυκλοφοριας</a:t>
            </a:r>
            <a:endParaRPr lang="el-GR" sz="3000" dirty="0"/>
          </a:p>
        </p:txBody>
      </p:sp>
      <p:sp>
        <p:nvSpPr>
          <p:cNvPr id="10" name="Rectangle 9">
            <a:extLst>
              <a:ext uri="{FF2B5EF4-FFF2-40B4-BE49-F238E27FC236}">
                <a16:creationId xmlns:a16="http://schemas.microsoft.com/office/drawing/2014/main" id="{BDAC9C0A-BBCA-4B9F-8ADF-5B2CCB19F9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1150FE6D-5534-1599-2E59-51511EC57C61}"/>
              </a:ext>
            </a:extLst>
          </p:cNvPr>
          <p:cNvSpPr>
            <a:spLocks noGrp="1"/>
          </p:cNvSpPr>
          <p:nvPr>
            <p:ph idx="1"/>
          </p:nvPr>
        </p:nvSpPr>
        <p:spPr>
          <a:xfrm>
            <a:off x="1600200" y="2440640"/>
            <a:ext cx="8828741" cy="3954183"/>
          </a:xfrm>
        </p:spPr>
        <p:txBody>
          <a:bodyPr>
            <a:normAutofit fontScale="92500"/>
          </a:bodyPr>
          <a:lstStyle/>
          <a:p>
            <a:pPr>
              <a:lnSpc>
                <a:spcPct val="120000"/>
              </a:lnSpc>
              <a:buNone/>
            </a:pPr>
            <a:r>
              <a:rPr lang="el-GR" dirty="0">
                <a:latin typeface="Times New Roman" panose="02020603050405020304" pitchFamily="18" charset="0"/>
                <a:cs typeface="Times New Roman" panose="02020603050405020304" pitchFamily="18" charset="0"/>
              </a:rPr>
              <a:t>Για την καλύτερη κατανόηση και πρόβλεψη της κυκλοφορίας στα </a:t>
            </a:r>
            <a:r>
              <a:rPr lang="el-GR" dirty="0" err="1">
                <a:latin typeface="Times New Roman" panose="02020603050405020304" pitchFamily="18" charset="0"/>
                <a:cs typeface="Times New Roman" panose="02020603050405020304" pitchFamily="18" charset="0"/>
              </a:rPr>
              <a:t>Data</a:t>
            </a:r>
            <a:r>
              <a:rPr lang="el-GR" dirty="0">
                <a:latin typeface="Times New Roman" panose="02020603050405020304" pitchFamily="18" charset="0"/>
                <a:cs typeface="Times New Roman" panose="02020603050405020304" pitchFamily="18" charset="0"/>
              </a:rPr>
              <a:t> </a:t>
            </a:r>
            <a:r>
              <a:rPr lang="el-GR" dirty="0" err="1">
                <a:latin typeface="Times New Roman" panose="02020603050405020304" pitchFamily="18" charset="0"/>
                <a:cs typeface="Times New Roman" panose="02020603050405020304" pitchFamily="18" charset="0"/>
              </a:rPr>
              <a:t>Centers</a:t>
            </a:r>
            <a:r>
              <a:rPr lang="el-GR" dirty="0">
                <a:latin typeface="Times New Roman" panose="02020603050405020304" pitchFamily="18" charset="0"/>
                <a:cs typeface="Times New Roman" panose="02020603050405020304" pitchFamily="18" charset="0"/>
              </a:rPr>
              <a:t>, αναπτύχθηκε ένα πλαίσιο (</a:t>
            </a:r>
            <a:r>
              <a:rPr lang="el-GR" dirty="0" err="1">
                <a:latin typeface="Times New Roman" panose="02020603050405020304" pitchFamily="18" charset="0"/>
                <a:cs typeface="Times New Roman" panose="02020603050405020304" pitchFamily="18" charset="0"/>
              </a:rPr>
              <a:t>framework</a:t>
            </a:r>
            <a:r>
              <a:rPr lang="el-GR" dirty="0">
                <a:latin typeface="Times New Roman" panose="02020603050405020304" pitchFamily="18" charset="0"/>
                <a:cs typeface="Times New Roman" panose="02020603050405020304" pitchFamily="18" charset="0"/>
              </a:rPr>
              <a:t>) ανακατασκευής λεπτομερών χαρακτηριστικών της κυκλοφορίας από δεδομένα χαμηλής ανάλυσης (</a:t>
            </a:r>
            <a:r>
              <a:rPr lang="el-GR" dirty="0" err="1">
                <a:latin typeface="Times New Roman" panose="02020603050405020304" pitchFamily="18" charset="0"/>
                <a:cs typeface="Times New Roman" panose="02020603050405020304" pitchFamily="18" charset="0"/>
              </a:rPr>
              <a:t>coarse-grained</a:t>
            </a:r>
            <a:r>
              <a:rPr lang="el-GR" dirty="0">
                <a:latin typeface="Times New Roman" panose="02020603050405020304" pitchFamily="18" charset="0"/>
                <a:cs typeface="Times New Roman" panose="02020603050405020304" pitchFamily="18" charset="0"/>
              </a:rPr>
              <a:t> SNMP </a:t>
            </a:r>
            <a:r>
              <a:rPr lang="el-GR" dirty="0" err="1">
                <a:latin typeface="Times New Roman" panose="02020603050405020304" pitchFamily="18" charset="0"/>
                <a:cs typeface="Times New Roman" panose="02020603050405020304" pitchFamily="18" charset="0"/>
              </a:rPr>
              <a:t>data</a:t>
            </a:r>
            <a:r>
              <a:rPr lang="el-GR" dirty="0">
                <a:latin typeface="Times New Roman" panose="02020603050405020304" pitchFamily="18" charset="0"/>
                <a:cs typeface="Times New Roman" panose="02020603050405020304" pitchFamily="18" charset="0"/>
              </a:rPr>
              <a:t>).</a:t>
            </a:r>
          </a:p>
          <a:p>
            <a:pPr>
              <a:lnSpc>
                <a:spcPct val="120000"/>
              </a:lnSpc>
              <a:buNone/>
            </a:pPr>
            <a:r>
              <a:rPr lang="el-GR" b="1" dirty="0">
                <a:latin typeface="Times New Roman" panose="02020603050405020304" pitchFamily="18" charset="0"/>
                <a:cs typeface="Times New Roman" panose="02020603050405020304" pitchFamily="18" charset="0"/>
              </a:rPr>
              <a:t>1. Στόχος του μοντέλου</a:t>
            </a:r>
          </a:p>
          <a:p>
            <a:pPr>
              <a:lnSpc>
                <a:spcPct val="120000"/>
              </a:lnSpc>
              <a:buFont typeface="Wingdings" panose="05000000000000000000" pitchFamily="2" charset="2"/>
              <a:buChar char="v"/>
            </a:pPr>
            <a:r>
              <a:rPr lang="el-GR" dirty="0">
                <a:latin typeface="Times New Roman" panose="02020603050405020304" pitchFamily="18" charset="0"/>
                <a:cs typeface="Times New Roman" panose="02020603050405020304" pitchFamily="18" charset="0"/>
              </a:rPr>
              <a:t>Ο στόχος είναι να δημιουργηθεί ένας μηχανισμός που θα επιτρέπει στους διαχειριστές δικτύου να προβλέπουν τα λεπτομερή χαρακτηριστικά της κυκλοφορίας με βάση τα SNMP δεδομένα, τα οποία είναι πιο εύκολα διαθέσιμα.</a:t>
            </a:r>
          </a:p>
          <a:p>
            <a:pPr>
              <a:lnSpc>
                <a:spcPct val="120000"/>
              </a:lnSpc>
              <a:buFont typeface="Wingdings" panose="05000000000000000000" pitchFamily="2" charset="2"/>
              <a:buChar char="v"/>
            </a:pPr>
            <a:r>
              <a:rPr lang="el-GR" dirty="0">
                <a:latin typeface="Times New Roman" panose="02020603050405020304" pitchFamily="18" charset="0"/>
                <a:cs typeface="Times New Roman" panose="02020603050405020304" pitchFamily="18" charset="0"/>
              </a:rPr>
              <a:t>Αντί να καταγράφεται κάθε πακέτο, το μοντέλο χρησιμοποιεί στατιστικά μοτίβα και προσεγγίσεις μηχανικής μάθησης για να παράγει ρεαλιστικές προσομοιώσεις της κυκλοφορίας.</a:t>
            </a:r>
          </a:p>
          <a:p>
            <a:pPr>
              <a:lnSpc>
                <a:spcPct val="120000"/>
              </a:lnSpc>
            </a:pPr>
            <a:endParaRPr lang="el-GR" sz="1600" dirty="0"/>
          </a:p>
        </p:txBody>
      </p:sp>
      <p:sp>
        <p:nvSpPr>
          <p:cNvPr id="12" name="Rectangle 11">
            <a:extLst>
              <a:ext uri="{FF2B5EF4-FFF2-40B4-BE49-F238E27FC236}">
                <a16:creationId xmlns:a16="http://schemas.microsoft.com/office/drawing/2014/main" id="{1B784CEF-F6B1-4D62-86B3-F2A7C4EFB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1248316" y="2749419"/>
            <a:ext cx="949990" cy="411479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48D47FD-99F1-4F70-A0B7-DE3FFDD3B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8740216" y="2930143"/>
            <a:ext cx="5214382" cy="1269732"/>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14659003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F96AAC-1B7F-4BC0-A366-059066805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561A635E-D7B8-3F67-A039-B0D5EF3CC181}"/>
              </a:ext>
            </a:extLst>
          </p:cNvPr>
          <p:cNvSpPr>
            <a:spLocks noGrp="1"/>
          </p:cNvSpPr>
          <p:nvPr>
            <p:ph type="title"/>
          </p:nvPr>
        </p:nvSpPr>
        <p:spPr>
          <a:xfrm>
            <a:off x="803448" y="289828"/>
            <a:ext cx="4173671" cy="1634596"/>
          </a:xfrm>
        </p:spPr>
        <p:txBody>
          <a:bodyPr>
            <a:normAutofit fontScale="90000"/>
          </a:bodyPr>
          <a:lstStyle/>
          <a:p>
            <a:pPr>
              <a:lnSpc>
                <a:spcPct val="110000"/>
              </a:lnSpc>
            </a:pPr>
            <a:r>
              <a:rPr lang="el-GR" sz="2700" dirty="0" err="1"/>
              <a:t>Αναπτυξη</a:t>
            </a:r>
            <a:r>
              <a:rPr lang="el-GR" sz="2700" dirty="0"/>
              <a:t> </a:t>
            </a:r>
            <a:r>
              <a:rPr lang="el-GR" sz="2700" dirty="0" err="1"/>
              <a:t>ενος</a:t>
            </a:r>
            <a:r>
              <a:rPr lang="el-GR" sz="2700" dirty="0"/>
              <a:t> </a:t>
            </a:r>
            <a:r>
              <a:rPr lang="el-GR" sz="2700" dirty="0" err="1"/>
              <a:t>Μοντελου</a:t>
            </a:r>
            <a:r>
              <a:rPr lang="el-GR" sz="2700" dirty="0"/>
              <a:t> </a:t>
            </a:r>
            <a:r>
              <a:rPr lang="el-GR" sz="2700" dirty="0" err="1"/>
              <a:t>Προβλεψης</a:t>
            </a:r>
            <a:r>
              <a:rPr lang="el-GR" sz="2700" dirty="0"/>
              <a:t> της </a:t>
            </a:r>
            <a:r>
              <a:rPr lang="el-GR" sz="2700" dirty="0" err="1"/>
              <a:t>Κυκλοφοριας</a:t>
            </a:r>
            <a:endParaRPr lang="el-GR" sz="2700" dirty="0"/>
          </a:p>
        </p:txBody>
      </p:sp>
      <p:sp>
        <p:nvSpPr>
          <p:cNvPr id="3" name="Θέση περιεχομένου 2">
            <a:extLst>
              <a:ext uri="{FF2B5EF4-FFF2-40B4-BE49-F238E27FC236}">
                <a16:creationId xmlns:a16="http://schemas.microsoft.com/office/drawing/2014/main" id="{F8588255-33FD-B06B-C2C5-7AAF452388F7}"/>
              </a:ext>
            </a:extLst>
          </p:cNvPr>
          <p:cNvSpPr>
            <a:spLocks noGrp="1"/>
          </p:cNvSpPr>
          <p:nvPr>
            <p:ph idx="1"/>
          </p:nvPr>
        </p:nvSpPr>
        <p:spPr>
          <a:xfrm>
            <a:off x="803448" y="2135306"/>
            <a:ext cx="5137163" cy="4432865"/>
          </a:xfrm>
        </p:spPr>
        <p:txBody>
          <a:bodyPr>
            <a:normAutofit lnSpcReduction="10000"/>
          </a:bodyPr>
          <a:lstStyle/>
          <a:p>
            <a:pPr>
              <a:lnSpc>
                <a:spcPct val="120000"/>
              </a:lnSpc>
              <a:buNone/>
            </a:pPr>
            <a:r>
              <a:rPr lang="el-GR" sz="1400" b="1">
                <a:latin typeface="Times New Roman" panose="02020603050405020304" pitchFamily="18" charset="0"/>
                <a:cs typeface="Times New Roman" panose="02020603050405020304" pitchFamily="18" charset="0"/>
              </a:rPr>
              <a:t>2. Μέθοδος ανακάλυψης παραμέτρων (Parameter Discovery Algorithm)</a:t>
            </a:r>
          </a:p>
          <a:p>
            <a:pPr>
              <a:lnSpc>
                <a:spcPct val="120000"/>
              </a:lnSpc>
              <a:buFont typeface="Wingdings" panose="05000000000000000000" pitchFamily="2" charset="2"/>
              <a:buChar char="v"/>
            </a:pPr>
            <a:r>
              <a:rPr lang="el-GR" sz="1400">
                <a:latin typeface="Times New Roman" panose="02020603050405020304" pitchFamily="18" charset="0"/>
                <a:cs typeface="Times New Roman" panose="02020603050405020304" pitchFamily="18" charset="0"/>
              </a:rPr>
              <a:t>Το μοντέλο χρησιμοποιεί δεδομένα SNMP (όπως μέσος ρυθμός κυκλοφορίας και ποσοστά απωλειών πακέτων) για να υπολογίσει τις πιθανές τιμές των παραμέτρων που καθορίζουν την κυκλοφορία στα switches.</a:t>
            </a:r>
          </a:p>
          <a:p>
            <a:pPr>
              <a:lnSpc>
                <a:spcPct val="120000"/>
              </a:lnSpc>
              <a:buFont typeface="Wingdings" panose="05000000000000000000" pitchFamily="2" charset="2"/>
              <a:buChar char="v"/>
            </a:pPr>
            <a:r>
              <a:rPr lang="el-GR" sz="1400">
                <a:latin typeface="Times New Roman" panose="02020603050405020304" pitchFamily="18" charset="0"/>
                <a:cs typeface="Times New Roman" panose="02020603050405020304" pitchFamily="18" charset="0"/>
              </a:rPr>
              <a:t>Οι παράμετροι αυτές περιλαμβάνουν:</a:t>
            </a:r>
          </a:p>
          <a:p>
            <a:pPr marL="742950" lvl="1" indent="-285750">
              <a:lnSpc>
                <a:spcPct val="120000"/>
              </a:lnSpc>
              <a:buFont typeface="Wingdings" panose="05000000000000000000" pitchFamily="2" charset="2"/>
              <a:buChar char="v"/>
            </a:pPr>
            <a:r>
              <a:rPr lang="el-GR" sz="1400">
                <a:latin typeface="Times New Roman" panose="02020603050405020304" pitchFamily="18" charset="0"/>
                <a:cs typeface="Times New Roman" panose="02020603050405020304" pitchFamily="18" charset="0"/>
              </a:rPr>
              <a:t>Μέση διάρκεια ON και OFF περιόδων (lognormal κατανομές).</a:t>
            </a:r>
          </a:p>
          <a:p>
            <a:pPr marL="742950" lvl="1" indent="-285750">
              <a:lnSpc>
                <a:spcPct val="120000"/>
              </a:lnSpc>
              <a:buFont typeface="Wingdings" panose="05000000000000000000" pitchFamily="2" charset="2"/>
              <a:buChar char="v"/>
            </a:pPr>
            <a:r>
              <a:rPr lang="el-GR" sz="1400">
                <a:latin typeface="Times New Roman" panose="02020603050405020304" pitchFamily="18" charset="0"/>
                <a:cs typeface="Times New Roman" panose="02020603050405020304" pitchFamily="18" charset="0"/>
              </a:rPr>
              <a:t>Κατανομή διαστημάτων άφιξης πακέτων στις ON περιόδους.</a:t>
            </a:r>
          </a:p>
          <a:p>
            <a:pPr marL="742950" lvl="1" indent="-285750">
              <a:lnSpc>
                <a:spcPct val="120000"/>
              </a:lnSpc>
              <a:buFont typeface="Wingdings" panose="05000000000000000000" pitchFamily="2" charset="2"/>
              <a:buChar char="v"/>
            </a:pPr>
            <a:r>
              <a:rPr lang="el-GR" sz="1400">
                <a:latin typeface="Times New Roman" panose="02020603050405020304" pitchFamily="18" charset="0"/>
                <a:cs typeface="Times New Roman" panose="02020603050405020304" pitchFamily="18" charset="0"/>
              </a:rPr>
              <a:t>Μοντέλα συμφόρησης και απωλειών πακέτων για διάφορα επίπεδα του δικτύου.</a:t>
            </a:r>
          </a:p>
          <a:p>
            <a:pPr>
              <a:lnSpc>
                <a:spcPct val="120000"/>
              </a:lnSpc>
              <a:buFont typeface="Wingdings" panose="05000000000000000000" pitchFamily="2" charset="2"/>
              <a:buChar char="v"/>
            </a:pPr>
            <a:r>
              <a:rPr lang="el-GR" sz="1400">
                <a:latin typeface="Times New Roman" panose="02020603050405020304" pitchFamily="18" charset="0"/>
                <a:cs typeface="Times New Roman" panose="02020603050405020304" pitchFamily="18" charset="0"/>
              </a:rPr>
              <a:t>Ο αλγόριθμος χρησιμοποιεί μια τεχνική αναζήτησης σε πολυδιάστατο χώρο (search space exploration) για να βρει το καλύτερο σύνολο παραμέτρων.</a:t>
            </a:r>
          </a:p>
          <a:p>
            <a:pPr>
              <a:lnSpc>
                <a:spcPct val="120000"/>
              </a:lnSpc>
            </a:pPr>
            <a:endParaRPr lang="el-GR" sz="700" dirty="0"/>
          </a:p>
        </p:txBody>
      </p:sp>
      <p:sp>
        <p:nvSpPr>
          <p:cNvPr id="12" name="Rectangle 6">
            <a:extLst>
              <a:ext uri="{FF2B5EF4-FFF2-40B4-BE49-F238E27FC236}">
                <a16:creationId xmlns:a16="http://schemas.microsoft.com/office/drawing/2014/main" id="{9F77B9A0-807D-4595-AC22-A6DCC4CA15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446418" y="2940297"/>
            <a:ext cx="3745582" cy="3917703"/>
          </a:xfrm>
          <a:custGeom>
            <a:avLst/>
            <a:gdLst>
              <a:gd name="connsiteX0" fmla="*/ 0 w 1369143"/>
              <a:gd name="connsiteY0" fmla="*/ 0 h 1229160"/>
              <a:gd name="connsiteX1" fmla="*/ 1369143 w 1369143"/>
              <a:gd name="connsiteY1" fmla="*/ 0 h 1229160"/>
              <a:gd name="connsiteX2" fmla="*/ 1369143 w 1369143"/>
              <a:gd name="connsiteY2" fmla="*/ 1229160 h 1229160"/>
              <a:gd name="connsiteX3" fmla="*/ 0 w 1369143"/>
              <a:gd name="connsiteY3" fmla="*/ 1229160 h 1229160"/>
              <a:gd name="connsiteX4" fmla="*/ 0 w 1369143"/>
              <a:gd name="connsiteY4" fmla="*/ 0 h 1229160"/>
              <a:gd name="connsiteX0" fmla="*/ 0 w 1369143"/>
              <a:gd name="connsiteY0" fmla="*/ 0 h 1229160"/>
              <a:gd name="connsiteX1" fmla="*/ 1369143 w 1369143"/>
              <a:gd name="connsiteY1" fmla="*/ 0 h 1229160"/>
              <a:gd name="connsiteX2" fmla="*/ 0 w 1369143"/>
              <a:gd name="connsiteY2" fmla="*/ 1229160 h 1229160"/>
              <a:gd name="connsiteX3" fmla="*/ 0 w 1369143"/>
              <a:gd name="connsiteY3" fmla="*/ 0 h 1229160"/>
            </a:gdLst>
            <a:ahLst/>
            <a:cxnLst>
              <a:cxn ang="0">
                <a:pos x="connsiteX0" y="connsiteY0"/>
              </a:cxn>
              <a:cxn ang="0">
                <a:pos x="connsiteX1" y="connsiteY1"/>
              </a:cxn>
              <a:cxn ang="0">
                <a:pos x="connsiteX2" y="connsiteY2"/>
              </a:cxn>
              <a:cxn ang="0">
                <a:pos x="connsiteX3" y="connsiteY3"/>
              </a:cxn>
            </a:cxnLst>
            <a:rect l="l" t="t" r="r" b="b"/>
            <a:pathLst>
              <a:path w="1369143" h="1229160">
                <a:moveTo>
                  <a:pt x="0" y="0"/>
                </a:moveTo>
                <a:lnTo>
                  <a:pt x="1369143" y="0"/>
                </a:lnTo>
                <a:lnTo>
                  <a:pt x="0" y="1229160"/>
                </a:lnTo>
                <a:lnTo>
                  <a:pt x="0" y="0"/>
                </a:lnTo>
                <a:close/>
              </a:path>
            </a:pathLst>
          </a:custGeom>
          <a:solidFill>
            <a:schemeClr val="accent1">
              <a:lumMod val="20000"/>
              <a:lumOff val="8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8352FE65-755A-4551-AF5F-AE64CB963A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36575" y="2940297"/>
            <a:ext cx="3745582" cy="3917703"/>
          </a:xfrm>
          <a:custGeom>
            <a:avLst/>
            <a:gdLst>
              <a:gd name="connsiteX0" fmla="*/ 3745582 w 3745582"/>
              <a:gd name="connsiteY0" fmla="*/ 0 h 3917703"/>
              <a:gd name="connsiteX1" fmla="*/ 3745582 w 3745582"/>
              <a:gd name="connsiteY1" fmla="*/ 3917703 h 3917703"/>
              <a:gd name="connsiteX2" fmla="*/ 0 w 3745582"/>
              <a:gd name="connsiteY2" fmla="*/ 3917703 h 3917703"/>
            </a:gdLst>
            <a:ahLst/>
            <a:cxnLst>
              <a:cxn ang="0">
                <a:pos x="connsiteX0" y="connsiteY0"/>
              </a:cxn>
              <a:cxn ang="0">
                <a:pos x="connsiteX1" y="connsiteY1"/>
              </a:cxn>
              <a:cxn ang="0">
                <a:pos x="connsiteX2" y="connsiteY2"/>
              </a:cxn>
            </a:cxnLst>
            <a:rect l="l" t="t" r="r" b="b"/>
            <a:pathLst>
              <a:path w="3745582" h="3917703">
                <a:moveTo>
                  <a:pt x="3745582" y="0"/>
                </a:moveTo>
                <a:lnTo>
                  <a:pt x="3745582" y="3917703"/>
                </a:lnTo>
                <a:lnTo>
                  <a:pt x="0" y="391770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Εικόνα 4">
            <a:extLst>
              <a:ext uri="{FF2B5EF4-FFF2-40B4-BE49-F238E27FC236}">
                <a16:creationId xmlns:a16="http://schemas.microsoft.com/office/drawing/2014/main" id="{90C54080-81F6-CAF0-5D35-70AFF9953652}"/>
              </a:ext>
            </a:extLst>
          </p:cNvPr>
          <p:cNvPicPr>
            <a:picLocks noChangeAspect="1"/>
          </p:cNvPicPr>
          <p:nvPr/>
        </p:nvPicPr>
        <p:blipFill>
          <a:blip r:embed="rId4"/>
          <a:srcRect r="673"/>
          <a:stretch/>
        </p:blipFill>
        <p:spPr>
          <a:xfrm>
            <a:off x="5940611" y="947240"/>
            <a:ext cx="5746238" cy="5279009"/>
          </a:xfrm>
          <a:prstGeom prst="rect">
            <a:avLst/>
          </a:prstGeom>
          <a:effectLst>
            <a:outerShdw dist="190500" dir="18900000" algn="bl" rotWithShape="0">
              <a:schemeClr val="tx1"/>
            </a:outerShdw>
          </a:effectLst>
        </p:spPr>
      </p:pic>
    </p:spTree>
    <p:extLst>
      <p:ext uri="{BB962C8B-B14F-4D97-AF65-F5344CB8AC3E}">
        <p14:creationId xmlns:p14="http://schemas.microsoft.com/office/powerpoint/2010/main" val="3183471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F2CEF-3950-D04F-F53F-B2DB5D6A72AB}"/>
              </a:ext>
            </a:extLst>
          </p:cNvPr>
          <p:cNvSpPr>
            <a:spLocks noGrp="1"/>
          </p:cNvSpPr>
          <p:nvPr>
            <p:ph type="title"/>
          </p:nvPr>
        </p:nvSpPr>
        <p:spPr>
          <a:xfrm>
            <a:off x="400984" y="292698"/>
            <a:ext cx="11486216" cy="938574"/>
          </a:xfrm>
        </p:spPr>
        <p:txBody>
          <a:bodyPr>
            <a:noAutofit/>
          </a:bodyPr>
          <a:lstStyle/>
          <a:p>
            <a:r>
              <a:rPr lang="el-GR" sz="2800" dirty="0" err="1"/>
              <a:t>Αναπτυξη</a:t>
            </a:r>
            <a:r>
              <a:rPr lang="el-GR" sz="2800" dirty="0"/>
              <a:t> </a:t>
            </a:r>
            <a:r>
              <a:rPr lang="el-GR" sz="2800" dirty="0" err="1"/>
              <a:t>ενος</a:t>
            </a:r>
            <a:r>
              <a:rPr lang="el-GR" sz="2800" dirty="0"/>
              <a:t> </a:t>
            </a:r>
            <a:r>
              <a:rPr lang="el-GR" sz="2800" dirty="0" err="1"/>
              <a:t>Μοντελου</a:t>
            </a:r>
            <a:r>
              <a:rPr lang="el-GR" sz="2800" dirty="0"/>
              <a:t> </a:t>
            </a:r>
            <a:r>
              <a:rPr lang="el-GR" sz="2800" dirty="0" err="1"/>
              <a:t>Προβλεψης</a:t>
            </a:r>
            <a:r>
              <a:rPr lang="el-GR" sz="2800" dirty="0"/>
              <a:t> της </a:t>
            </a:r>
            <a:r>
              <a:rPr lang="el-GR" sz="2800" dirty="0" err="1"/>
              <a:t>Κυκλοφοριας</a:t>
            </a:r>
            <a:endParaRPr lang="en-US" sz="2800" dirty="0"/>
          </a:p>
        </p:txBody>
      </p:sp>
      <p:sp>
        <p:nvSpPr>
          <p:cNvPr id="8" name="TextBox 7">
            <a:extLst>
              <a:ext uri="{FF2B5EF4-FFF2-40B4-BE49-F238E27FC236}">
                <a16:creationId xmlns:a16="http://schemas.microsoft.com/office/drawing/2014/main" id="{DFEDE039-044D-D07C-B785-647605507495}"/>
              </a:ext>
            </a:extLst>
          </p:cNvPr>
          <p:cNvSpPr txBox="1"/>
          <p:nvPr/>
        </p:nvSpPr>
        <p:spPr>
          <a:xfrm>
            <a:off x="400984" y="1231272"/>
            <a:ext cx="11390032" cy="5632311"/>
          </a:xfrm>
          <a:prstGeom prst="rect">
            <a:avLst/>
          </a:prstGeom>
          <a:noFill/>
        </p:spPr>
        <p:txBody>
          <a:bodyPr wrap="square" rtlCol="0">
            <a:spAutoFit/>
          </a:bodyPr>
          <a:lstStyle/>
          <a:p>
            <a:pPr algn="ctr">
              <a:buNone/>
            </a:pPr>
            <a:r>
              <a:rPr lang="el-GR" sz="1500" b="1" dirty="0"/>
              <a:t>Μια αποτελεσματική συνάρτηση βαθμολόγησης για να αποφασιστεί η χρησιμότητα ενός σημείου και η κατάλληλη κατεύθυνση για να προχωρήσει η αναζήτηση, δεν είναι προφανής</a:t>
            </a:r>
            <a:r>
              <a:rPr lang="el-GR" sz="1500" dirty="0"/>
              <a:t>.</a:t>
            </a:r>
          </a:p>
          <a:p>
            <a:pPr algn="ctr">
              <a:buNone/>
            </a:pPr>
            <a:endParaRPr lang="el-GR" sz="1500" b="1" dirty="0"/>
          </a:p>
          <a:p>
            <a:pPr>
              <a:buNone/>
            </a:pPr>
            <a:r>
              <a:rPr lang="el-GR" sz="1500" b="1" dirty="0"/>
              <a:t>1️⃣ Λειτουργία Βαθμολογίας</a:t>
            </a:r>
          </a:p>
          <a:p>
            <a:pPr>
              <a:buNone/>
            </a:pPr>
            <a:r>
              <a:rPr lang="el-GR" sz="1500" dirty="0"/>
              <a:t>Για να εκτιμηθεί η ποιότητα ενός σημείου στον χώρο αναζήτησης, χρησιμοποιείται μια </a:t>
            </a:r>
            <a:r>
              <a:rPr lang="el-GR" sz="1500" b="1" dirty="0"/>
              <a:t>συνάρτηση βαθμολόγησης</a:t>
            </a:r>
            <a:r>
              <a:rPr lang="el-GR" sz="1500" dirty="0"/>
              <a:t>, η οποία περιλαμβάνει τα εξής βήματα:</a:t>
            </a:r>
          </a:p>
          <a:p>
            <a:pPr>
              <a:buNone/>
            </a:pPr>
            <a:endParaRPr lang="el-GR" sz="1500" dirty="0"/>
          </a:p>
          <a:p>
            <a:pPr lvl="1">
              <a:buFont typeface="Arial" panose="020B0604020202020204" pitchFamily="34" charset="0"/>
              <a:buChar char="•"/>
            </a:pPr>
            <a:r>
              <a:rPr lang="el-GR" sz="1500" dirty="0"/>
              <a:t>Υπολογίζονται οι κατανομές όγκου και απώλειας δεδομένων που αντιστοιχούν στο σημείο αναζήτησης.</a:t>
            </a:r>
          </a:p>
          <a:p>
            <a:pPr lvl="1">
              <a:buFont typeface="Arial" panose="020B0604020202020204" pitchFamily="34" charset="0"/>
              <a:buChar char="•"/>
            </a:pPr>
            <a:r>
              <a:rPr lang="el-GR" sz="1500" dirty="0"/>
              <a:t>Οι κατανομές αυτές συγκρίνονται με τα πραγματικά δεδομένα SNMP χρησιμοποιώντας το </a:t>
            </a:r>
            <a:r>
              <a:rPr lang="el-GR" sz="1500" b="1" dirty="0"/>
              <a:t>τεστ </a:t>
            </a:r>
            <a:r>
              <a:rPr lang="el-GR" sz="1500" b="1" dirty="0" err="1"/>
              <a:t>Wilcoxon</a:t>
            </a:r>
            <a:r>
              <a:rPr lang="el-GR" sz="1500" dirty="0"/>
              <a:t>, μια στατιστική δοκιμή που μετρά την ομοιότητα μεταξύ των παρατηρούμενων και των υπολογισμένων δεδομένων.</a:t>
            </a:r>
          </a:p>
          <a:p>
            <a:pPr lvl="1">
              <a:buFont typeface="Arial" panose="020B0604020202020204" pitchFamily="34" charset="0"/>
              <a:buChar char="•"/>
            </a:pPr>
            <a:r>
              <a:rPr lang="el-GR" sz="1500" dirty="0"/>
              <a:t>Η τελική βαθμολογία του σημείου είναι το </a:t>
            </a:r>
            <a:r>
              <a:rPr lang="el-GR" sz="1500" b="1" dirty="0"/>
              <a:t>ελάχιστο των δύο επιμέρους βαθμολογιών (</a:t>
            </a:r>
            <a:r>
              <a:rPr lang="en-US" sz="1500" b="1" dirty="0"/>
              <a:t>volume and </a:t>
            </a:r>
            <a:r>
              <a:rPr lang="en-US" sz="1500" b="1" dirty="0" err="1"/>
              <a:t>lossrate</a:t>
            </a:r>
            <a:r>
              <a:rPr lang="el-GR" sz="1500" b="1" dirty="0"/>
              <a:t>)</a:t>
            </a:r>
            <a:r>
              <a:rPr lang="el-GR" sz="1500" dirty="0"/>
              <a:t>. Αυτό διασφαλίζει ότι η αναζήτηση δίνει έμφαση σε σημεία που είναι καλά και στις δύο κατηγορίες.</a:t>
            </a:r>
          </a:p>
          <a:p>
            <a:pPr lvl="1">
              <a:buFont typeface="Arial" panose="020B0604020202020204" pitchFamily="34" charset="0"/>
              <a:buChar char="•"/>
            </a:pPr>
            <a:endParaRPr lang="el-GR" sz="1500" dirty="0"/>
          </a:p>
          <a:p>
            <a:pPr>
              <a:buNone/>
            </a:pPr>
            <a:r>
              <a:rPr lang="el-GR" sz="1500" b="1" dirty="0"/>
              <a:t>2️⃣ Επιλογή Σημείου Εκκίνησης &amp; Αποφυγή Τοπικών Μέγιστων</a:t>
            </a:r>
          </a:p>
          <a:p>
            <a:pPr>
              <a:buNone/>
            </a:pPr>
            <a:r>
              <a:rPr lang="el-GR" sz="1500" dirty="0"/>
              <a:t>Για να αποφευχθεί η παγίδευση σε </a:t>
            </a:r>
            <a:r>
              <a:rPr lang="el-GR" sz="1500" b="1" dirty="0"/>
              <a:t>τοπικά βέλτιστα</a:t>
            </a:r>
            <a:r>
              <a:rPr lang="el-GR" sz="1500" dirty="0"/>
              <a:t>, ο αλγόριθμος εκτελεί πολλαπλές αναζητήσεις από </a:t>
            </a:r>
            <a:r>
              <a:rPr lang="el-GR" sz="1500" b="1" dirty="0"/>
              <a:t>διαφορετικά σημεία εκκίνησης</a:t>
            </a:r>
            <a:r>
              <a:rPr lang="el-GR" sz="1500" dirty="0"/>
              <a:t>.</a:t>
            </a:r>
          </a:p>
          <a:p>
            <a:pPr>
              <a:buNone/>
            </a:pPr>
            <a:endParaRPr lang="el-GR" sz="1500" dirty="0"/>
          </a:p>
          <a:p>
            <a:pPr lvl="1">
              <a:buFont typeface="Arial" panose="020B0604020202020204" pitchFamily="34" charset="0"/>
              <a:buChar char="•"/>
            </a:pPr>
            <a:r>
              <a:rPr lang="el-GR" sz="1500" dirty="0"/>
              <a:t>Ο χώρος αναζήτησης </a:t>
            </a:r>
            <a:r>
              <a:rPr lang="el-GR" sz="1500" b="1" dirty="0"/>
              <a:t>χωρίζεται σε </a:t>
            </a:r>
            <a:r>
              <a:rPr lang="el-GR" sz="1500" b="1" dirty="0" err="1"/>
              <a:t>υποπεριοχές</a:t>
            </a:r>
            <a:r>
              <a:rPr lang="el-GR" sz="1500" b="1" dirty="0"/>
              <a:t> (</a:t>
            </a:r>
            <a:r>
              <a:rPr lang="el-GR" sz="1500" b="1" dirty="0" err="1"/>
              <a:t>Nsub</a:t>
            </a:r>
            <a:r>
              <a:rPr lang="el-GR" sz="1500" b="1" dirty="0"/>
              <a:t>)</a:t>
            </a:r>
            <a:r>
              <a:rPr lang="el-GR" sz="1500" dirty="0"/>
              <a:t>, και κάθε αναζήτηση ξεκινά από ένα </a:t>
            </a:r>
            <a:r>
              <a:rPr lang="el-GR" sz="1500" b="1" dirty="0"/>
              <a:t>τυχαίο σημείο μέσα σε κάθε </a:t>
            </a:r>
            <a:r>
              <a:rPr lang="el-GR" sz="1500" b="1" dirty="0" err="1"/>
              <a:t>υποπεριοχή</a:t>
            </a:r>
            <a:r>
              <a:rPr lang="el-GR" sz="1500" dirty="0"/>
              <a:t>.</a:t>
            </a:r>
          </a:p>
          <a:p>
            <a:pPr lvl="1">
              <a:buFont typeface="Arial" panose="020B0604020202020204" pitchFamily="34" charset="0"/>
              <a:buChar char="•"/>
            </a:pPr>
            <a:endParaRPr lang="el-GR" sz="1500" dirty="0"/>
          </a:p>
          <a:p>
            <a:pPr lvl="1">
              <a:buFont typeface="Arial" panose="020B0604020202020204" pitchFamily="34" charset="0"/>
              <a:buChar char="•"/>
            </a:pPr>
            <a:r>
              <a:rPr lang="el-GR" sz="1500" dirty="0"/>
              <a:t>Οι παράμετροι της καλύτερης αναζήτησης (με τη μεγαλύτερη βαθμολογία) επιλέγονται ως το τελικό αποτέλεσμα.</a:t>
            </a:r>
          </a:p>
          <a:p>
            <a:pPr lvl="1">
              <a:buFont typeface="Arial" panose="020B0604020202020204" pitchFamily="34" charset="0"/>
              <a:buChar char="•"/>
            </a:pPr>
            <a:endParaRPr lang="el-GR" sz="1500" dirty="0"/>
          </a:p>
          <a:p>
            <a:pPr lvl="1">
              <a:buFont typeface="Arial" panose="020B0604020202020204" pitchFamily="34" charset="0"/>
              <a:buChar char="•"/>
            </a:pPr>
            <a:r>
              <a:rPr lang="el-GR" sz="1500" dirty="0"/>
              <a:t>Ο αριθμός των ανεξάρτητων αναζητήσεων </a:t>
            </a:r>
            <a:r>
              <a:rPr lang="el-GR" sz="1500" b="1" dirty="0"/>
              <a:t>επηρεάζει την ισορροπία μεταξύ ακρίβειας και ταχύτητας</a:t>
            </a:r>
            <a:r>
              <a:rPr lang="el-GR" sz="1500" dirty="0"/>
              <a:t>. Στην αξιολόγηση του αλγορίθμου, το </a:t>
            </a:r>
            <a:r>
              <a:rPr lang="el-GR" sz="1500" b="1" dirty="0" err="1"/>
              <a:t>Nsub</a:t>
            </a:r>
            <a:r>
              <a:rPr lang="el-GR" sz="1500" b="1" dirty="0"/>
              <a:t> = 64</a:t>
            </a:r>
            <a:r>
              <a:rPr lang="el-GR" sz="1500" dirty="0"/>
              <a:t> βρέθηκε ως η καλύτερη επιλογή, δηλαδή </a:t>
            </a:r>
            <a:r>
              <a:rPr lang="el-GR" sz="1500" b="1" dirty="0"/>
              <a:t>64 </a:t>
            </a:r>
            <a:r>
              <a:rPr lang="el-GR" sz="1500" b="1" dirty="0" err="1"/>
              <a:t>υποπεριοχές</a:t>
            </a:r>
            <a:r>
              <a:rPr lang="el-GR" sz="1500" b="1" dirty="0"/>
              <a:t> </a:t>
            </a:r>
            <a:r>
              <a:rPr lang="el-GR" sz="1500" dirty="0"/>
              <a:t>εξασφάλιζαν καλή ισορροπία.</a:t>
            </a:r>
          </a:p>
          <a:p>
            <a:endParaRPr lang="en-US" sz="1500" dirty="0"/>
          </a:p>
        </p:txBody>
      </p:sp>
    </p:spTree>
    <p:extLst>
      <p:ext uri="{BB962C8B-B14F-4D97-AF65-F5344CB8AC3E}">
        <p14:creationId xmlns:p14="http://schemas.microsoft.com/office/powerpoint/2010/main" val="1060430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67362-BB5E-7165-38AB-231F4C928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6486B8-F246-7261-B377-078164BAB699}"/>
              </a:ext>
            </a:extLst>
          </p:cNvPr>
          <p:cNvSpPr>
            <a:spLocks noGrp="1"/>
          </p:cNvSpPr>
          <p:nvPr>
            <p:ph type="title"/>
          </p:nvPr>
        </p:nvSpPr>
        <p:spPr>
          <a:xfrm>
            <a:off x="400984" y="292698"/>
            <a:ext cx="7167713" cy="938574"/>
          </a:xfrm>
        </p:spPr>
        <p:txBody>
          <a:bodyPr>
            <a:noAutofit/>
          </a:bodyPr>
          <a:lstStyle/>
          <a:p>
            <a:r>
              <a:rPr lang="el-GR" sz="2800" dirty="0" err="1"/>
              <a:t>Αναπτυξη</a:t>
            </a:r>
            <a:r>
              <a:rPr lang="el-GR" sz="2800" dirty="0"/>
              <a:t> </a:t>
            </a:r>
            <a:r>
              <a:rPr lang="el-GR" sz="2800" dirty="0" err="1"/>
              <a:t>ενος</a:t>
            </a:r>
            <a:r>
              <a:rPr lang="el-GR" sz="2800" dirty="0"/>
              <a:t> </a:t>
            </a:r>
            <a:r>
              <a:rPr lang="el-GR" sz="2800" dirty="0" err="1"/>
              <a:t>Μοντελου</a:t>
            </a:r>
            <a:r>
              <a:rPr lang="el-GR" sz="2800" dirty="0"/>
              <a:t> </a:t>
            </a:r>
            <a:r>
              <a:rPr lang="el-GR" sz="2800" dirty="0" err="1"/>
              <a:t>Προβλεψης</a:t>
            </a:r>
            <a:r>
              <a:rPr lang="el-GR" sz="2800" dirty="0"/>
              <a:t> της </a:t>
            </a:r>
            <a:r>
              <a:rPr lang="el-GR" sz="2800" dirty="0" err="1"/>
              <a:t>Κυκλοφοριας</a:t>
            </a:r>
            <a:endParaRPr lang="en-US" sz="2800" dirty="0"/>
          </a:p>
        </p:txBody>
      </p:sp>
      <p:sp>
        <p:nvSpPr>
          <p:cNvPr id="8" name="TextBox 7">
            <a:extLst>
              <a:ext uri="{FF2B5EF4-FFF2-40B4-BE49-F238E27FC236}">
                <a16:creationId xmlns:a16="http://schemas.microsoft.com/office/drawing/2014/main" id="{128CA113-7951-9B80-7363-35BD26A27420}"/>
              </a:ext>
            </a:extLst>
          </p:cNvPr>
          <p:cNvSpPr txBox="1"/>
          <p:nvPr/>
        </p:nvSpPr>
        <p:spPr>
          <a:xfrm>
            <a:off x="400984" y="1960142"/>
            <a:ext cx="11194668" cy="4401205"/>
          </a:xfrm>
          <a:prstGeom prst="rect">
            <a:avLst/>
          </a:prstGeom>
          <a:noFill/>
        </p:spPr>
        <p:txBody>
          <a:bodyPr wrap="square" rtlCol="0">
            <a:spAutoFit/>
          </a:bodyPr>
          <a:lstStyle/>
          <a:p>
            <a:pPr>
              <a:buNone/>
            </a:pPr>
            <a:r>
              <a:rPr lang="el-GR" sz="1400" b="1" dirty="0"/>
              <a:t>3️⃣ Επιλογή Γείτονα &amp; Κατεύθυνση Αναζήτησης</a:t>
            </a:r>
          </a:p>
          <a:p>
            <a:pPr>
              <a:buNone/>
            </a:pPr>
            <a:endParaRPr lang="el-GR" sz="1400" b="1" dirty="0"/>
          </a:p>
          <a:p>
            <a:pPr>
              <a:buNone/>
            </a:pPr>
            <a:r>
              <a:rPr lang="el-GR" sz="1400" dirty="0"/>
              <a:t>Κάθε σημείο στον χώρο αναζήτησης περιγράφεται από </a:t>
            </a:r>
            <a:r>
              <a:rPr lang="el-GR" sz="1400" b="1" dirty="0"/>
              <a:t>συντεταγμένες σε 6 </a:t>
            </a:r>
            <a:r>
              <a:rPr lang="en-US" sz="1400" b="1" dirty="0"/>
              <a:t>dimension space</a:t>
            </a:r>
            <a:r>
              <a:rPr lang="el-GR" sz="1400" dirty="0"/>
              <a:t>. Οι </a:t>
            </a:r>
            <a:r>
              <a:rPr lang="el-GR" sz="1400" b="1" dirty="0"/>
              <a:t>φυσικοί γείτονες</a:t>
            </a:r>
            <a:r>
              <a:rPr lang="el-GR" sz="1400" dirty="0"/>
              <a:t> ενός σημείου είναι αυτοί που έχουν ελαφρώς διαφορετικές τιμές σε μία από τις διαστάσεις.</a:t>
            </a:r>
          </a:p>
          <a:p>
            <a:pPr>
              <a:buNone/>
            </a:pPr>
            <a:endParaRPr lang="el-GR" sz="1400" dirty="0"/>
          </a:p>
          <a:p>
            <a:pPr lvl="1">
              <a:buFont typeface="Arial" panose="020B0604020202020204" pitchFamily="34" charset="0"/>
              <a:buChar char="•"/>
            </a:pPr>
            <a:r>
              <a:rPr lang="el-GR" sz="1400" dirty="0"/>
              <a:t>Σε κάθε επανάληψη, ο αλγόριθμος αξιολογεί </a:t>
            </a:r>
            <a:r>
              <a:rPr lang="el-GR" sz="1400" b="1" dirty="0"/>
              <a:t>12 γείτονες</a:t>
            </a:r>
            <a:r>
              <a:rPr lang="el-GR" sz="1400" dirty="0"/>
              <a:t> (κατά μήκος κάθε διάστασης).</a:t>
            </a:r>
          </a:p>
          <a:p>
            <a:pPr lvl="1">
              <a:buFont typeface="Arial" panose="020B0604020202020204" pitchFamily="34" charset="0"/>
              <a:buChar char="•"/>
            </a:pPr>
            <a:endParaRPr lang="el-GR" sz="1400" dirty="0"/>
          </a:p>
          <a:p>
            <a:pPr lvl="1">
              <a:buFont typeface="Arial" panose="020B0604020202020204" pitchFamily="34" charset="0"/>
              <a:buChar char="•"/>
            </a:pPr>
            <a:r>
              <a:rPr lang="el-GR" sz="1400" dirty="0"/>
              <a:t>Επιλέγει είτε τον </a:t>
            </a:r>
            <a:r>
              <a:rPr lang="el-GR" sz="1400" b="1" dirty="0"/>
              <a:t>καλύτερο γείτονα</a:t>
            </a:r>
            <a:r>
              <a:rPr lang="el-GR" sz="1400" dirty="0"/>
              <a:t> είτε, σε περίπτωση ισοβαθμίας, έναν </a:t>
            </a:r>
            <a:r>
              <a:rPr lang="el-GR" sz="1400" b="1" dirty="0"/>
              <a:t>τυχαίο γείτονα</a:t>
            </a:r>
            <a:r>
              <a:rPr lang="el-GR" sz="1400" dirty="0"/>
              <a:t> για να συνεχίσει την αναζήτηση.</a:t>
            </a:r>
          </a:p>
          <a:p>
            <a:pPr lvl="1">
              <a:buFont typeface="Arial" panose="020B0604020202020204" pitchFamily="34" charset="0"/>
              <a:buChar char="•"/>
            </a:pPr>
            <a:endParaRPr lang="el-GR" sz="1400" dirty="0"/>
          </a:p>
          <a:p>
            <a:pPr lvl="1">
              <a:buFont typeface="Arial" panose="020B0604020202020204" pitchFamily="34" charset="0"/>
              <a:buChar char="•"/>
            </a:pPr>
            <a:endParaRPr lang="el-GR" sz="1400" dirty="0"/>
          </a:p>
          <a:p>
            <a:pPr>
              <a:buNone/>
            </a:pPr>
            <a:r>
              <a:rPr lang="el-GR" sz="1400" b="1" dirty="0"/>
              <a:t>4️⃣ Συνθήκες Τερματισμού</a:t>
            </a:r>
          </a:p>
          <a:p>
            <a:pPr>
              <a:buNone/>
            </a:pPr>
            <a:endParaRPr lang="el-GR" sz="1400" b="1" dirty="0"/>
          </a:p>
          <a:p>
            <a:pPr>
              <a:buNone/>
            </a:pPr>
            <a:r>
              <a:rPr lang="el-GR" sz="1400" dirty="0"/>
              <a:t>Η αναζήτηση σε έναν </a:t>
            </a:r>
            <a:r>
              <a:rPr lang="el-GR" sz="1400" dirty="0" err="1"/>
              <a:t>υποχώρο</a:t>
            </a:r>
            <a:r>
              <a:rPr lang="el-GR" sz="1400" dirty="0"/>
              <a:t> τερματίζεται όταν:</a:t>
            </a:r>
          </a:p>
          <a:p>
            <a:pPr>
              <a:buNone/>
            </a:pPr>
            <a:endParaRPr lang="el-GR" sz="1400" dirty="0"/>
          </a:p>
          <a:p>
            <a:pPr lvl="1">
              <a:buFont typeface="Arial" panose="020B0604020202020204" pitchFamily="34" charset="0"/>
              <a:buChar char="•"/>
            </a:pPr>
            <a:r>
              <a:rPr lang="el-GR" sz="1400" dirty="0"/>
              <a:t>Βρεθεί ένα σημείο με </a:t>
            </a:r>
            <a:r>
              <a:rPr lang="el-GR" sz="1400" b="1" dirty="0"/>
              <a:t>βαθμολογία &gt; 90%</a:t>
            </a:r>
            <a:r>
              <a:rPr lang="el-GR" sz="1400" dirty="0"/>
              <a:t>.</a:t>
            </a:r>
          </a:p>
          <a:p>
            <a:pPr lvl="1">
              <a:buFont typeface="Arial" panose="020B0604020202020204" pitchFamily="34" charset="0"/>
              <a:buChar char="•"/>
            </a:pPr>
            <a:endParaRPr lang="el-GR" sz="1400" dirty="0"/>
          </a:p>
          <a:p>
            <a:pPr lvl="1">
              <a:buFont typeface="Arial" panose="020B0604020202020204" pitchFamily="34" charset="0"/>
              <a:buChar char="•"/>
            </a:pPr>
            <a:r>
              <a:rPr lang="el-GR" sz="1400" dirty="0"/>
              <a:t>Δεν υπάρχει πρόοδος μετά από </a:t>
            </a:r>
            <a:r>
              <a:rPr lang="el-GR" sz="1400" b="1" dirty="0"/>
              <a:t>1000 επαναλήψεις</a:t>
            </a:r>
            <a:r>
              <a:rPr lang="el-GR" sz="1400" dirty="0"/>
              <a:t> και η καλύτερη βαθμολογία είναι κάτω από </a:t>
            </a:r>
            <a:r>
              <a:rPr lang="el-GR" sz="1400" b="1" dirty="0"/>
              <a:t>10%</a:t>
            </a:r>
            <a:r>
              <a:rPr lang="el-GR" sz="1400" dirty="0"/>
              <a:t>.</a:t>
            </a:r>
          </a:p>
          <a:p>
            <a:pPr lvl="1">
              <a:buFont typeface="Arial" panose="020B0604020202020204" pitchFamily="34" charset="0"/>
              <a:buChar char="•"/>
            </a:pPr>
            <a:endParaRPr lang="el-GR" sz="1400" dirty="0"/>
          </a:p>
          <a:p>
            <a:r>
              <a:rPr lang="el-GR" sz="1400" dirty="0"/>
              <a:t>Όταν όλες οι αναζητήσεις ολοκληρωθούν, επιστρέφονται οι </a:t>
            </a:r>
            <a:r>
              <a:rPr lang="el-GR" sz="1400" b="1" dirty="0"/>
              <a:t>παράμετροι της καλύτερης αναζήτησης</a:t>
            </a:r>
            <a:r>
              <a:rPr lang="el-GR" sz="1400" dirty="0"/>
              <a:t>.</a:t>
            </a:r>
          </a:p>
          <a:p>
            <a:endParaRPr lang="en-US" sz="1400" dirty="0"/>
          </a:p>
        </p:txBody>
      </p:sp>
    </p:spTree>
    <p:extLst>
      <p:ext uri="{BB962C8B-B14F-4D97-AF65-F5344CB8AC3E}">
        <p14:creationId xmlns:p14="http://schemas.microsoft.com/office/powerpoint/2010/main" val="26723130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E9A1F58-45EE-4D82-98FB-E3F037590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95099058-438C-3E49-4482-1C17CBAC6BBD}"/>
              </a:ext>
            </a:extLst>
          </p:cNvPr>
          <p:cNvSpPr>
            <a:spLocks noGrp="1"/>
          </p:cNvSpPr>
          <p:nvPr>
            <p:ph type="title"/>
          </p:nvPr>
        </p:nvSpPr>
        <p:spPr>
          <a:xfrm>
            <a:off x="795014" y="144855"/>
            <a:ext cx="4437386" cy="1876451"/>
          </a:xfrm>
        </p:spPr>
        <p:txBody>
          <a:bodyPr anchor="t">
            <a:normAutofit fontScale="90000"/>
          </a:bodyPr>
          <a:lstStyle/>
          <a:p>
            <a:pPr>
              <a:lnSpc>
                <a:spcPct val="110000"/>
              </a:lnSpc>
            </a:pPr>
            <a:r>
              <a:rPr lang="el-GR" dirty="0" err="1"/>
              <a:t>Αναπτυξη</a:t>
            </a:r>
            <a:r>
              <a:rPr lang="el-GR" dirty="0"/>
              <a:t> </a:t>
            </a:r>
            <a:r>
              <a:rPr lang="el-GR" dirty="0" err="1"/>
              <a:t>ενος</a:t>
            </a:r>
            <a:r>
              <a:rPr lang="el-GR" dirty="0"/>
              <a:t> </a:t>
            </a:r>
            <a:r>
              <a:rPr lang="el-GR" dirty="0" err="1"/>
              <a:t>Μοντελου</a:t>
            </a:r>
            <a:r>
              <a:rPr lang="el-GR" dirty="0"/>
              <a:t> </a:t>
            </a:r>
            <a:r>
              <a:rPr lang="el-GR" dirty="0" err="1"/>
              <a:t>Προβλεψης</a:t>
            </a:r>
            <a:r>
              <a:rPr lang="el-GR" dirty="0"/>
              <a:t> της </a:t>
            </a:r>
            <a:r>
              <a:rPr lang="el-GR" dirty="0" err="1"/>
              <a:t>Κυκλοφοριας</a:t>
            </a:r>
            <a:endParaRPr lang="el-GR" dirty="0"/>
          </a:p>
        </p:txBody>
      </p:sp>
      <p:sp>
        <p:nvSpPr>
          <p:cNvPr id="12" name="Rectangle 11">
            <a:extLst>
              <a:ext uri="{FF2B5EF4-FFF2-40B4-BE49-F238E27FC236}">
                <a16:creationId xmlns:a16="http://schemas.microsoft.com/office/drawing/2014/main" id="{D53B87E1-D7E5-4495-978C-B0ED360899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C727D49-D2FD-46AD-8B1A-11C9E5D9AE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7001300" y="3248166"/>
            <a:ext cx="5190698" cy="3608015"/>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791772"/>
            <a:ext cx="5370286" cy="5228536"/>
          </a:xfrm>
          <a:prstGeom prst="rect">
            <a:avLst/>
          </a:prstGeom>
          <a:solidFill>
            <a:schemeClr val="accent1">
              <a:lumMod val="20000"/>
              <a:lumOff val="80000"/>
            </a:schemeClr>
          </a:solidFill>
          <a:ln w="38100">
            <a:noFill/>
          </a:ln>
          <a:effectLst>
            <a:outerShdw dist="190500" dir="270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CA5DC26D-3E44-7239-04C6-DEAC00B699E5}"/>
              </a:ext>
            </a:extLst>
          </p:cNvPr>
          <p:cNvSpPr>
            <a:spLocks noGrp="1"/>
          </p:cNvSpPr>
          <p:nvPr>
            <p:ph idx="1"/>
          </p:nvPr>
        </p:nvSpPr>
        <p:spPr>
          <a:xfrm>
            <a:off x="6675718" y="1405719"/>
            <a:ext cx="4165600" cy="4158375"/>
          </a:xfrm>
        </p:spPr>
        <p:txBody>
          <a:bodyPr>
            <a:normAutofit lnSpcReduction="10000"/>
          </a:bodyPr>
          <a:lstStyle/>
          <a:p>
            <a:pPr>
              <a:lnSpc>
                <a:spcPct val="120000"/>
              </a:lnSpc>
              <a:buNone/>
            </a:pPr>
            <a:r>
              <a:rPr lang="el-GR" sz="1600" b="1" dirty="0">
                <a:solidFill>
                  <a:srgbClr val="000000"/>
                </a:solidFill>
                <a:latin typeface="Times New Roman" panose="02020603050405020304" pitchFamily="18" charset="0"/>
                <a:cs typeface="Times New Roman" panose="02020603050405020304" pitchFamily="18" charset="0"/>
              </a:rPr>
              <a:t>3. Εφαρμογή του μοντέλου σε πραγματικά δεδομένα</a:t>
            </a:r>
          </a:p>
          <a:p>
            <a:pPr>
              <a:lnSpc>
                <a:spcPct val="120000"/>
              </a:lnSpc>
              <a:buFont typeface="Wingdings" panose="05000000000000000000" pitchFamily="2" charset="2"/>
              <a:buChar char="v"/>
            </a:pPr>
            <a:r>
              <a:rPr lang="el-GR" sz="1600" dirty="0">
                <a:solidFill>
                  <a:srgbClr val="000000"/>
                </a:solidFill>
                <a:latin typeface="Times New Roman" panose="02020603050405020304" pitchFamily="18" charset="0"/>
                <a:cs typeface="Times New Roman" panose="02020603050405020304" pitchFamily="18" charset="0"/>
              </a:rPr>
              <a:t>Το μοντέλο δοκιμάστηκε σε δεδομένα από 200 </a:t>
            </a:r>
            <a:r>
              <a:rPr lang="el-GR" sz="1600" dirty="0" err="1">
                <a:solidFill>
                  <a:srgbClr val="000000"/>
                </a:solidFill>
                <a:latin typeface="Times New Roman" panose="02020603050405020304" pitchFamily="18" charset="0"/>
                <a:cs typeface="Times New Roman" panose="02020603050405020304" pitchFamily="18" charset="0"/>
              </a:rPr>
              <a:t>edge</a:t>
            </a:r>
            <a:r>
              <a:rPr lang="el-GR" sz="1600" dirty="0">
                <a:solidFill>
                  <a:srgbClr val="000000"/>
                </a:solidFill>
                <a:latin typeface="Times New Roman" panose="02020603050405020304" pitchFamily="18" charset="0"/>
                <a:cs typeface="Times New Roman" panose="02020603050405020304" pitchFamily="18" charset="0"/>
              </a:rPr>
              <a:t> </a:t>
            </a:r>
            <a:r>
              <a:rPr lang="el-GR" sz="1600" dirty="0" err="1">
                <a:solidFill>
                  <a:srgbClr val="000000"/>
                </a:solidFill>
                <a:latin typeface="Times New Roman" panose="02020603050405020304" pitchFamily="18" charset="0"/>
                <a:cs typeface="Times New Roman" panose="02020603050405020304" pitchFamily="18" charset="0"/>
              </a:rPr>
              <a:t>links</a:t>
            </a:r>
            <a:r>
              <a:rPr lang="el-GR" sz="1600" dirty="0">
                <a:solidFill>
                  <a:srgbClr val="000000"/>
                </a:solidFill>
                <a:latin typeface="Times New Roman" panose="02020603050405020304" pitchFamily="18" charset="0"/>
                <a:cs typeface="Times New Roman" panose="02020603050405020304" pitchFamily="18" charset="0"/>
              </a:rPr>
              <a:t> ενός </a:t>
            </a:r>
            <a:r>
              <a:rPr lang="el-GR" sz="1600" dirty="0" err="1">
                <a:solidFill>
                  <a:srgbClr val="000000"/>
                </a:solidFill>
                <a:latin typeface="Times New Roman" panose="02020603050405020304" pitchFamily="18" charset="0"/>
                <a:cs typeface="Times New Roman" panose="02020603050405020304" pitchFamily="18" charset="0"/>
              </a:rPr>
              <a:t>Data</a:t>
            </a:r>
            <a:r>
              <a:rPr lang="el-GR" sz="1600" dirty="0">
                <a:solidFill>
                  <a:srgbClr val="000000"/>
                </a:solidFill>
                <a:latin typeface="Times New Roman" panose="02020603050405020304" pitchFamily="18" charset="0"/>
                <a:cs typeface="Times New Roman" panose="02020603050405020304" pitchFamily="18" charset="0"/>
              </a:rPr>
              <a:t> </a:t>
            </a:r>
            <a:r>
              <a:rPr lang="el-GR" sz="1600" dirty="0" err="1">
                <a:solidFill>
                  <a:srgbClr val="000000"/>
                </a:solidFill>
                <a:latin typeface="Times New Roman" panose="02020603050405020304" pitchFamily="18" charset="0"/>
                <a:cs typeface="Times New Roman" panose="02020603050405020304" pitchFamily="18" charset="0"/>
              </a:rPr>
              <a:t>Center</a:t>
            </a:r>
            <a:r>
              <a:rPr lang="el-GR" sz="1600" dirty="0">
                <a:solidFill>
                  <a:srgbClr val="000000"/>
                </a:solidFill>
                <a:latin typeface="Times New Roman" panose="02020603050405020304" pitchFamily="18" charset="0"/>
                <a:cs typeface="Times New Roman" panose="02020603050405020304" pitchFamily="18" charset="0"/>
              </a:rPr>
              <a:t> (17), με πάνω από 70% ακρίβεια στη σύγκριση μεταξύ πραγματικών και προβλεπόμενων δεδομένων.</a:t>
            </a:r>
          </a:p>
          <a:p>
            <a:pPr>
              <a:lnSpc>
                <a:spcPct val="120000"/>
              </a:lnSpc>
              <a:buFont typeface="Wingdings" panose="05000000000000000000" pitchFamily="2" charset="2"/>
              <a:buChar char="v"/>
            </a:pPr>
            <a:r>
              <a:rPr lang="el-GR" sz="1600" dirty="0">
                <a:solidFill>
                  <a:srgbClr val="000000"/>
                </a:solidFill>
                <a:latin typeface="Times New Roman" panose="02020603050405020304" pitchFamily="18" charset="0"/>
                <a:cs typeface="Times New Roman" panose="02020603050405020304" pitchFamily="18" charset="0"/>
              </a:rPr>
              <a:t>Τα αποτελέσματα έδειξαν ότι το προτεινόμενο πλαίσιο μπορεί να χρησιμοποιηθεί τόσο για τη βελτίωση των στρατηγικών </a:t>
            </a:r>
            <a:r>
              <a:rPr lang="el-GR" sz="1600" dirty="0" err="1">
                <a:solidFill>
                  <a:srgbClr val="000000"/>
                </a:solidFill>
                <a:latin typeface="Times New Roman" panose="02020603050405020304" pitchFamily="18" charset="0"/>
                <a:cs typeface="Times New Roman" panose="02020603050405020304" pitchFamily="18" charset="0"/>
              </a:rPr>
              <a:t>traffic</a:t>
            </a:r>
            <a:r>
              <a:rPr lang="el-GR" sz="1600" dirty="0">
                <a:solidFill>
                  <a:srgbClr val="000000"/>
                </a:solidFill>
                <a:latin typeface="Times New Roman" panose="02020603050405020304" pitchFamily="18" charset="0"/>
                <a:cs typeface="Times New Roman" panose="02020603050405020304" pitchFamily="18" charset="0"/>
              </a:rPr>
              <a:t> </a:t>
            </a:r>
            <a:r>
              <a:rPr lang="el-GR" sz="1600" dirty="0" err="1">
                <a:solidFill>
                  <a:srgbClr val="000000"/>
                </a:solidFill>
                <a:latin typeface="Times New Roman" panose="02020603050405020304" pitchFamily="18" charset="0"/>
                <a:cs typeface="Times New Roman" panose="02020603050405020304" pitchFamily="18" charset="0"/>
              </a:rPr>
              <a:t>engineering</a:t>
            </a:r>
            <a:r>
              <a:rPr lang="el-GR" sz="1600" dirty="0">
                <a:solidFill>
                  <a:srgbClr val="000000"/>
                </a:solidFill>
                <a:latin typeface="Times New Roman" panose="02020603050405020304" pitchFamily="18" charset="0"/>
                <a:cs typeface="Times New Roman" panose="02020603050405020304" pitchFamily="18" charset="0"/>
              </a:rPr>
              <a:t>, όσο και για τη δημιουργία συνθετικών φορτίων που προσομοιώνουν την πραγματική κίνηση ενός </a:t>
            </a:r>
            <a:r>
              <a:rPr lang="el-GR" sz="1600" dirty="0" err="1">
                <a:solidFill>
                  <a:srgbClr val="000000"/>
                </a:solidFill>
                <a:latin typeface="Times New Roman" panose="02020603050405020304" pitchFamily="18" charset="0"/>
                <a:cs typeface="Times New Roman" panose="02020603050405020304" pitchFamily="18" charset="0"/>
              </a:rPr>
              <a:t>Data</a:t>
            </a:r>
            <a:r>
              <a:rPr lang="el-GR" sz="1600" dirty="0">
                <a:solidFill>
                  <a:srgbClr val="000000"/>
                </a:solidFill>
                <a:latin typeface="Times New Roman" panose="02020603050405020304" pitchFamily="18" charset="0"/>
                <a:cs typeface="Times New Roman" panose="02020603050405020304" pitchFamily="18" charset="0"/>
              </a:rPr>
              <a:t> </a:t>
            </a:r>
            <a:r>
              <a:rPr lang="el-GR" sz="1600" dirty="0" err="1">
                <a:solidFill>
                  <a:srgbClr val="000000"/>
                </a:solidFill>
                <a:latin typeface="Times New Roman" panose="02020603050405020304" pitchFamily="18" charset="0"/>
                <a:cs typeface="Times New Roman" panose="02020603050405020304" pitchFamily="18" charset="0"/>
              </a:rPr>
              <a:t>Center</a:t>
            </a:r>
            <a:r>
              <a:rPr lang="el-GR" sz="1600" dirty="0">
                <a:solidFill>
                  <a:srgbClr val="000000"/>
                </a:solidFill>
                <a:latin typeface="Times New Roman" panose="02020603050405020304" pitchFamily="18" charset="0"/>
                <a:cs typeface="Times New Roman" panose="02020603050405020304" pitchFamily="18" charset="0"/>
              </a:rPr>
              <a:t>.</a:t>
            </a:r>
          </a:p>
          <a:p>
            <a:pPr marL="0" indent="0">
              <a:lnSpc>
                <a:spcPct val="120000"/>
              </a:lnSpc>
              <a:buNone/>
            </a:pPr>
            <a:endParaRPr lang="el-GR" sz="1600" dirty="0">
              <a:solidFill>
                <a:srgbClr val="000000"/>
              </a:solidFill>
            </a:endParaRPr>
          </a:p>
        </p:txBody>
      </p:sp>
      <p:pic>
        <p:nvPicPr>
          <p:cNvPr id="6" name="Picture 5" descr="A diagram of a diagram&#10;&#10;AI-generated content may be incorrect.">
            <a:extLst>
              <a:ext uri="{FF2B5EF4-FFF2-40B4-BE49-F238E27FC236}">
                <a16:creationId xmlns:a16="http://schemas.microsoft.com/office/drawing/2014/main" id="{B50A192B-2B3E-C392-D903-5966861AF4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5014" y="4042611"/>
            <a:ext cx="3286125" cy="2447925"/>
          </a:xfrm>
          <a:prstGeom prst="rect">
            <a:avLst/>
          </a:prstGeom>
        </p:spPr>
      </p:pic>
      <p:pic>
        <p:nvPicPr>
          <p:cNvPr id="8" name="Picture 7" descr="A graph showing the amount of space in the search algorithm&#10;&#10;AI-generated content may be incorrect.">
            <a:extLst>
              <a:ext uri="{FF2B5EF4-FFF2-40B4-BE49-F238E27FC236}">
                <a16:creationId xmlns:a16="http://schemas.microsoft.com/office/drawing/2014/main" id="{BB38E7A5-6A22-BCA1-6837-37A9400A57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9530" y="2021305"/>
            <a:ext cx="4072747" cy="2088682"/>
          </a:xfrm>
          <a:prstGeom prst="rect">
            <a:avLst/>
          </a:prstGeom>
        </p:spPr>
      </p:pic>
    </p:spTree>
    <p:extLst>
      <p:ext uri="{BB962C8B-B14F-4D97-AF65-F5344CB8AC3E}">
        <p14:creationId xmlns:p14="http://schemas.microsoft.com/office/powerpoint/2010/main" val="163893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C2AFA5F-EB7F-4280-BAAD-A7641CA3FF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443992-7B15-624D-961F-7166F9457040}"/>
              </a:ext>
            </a:extLst>
          </p:cNvPr>
          <p:cNvSpPr>
            <a:spLocks noGrp="1"/>
          </p:cNvSpPr>
          <p:nvPr>
            <p:ph type="title"/>
          </p:nvPr>
        </p:nvSpPr>
        <p:spPr>
          <a:xfrm>
            <a:off x="737901" y="619729"/>
            <a:ext cx="7638168" cy="432092"/>
          </a:xfrm>
        </p:spPr>
        <p:txBody>
          <a:bodyPr anchor="b">
            <a:normAutofit fontScale="90000"/>
          </a:bodyPr>
          <a:lstStyle/>
          <a:p>
            <a:r>
              <a:rPr lang="el-GR" dirty="0"/>
              <a:t>ΕΠΑΛΗΘΕΥΣΗ ΑΛΓΟΡΙΘΜΟΥ</a:t>
            </a:r>
            <a:endParaRPr lang="en-US" dirty="0"/>
          </a:p>
        </p:txBody>
      </p:sp>
      <p:sp>
        <p:nvSpPr>
          <p:cNvPr id="10" name="Rectangle 9">
            <a:extLst>
              <a:ext uri="{FF2B5EF4-FFF2-40B4-BE49-F238E27FC236}">
                <a16:creationId xmlns:a16="http://schemas.microsoft.com/office/drawing/2014/main" id="{BDAC9C0A-BBCA-4B9F-8ADF-5B2CCB19F9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36B5A94-41FC-5910-4864-71BB9819A5AA}"/>
              </a:ext>
            </a:extLst>
          </p:cNvPr>
          <p:cNvSpPr>
            <a:spLocks noGrp="1"/>
          </p:cNvSpPr>
          <p:nvPr>
            <p:ph idx="1"/>
          </p:nvPr>
        </p:nvSpPr>
        <p:spPr>
          <a:xfrm>
            <a:off x="737900" y="1367073"/>
            <a:ext cx="10886749" cy="4959629"/>
          </a:xfrm>
        </p:spPr>
        <p:txBody>
          <a:bodyPr>
            <a:noAutofit/>
          </a:bodyPr>
          <a:lstStyle/>
          <a:p>
            <a:pPr>
              <a:lnSpc>
                <a:spcPct val="120000"/>
              </a:lnSpc>
              <a:buNone/>
            </a:pPr>
            <a:r>
              <a:rPr lang="el-GR" sz="1400" dirty="0"/>
              <a:t>🔹 </a:t>
            </a:r>
            <a:r>
              <a:rPr lang="el-GR" sz="1400" b="1" dirty="0"/>
              <a:t>Επαλήθευση του αλγορίθμου</a:t>
            </a:r>
            <a:r>
              <a:rPr lang="el-GR" sz="1400" dirty="0"/>
              <a:t> μέσω προσομοίωσης </a:t>
            </a:r>
            <a:r>
              <a:rPr lang="el-GR" sz="1400" b="1" dirty="0"/>
              <a:t>NS2</a:t>
            </a:r>
            <a:r>
              <a:rPr lang="el-GR" sz="1400" dirty="0"/>
              <a:t> με δεδομένα από το </a:t>
            </a:r>
            <a:r>
              <a:rPr lang="en-US" sz="1400" b="1" dirty="0"/>
              <a:t>data center </a:t>
            </a:r>
            <a:r>
              <a:rPr lang="el-GR" sz="1400" b="1" dirty="0"/>
              <a:t>DC #17</a:t>
            </a:r>
            <a:r>
              <a:rPr lang="el-GR" sz="1400" dirty="0"/>
              <a:t>.</a:t>
            </a:r>
            <a:br>
              <a:rPr lang="el-GR" sz="1400" dirty="0"/>
            </a:br>
            <a:r>
              <a:rPr lang="el-GR" sz="1400" dirty="0"/>
              <a:t>🔹 </a:t>
            </a:r>
            <a:r>
              <a:rPr lang="el-GR" sz="1400" b="1" dirty="0"/>
              <a:t>Τρία βήματα επικύρωσης:</a:t>
            </a:r>
            <a:endParaRPr lang="el-GR" sz="1400" dirty="0"/>
          </a:p>
          <a:p>
            <a:pPr>
              <a:lnSpc>
                <a:spcPct val="120000"/>
              </a:lnSpc>
              <a:buFont typeface="+mj-lt"/>
              <a:buAutoNum type="arabicPeriod"/>
            </a:pPr>
            <a:r>
              <a:rPr lang="el-GR" sz="1400" dirty="0"/>
              <a:t>Δημιουργία </a:t>
            </a:r>
            <a:r>
              <a:rPr lang="el-GR" sz="1400" b="1" dirty="0"/>
              <a:t>παραμέτρων</a:t>
            </a:r>
            <a:r>
              <a:rPr lang="el-GR" sz="1400" dirty="0"/>
              <a:t> που ταιριάζουν με τα </a:t>
            </a:r>
            <a:r>
              <a:rPr lang="el-GR" sz="1400" b="1" dirty="0"/>
              <a:t>δεδομένα SNMP</a:t>
            </a:r>
            <a:r>
              <a:rPr lang="el-GR" sz="1400" dirty="0"/>
              <a:t> ενός </a:t>
            </a:r>
            <a:r>
              <a:rPr lang="en-US" sz="1400" b="1" dirty="0"/>
              <a:t>edge switch</a:t>
            </a:r>
            <a:r>
              <a:rPr lang="el-GR" sz="1400" dirty="0"/>
              <a:t>.</a:t>
            </a:r>
          </a:p>
          <a:p>
            <a:pPr>
              <a:lnSpc>
                <a:spcPct val="120000"/>
              </a:lnSpc>
              <a:buFont typeface="+mj-lt"/>
              <a:buAutoNum type="arabicPeriod"/>
            </a:pPr>
            <a:r>
              <a:rPr lang="el-GR" sz="1400" dirty="0"/>
              <a:t>Εκτέλεση του </a:t>
            </a:r>
            <a:r>
              <a:rPr lang="el-GR" sz="1400" b="1" dirty="0"/>
              <a:t>προσομοιωτή NS2</a:t>
            </a:r>
            <a:r>
              <a:rPr lang="el-GR" sz="1400" dirty="0"/>
              <a:t> με αυτές τις παραμέτρους.</a:t>
            </a:r>
          </a:p>
          <a:p>
            <a:pPr>
              <a:lnSpc>
                <a:spcPct val="120000"/>
              </a:lnSpc>
              <a:buFont typeface="+mj-lt"/>
              <a:buAutoNum type="arabicPeriod"/>
            </a:pPr>
            <a:r>
              <a:rPr lang="el-GR" sz="1400" dirty="0"/>
              <a:t>Σύγκριση των αποτελεσμάτων με τα αρχικά δεδομένα μέσω </a:t>
            </a:r>
            <a:r>
              <a:rPr lang="el-GR" sz="1400" b="1" dirty="0"/>
              <a:t>στατιστικής δοκιμής </a:t>
            </a:r>
            <a:r>
              <a:rPr lang="el-GR" sz="1400" b="1" dirty="0" err="1"/>
              <a:t>Wilcoxon</a:t>
            </a:r>
            <a:r>
              <a:rPr lang="el-GR" sz="1400" dirty="0"/>
              <a:t>.</a:t>
            </a:r>
            <a:br>
              <a:rPr lang="el-GR" sz="1400" dirty="0"/>
            </a:br>
            <a:r>
              <a:rPr lang="el-GR" sz="1400" dirty="0"/>
              <a:t>🔹 </a:t>
            </a:r>
            <a:r>
              <a:rPr lang="el-GR" sz="1400" b="1" dirty="0"/>
              <a:t>Ρυθμίσεις προσομοίωσης:</a:t>
            </a:r>
            <a:endParaRPr lang="el-GR" sz="1400" dirty="0"/>
          </a:p>
          <a:p>
            <a:pPr>
              <a:lnSpc>
                <a:spcPct val="120000"/>
              </a:lnSpc>
              <a:buFont typeface="Arial" panose="020B0604020202020204" pitchFamily="34" charset="0"/>
              <a:buChar char="•"/>
            </a:pPr>
            <a:r>
              <a:rPr lang="en-US" sz="1400" b="1" dirty="0"/>
              <a:t>Edge link </a:t>
            </a:r>
            <a:r>
              <a:rPr lang="el-GR" sz="1400" dirty="0"/>
              <a:t>με </a:t>
            </a:r>
            <a:r>
              <a:rPr lang="el-GR" sz="1400" b="1" dirty="0"/>
              <a:t>5 MB </a:t>
            </a:r>
            <a:r>
              <a:rPr lang="en-US" sz="1400" b="1" dirty="0"/>
              <a:t>input buffering</a:t>
            </a:r>
            <a:r>
              <a:rPr lang="el-GR" sz="1400" dirty="0"/>
              <a:t>, </a:t>
            </a:r>
            <a:r>
              <a:rPr lang="el-GR" sz="1400" b="1" dirty="0"/>
              <a:t>FIFO ουρά</a:t>
            </a:r>
            <a:r>
              <a:rPr lang="el-GR" sz="1400" dirty="0"/>
              <a:t>, </a:t>
            </a:r>
            <a:r>
              <a:rPr lang="el-GR" sz="1400" b="1" dirty="0"/>
              <a:t>548 </a:t>
            </a:r>
            <a:r>
              <a:rPr lang="en-US" sz="1400" b="1" dirty="0"/>
              <a:t>nanoseconds</a:t>
            </a:r>
            <a:r>
              <a:rPr lang="el-GR" sz="1400" b="1" dirty="0"/>
              <a:t> καθυστέρηση</a:t>
            </a:r>
            <a:r>
              <a:rPr lang="el-GR" sz="1400" dirty="0"/>
              <a:t>.</a:t>
            </a:r>
          </a:p>
          <a:p>
            <a:pPr>
              <a:lnSpc>
                <a:spcPct val="120000"/>
              </a:lnSpc>
              <a:buFont typeface="Arial" panose="020B0604020202020204" pitchFamily="34" charset="0"/>
              <a:buChar char="•"/>
            </a:pPr>
            <a:r>
              <a:rPr lang="el-GR" sz="1400" dirty="0"/>
              <a:t>Επιλογή παραμέτρων βασισμένη σε </a:t>
            </a:r>
            <a:r>
              <a:rPr lang="el-GR" sz="1400" b="1" dirty="0"/>
              <a:t>συνομιλίες με χειριστές</a:t>
            </a:r>
            <a:r>
              <a:rPr lang="el-GR" sz="1400" dirty="0"/>
              <a:t> των </a:t>
            </a:r>
            <a:r>
              <a:rPr lang="en-US" sz="1400" b="1" dirty="0"/>
              <a:t>data centers</a:t>
            </a:r>
            <a:r>
              <a:rPr lang="el-GR" sz="1400" dirty="0"/>
              <a:t>.</a:t>
            </a:r>
            <a:br>
              <a:rPr lang="el-GR" sz="1400" dirty="0"/>
            </a:br>
            <a:r>
              <a:rPr lang="el-GR" sz="1400" dirty="0"/>
              <a:t>🔹 </a:t>
            </a:r>
            <a:r>
              <a:rPr lang="el-GR" sz="1400" b="1" dirty="0"/>
              <a:t>Αξιολόγηση αποτελεσμάτων:</a:t>
            </a:r>
            <a:endParaRPr lang="el-GR" sz="1400" dirty="0"/>
          </a:p>
          <a:p>
            <a:pPr>
              <a:lnSpc>
                <a:spcPct val="120000"/>
              </a:lnSpc>
              <a:buFont typeface="Arial" panose="020B0604020202020204" pitchFamily="34" charset="0"/>
              <a:buChar char="•"/>
            </a:pPr>
            <a:r>
              <a:rPr lang="el-GR" sz="1400" dirty="0"/>
              <a:t>Χρησιμοποιήθηκαν </a:t>
            </a:r>
            <a:r>
              <a:rPr lang="el-GR" sz="1400" b="1" dirty="0"/>
              <a:t>100 </a:t>
            </a:r>
            <a:r>
              <a:rPr lang="en-US" sz="1400" b="1" dirty="0"/>
              <a:t>data points </a:t>
            </a:r>
            <a:r>
              <a:rPr lang="el-GR" sz="1400" dirty="0"/>
              <a:t>για στατιστικά σημαντικά αποτελέσματα.</a:t>
            </a:r>
          </a:p>
          <a:p>
            <a:pPr>
              <a:lnSpc>
                <a:spcPct val="120000"/>
              </a:lnSpc>
              <a:buFont typeface="Arial" panose="020B0604020202020204" pitchFamily="34" charset="0"/>
              <a:buChar char="•"/>
            </a:pPr>
            <a:r>
              <a:rPr lang="el-GR" sz="1400" dirty="0"/>
              <a:t>Επιτυχής σύγκριση αν το </a:t>
            </a:r>
            <a:r>
              <a:rPr lang="el-GR" sz="1400" b="1" dirty="0"/>
              <a:t>τεστ </a:t>
            </a:r>
            <a:r>
              <a:rPr lang="el-GR" sz="1400" b="1" dirty="0" err="1"/>
              <a:t>Wilcoxon</a:t>
            </a:r>
            <a:r>
              <a:rPr lang="el-GR" sz="1400" b="1" dirty="0"/>
              <a:t> δείξει εμπιστοσύνη &gt;90%</a:t>
            </a:r>
            <a:r>
              <a:rPr lang="el-GR" sz="1400" dirty="0"/>
              <a:t>.</a:t>
            </a:r>
            <a:br>
              <a:rPr lang="el-GR" sz="1400" dirty="0"/>
            </a:br>
            <a:r>
              <a:rPr lang="el-GR" sz="1400" dirty="0"/>
              <a:t>🔹 </a:t>
            </a:r>
            <a:r>
              <a:rPr lang="el-GR" sz="1400" b="1" dirty="0"/>
              <a:t>Συμπεράσματα:</a:t>
            </a:r>
            <a:endParaRPr lang="el-GR" sz="1400" dirty="0"/>
          </a:p>
          <a:p>
            <a:pPr>
              <a:lnSpc>
                <a:spcPct val="120000"/>
              </a:lnSpc>
              <a:buFont typeface="Arial" panose="020B0604020202020204" pitchFamily="34" charset="0"/>
              <a:buChar char="•"/>
            </a:pPr>
            <a:r>
              <a:rPr lang="el-GR" sz="1400" dirty="0"/>
              <a:t>Ο αλγόριθμος </a:t>
            </a:r>
            <a:r>
              <a:rPr lang="el-GR" sz="1400" b="1" dirty="0"/>
              <a:t>βρίσκει κατάλληλες διαδικασίες άφιξης</a:t>
            </a:r>
            <a:r>
              <a:rPr lang="el-GR" sz="1400" dirty="0"/>
              <a:t> για πάνω από </a:t>
            </a:r>
            <a:r>
              <a:rPr lang="el-GR" sz="1400" b="1" dirty="0"/>
              <a:t>70% των συσκευών</a:t>
            </a:r>
            <a:r>
              <a:rPr lang="el-GR" sz="1400" dirty="0"/>
              <a:t> με </a:t>
            </a:r>
            <a:r>
              <a:rPr lang="el-GR" sz="1400" b="1" dirty="0"/>
              <a:t>90% εμπιστοσύνη</a:t>
            </a:r>
            <a:r>
              <a:rPr lang="el-GR" sz="1400" dirty="0"/>
              <a:t> (σύμφωνα με το τεστ </a:t>
            </a:r>
            <a:r>
              <a:rPr lang="el-GR" sz="1400" b="1" dirty="0" err="1"/>
              <a:t>Wilcoxon</a:t>
            </a:r>
            <a:r>
              <a:rPr lang="el-GR" sz="1400" dirty="0"/>
              <a:t>).</a:t>
            </a:r>
          </a:p>
          <a:p>
            <a:pPr>
              <a:lnSpc>
                <a:spcPct val="120000"/>
              </a:lnSpc>
              <a:buFont typeface="Arial" panose="020B0604020202020204" pitchFamily="34" charset="0"/>
              <a:buChar char="•"/>
            </a:pPr>
            <a:r>
              <a:rPr lang="el-GR" sz="1400" dirty="0"/>
              <a:t>Το </a:t>
            </a:r>
            <a:r>
              <a:rPr lang="el-GR" sz="1400" b="1" dirty="0"/>
              <a:t>Σχήμα 9</a:t>
            </a:r>
            <a:r>
              <a:rPr lang="el-GR" sz="1400" dirty="0"/>
              <a:t> δείχνει την </a:t>
            </a:r>
            <a:r>
              <a:rPr lang="el-GR" sz="1400" b="1" dirty="0"/>
              <a:t>κατανομή CDF της εμπιστοσύνης</a:t>
            </a:r>
            <a:r>
              <a:rPr lang="el-GR" sz="1400" dirty="0"/>
              <a:t> στις επικυρώσεις 200+ συνδέσεων στο </a:t>
            </a:r>
            <a:r>
              <a:rPr lang="el-GR" sz="1400" b="1" dirty="0"/>
              <a:t>DC #17</a:t>
            </a:r>
            <a:r>
              <a:rPr lang="el-GR" sz="1400" dirty="0"/>
              <a:t>.</a:t>
            </a:r>
          </a:p>
          <a:p>
            <a:pPr>
              <a:lnSpc>
                <a:spcPct val="120000"/>
              </a:lnSpc>
            </a:pPr>
            <a:endParaRPr lang="en-US" sz="1400" dirty="0"/>
          </a:p>
        </p:txBody>
      </p:sp>
      <p:sp>
        <p:nvSpPr>
          <p:cNvPr id="12" name="Rectangle 11">
            <a:extLst>
              <a:ext uri="{FF2B5EF4-FFF2-40B4-BE49-F238E27FC236}">
                <a16:creationId xmlns:a16="http://schemas.microsoft.com/office/drawing/2014/main" id="{1B784CEF-F6B1-4D62-86B3-F2A7C4EFB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1248316" y="2749419"/>
            <a:ext cx="949990" cy="411479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48D47FD-99F1-4F70-A0B7-DE3FFDD3B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8740216" y="2930143"/>
            <a:ext cx="5214382" cy="1269732"/>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graph showing the amount of space in the search algorithm&#10;&#10;AI-generated content may be incorrect.">
            <a:extLst>
              <a:ext uri="{FF2B5EF4-FFF2-40B4-BE49-F238E27FC236}">
                <a16:creationId xmlns:a16="http://schemas.microsoft.com/office/drawing/2014/main" id="{5FFB02CC-5371-FE86-E0D0-E3E54F9A65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98016" y="3274946"/>
            <a:ext cx="3181350" cy="1933575"/>
          </a:xfrm>
          <a:prstGeom prst="rect">
            <a:avLst/>
          </a:prstGeom>
        </p:spPr>
      </p:pic>
    </p:spTree>
    <p:extLst>
      <p:ext uri="{BB962C8B-B14F-4D97-AF65-F5344CB8AC3E}">
        <p14:creationId xmlns:p14="http://schemas.microsoft.com/office/powerpoint/2010/main" val="2254487097"/>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C8155-1132-4C65-E309-E1E74414E28F}"/>
              </a:ext>
            </a:extLst>
          </p:cNvPr>
          <p:cNvSpPr>
            <a:spLocks noGrp="1"/>
          </p:cNvSpPr>
          <p:nvPr>
            <p:ph type="title"/>
          </p:nvPr>
        </p:nvSpPr>
        <p:spPr>
          <a:xfrm>
            <a:off x="381470" y="365124"/>
            <a:ext cx="10673626" cy="494412"/>
          </a:xfrm>
        </p:spPr>
        <p:txBody>
          <a:bodyPr>
            <a:normAutofit fontScale="90000"/>
          </a:bodyPr>
          <a:lstStyle/>
          <a:p>
            <a:r>
              <a:rPr lang="el-GR" sz="3200" dirty="0" err="1"/>
              <a:t>Εφαρμογες</a:t>
            </a:r>
            <a:r>
              <a:rPr lang="el-GR" sz="3200" dirty="0"/>
              <a:t> του </a:t>
            </a:r>
            <a:r>
              <a:rPr lang="el-GR" sz="3200" dirty="0" err="1"/>
              <a:t>Προτεινομενου</a:t>
            </a:r>
            <a:r>
              <a:rPr lang="el-GR" sz="3200" dirty="0"/>
              <a:t> </a:t>
            </a:r>
            <a:r>
              <a:rPr lang="el-GR" sz="3200" dirty="0" err="1"/>
              <a:t>Πλαισιου</a:t>
            </a:r>
            <a:endParaRPr lang="en-US" dirty="0"/>
          </a:p>
        </p:txBody>
      </p:sp>
      <p:sp>
        <p:nvSpPr>
          <p:cNvPr id="3" name="Content Placeholder 2">
            <a:extLst>
              <a:ext uri="{FF2B5EF4-FFF2-40B4-BE49-F238E27FC236}">
                <a16:creationId xmlns:a16="http://schemas.microsoft.com/office/drawing/2014/main" id="{FB37107A-BA92-0F3B-F42F-4B8F74513F24}"/>
              </a:ext>
            </a:extLst>
          </p:cNvPr>
          <p:cNvSpPr>
            <a:spLocks noGrp="1"/>
          </p:cNvSpPr>
          <p:nvPr>
            <p:ph idx="1"/>
          </p:nvPr>
        </p:nvSpPr>
        <p:spPr>
          <a:xfrm>
            <a:off x="381470" y="859536"/>
            <a:ext cx="6309042" cy="5633340"/>
          </a:xfrm>
        </p:spPr>
        <p:txBody>
          <a:bodyPr>
            <a:noAutofit/>
          </a:bodyPr>
          <a:lstStyle/>
          <a:p>
            <a:pPr>
              <a:buNone/>
            </a:pPr>
            <a:r>
              <a:rPr lang="el-GR" sz="1600" dirty="0">
                <a:latin typeface="Times New Roman" panose="02020603050405020304" pitchFamily="18" charset="0"/>
                <a:cs typeface="Times New Roman" panose="02020603050405020304" pitchFamily="18" charset="0"/>
              </a:rPr>
              <a:t>Οι τρέχουσες τεχνικές </a:t>
            </a:r>
            <a:r>
              <a:rPr lang="en-US" sz="1600" dirty="0">
                <a:latin typeface="Times New Roman" panose="02020603050405020304" pitchFamily="18" charset="0"/>
                <a:cs typeface="Times New Roman" panose="02020603050405020304" pitchFamily="18" charset="0"/>
              </a:rPr>
              <a:t>traffic engineering </a:t>
            </a:r>
            <a:r>
              <a:rPr lang="el-GR" sz="1600" dirty="0">
                <a:latin typeface="Times New Roman" panose="02020603050405020304" pitchFamily="18" charset="0"/>
                <a:cs typeface="Times New Roman" panose="02020603050405020304" pitchFamily="18" charset="0"/>
              </a:rPr>
              <a:t>στα </a:t>
            </a:r>
            <a:r>
              <a:rPr lang="en-US" sz="1600" b="1" dirty="0">
                <a:latin typeface="Times New Roman" panose="02020603050405020304" pitchFamily="18" charset="0"/>
                <a:cs typeface="Times New Roman" panose="02020603050405020304" pitchFamily="18" charset="0"/>
              </a:rPr>
              <a:t>Data Centers </a:t>
            </a:r>
            <a:r>
              <a:rPr lang="el-GR" sz="1600" dirty="0">
                <a:latin typeface="Times New Roman" panose="02020603050405020304" pitchFamily="18" charset="0"/>
                <a:cs typeface="Times New Roman" panose="02020603050405020304" pitchFamily="18" charset="0"/>
              </a:rPr>
              <a:t>προέρχονται από τα </a:t>
            </a:r>
            <a:r>
              <a:rPr lang="en-US" sz="1600" b="1" dirty="0">
                <a:latin typeface="Times New Roman" panose="02020603050405020304" pitchFamily="18" charset="0"/>
                <a:cs typeface="Times New Roman" panose="02020603050405020304" pitchFamily="18" charset="0"/>
              </a:rPr>
              <a:t>Wide Area Networks</a:t>
            </a:r>
            <a:r>
              <a:rPr lang="el-GR" sz="1600" dirty="0">
                <a:latin typeface="Times New Roman" panose="02020603050405020304" pitchFamily="18" charset="0"/>
                <a:cs typeface="Times New Roman" panose="02020603050405020304" pitchFamily="18" charset="0"/>
              </a:rPr>
              <a:t>, χρησιμοποιώντας στατικές μεθόδους όπως </a:t>
            </a:r>
            <a:r>
              <a:rPr lang="el-GR" sz="1600" b="1" dirty="0">
                <a:latin typeface="Times New Roman" panose="02020603050405020304" pitchFamily="18" charset="0"/>
                <a:cs typeface="Times New Roman" panose="02020603050405020304" pitchFamily="18" charset="0"/>
              </a:rPr>
              <a:t>ECMP</a:t>
            </a:r>
            <a:r>
              <a:rPr lang="el-GR" sz="1600" dirty="0">
                <a:latin typeface="Times New Roman" panose="02020603050405020304" pitchFamily="18" charset="0"/>
                <a:cs typeface="Times New Roman" panose="02020603050405020304" pitchFamily="18" charset="0"/>
              </a:rPr>
              <a:t> και </a:t>
            </a:r>
            <a:r>
              <a:rPr lang="el-GR" sz="1600" b="1" dirty="0">
                <a:latin typeface="Times New Roman" panose="02020603050405020304" pitchFamily="18" charset="0"/>
                <a:cs typeface="Times New Roman" panose="02020603050405020304" pitchFamily="18" charset="0"/>
              </a:rPr>
              <a:t>MPLS</a:t>
            </a:r>
            <a:r>
              <a:rPr lang="el-GR" sz="1600" dirty="0">
                <a:latin typeface="Times New Roman" panose="02020603050405020304" pitchFamily="18" charset="0"/>
                <a:cs typeface="Times New Roman" panose="02020603050405020304" pitchFamily="18" charset="0"/>
              </a:rPr>
              <a:t>. Το προτεινόμενο </a:t>
            </a:r>
            <a:r>
              <a:rPr lang="en-US" sz="1600" dirty="0">
                <a:latin typeface="Times New Roman" panose="02020603050405020304" pitchFamily="18" charset="0"/>
                <a:cs typeface="Times New Roman" panose="02020603050405020304" pitchFamily="18" charset="0"/>
              </a:rPr>
              <a:t>framework</a:t>
            </a:r>
            <a:r>
              <a:rPr lang="el-GR" sz="1600" dirty="0">
                <a:latin typeface="Times New Roman" panose="02020603050405020304" pitchFamily="18" charset="0"/>
                <a:cs typeface="Times New Roman" panose="02020603050405020304" pitchFamily="18" charset="0"/>
              </a:rPr>
              <a:t> επιτρέπει την αξιολόγηση αυτών των τεχνικών σε ένα συγκεκριμένο </a:t>
            </a:r>
            <a:r>
              <a:rPr lang="en-US" sz="1600" b="1" dirty="0">
                <a:latin typeface="Times New Roman" panose="02020603050405020304" pitchFamily="18" charset="0"/>
                <a:cs typeface="Times New Roman" panose="02020603050405020304" pitchFamily="18" charset="0"/>
              </a:rPr>
              <a:t>Data Center</a:t>
            </a:r>
            <a:r>
              <a:rPr lang="el-GR" sz="1600" dirty="0">
                <a:latin typeface="Times New Roman" panose="02020603050405020304" pitchFamily="18" charset="0"/>
                <a:cs typeface="Times New Roman" panose="02020603050405020304" pitchFamily="18" charset="0"/>
              </a:rPr>
              <a:t>, χρησιμοποιώντας </a:t>
            </a:r>
            <a:r>
              <a:rPr lang="el-GR" sz="1600" b="1" dirty="0">
                <a:latin typeface="Times New Roman" panose="02020603050405020304" pitchFamily="18" charset="0"/>
                <a:cs typeface="Times New Roman" panose="02020603050405020304" pitchFamily="18" charset="0"/>
              </a:rPr>
              <a:t>δεδομένα SNMP</a:t>
            </a:r>
            <a:r>
              <a:rPr lang="el-GR" sz="1600" dirty="0">
                <a:latin typeface="Times New Roman" panose="02020603050405020304" pitchFamily="18" charset="0"/>
                <a:cs typeface="Times New Roman" panose="02020603050405020304" pitchFamily="18" charset="0"/>
              </a:rPr>
              <a:t> για τον προσδιορισμό των βέλτιστων παραμέτρων ροών.</a:t>
            </a:r>
          </a:p>
          <a:p>
            <a:pPr lvl="1">
              <a:buFont typeface="Arial" panose="020B0604020202020204" pitchFamily="34" charset="0"/>
              <a:buChar char="•"/>
            </a:pPr>
            <a:r>
              <a:rPr lang="el-GR" sz="1600" dirty="0">
                <a:latin typeface="Times New Roman" panose="02020603050405020304" pitchFamily="18" charset="0"/>
                <a:cs typeface="Times New Roman" panose="02020603050405020304" pitchFamily="18" charset="0"/>
              </a:rPr>
              <a:t>Αν η κίνηση είναι </a:t>
            </a:r>
            <a:r>
              <a:rPr lang="el-GR" sz="1600" b="1" dirty="0">
                <a:latin typeface="Times New Roman" panose="02020603050405020304" pitchFamily="18" charset="0"/>
                <a:cs typeface="Times New Roman" panose="02020603050405020304" pitchFamily="18" charset="0"/>
              </a:rPr>
              <a:t>προβλέψιμη</a:t>
            </a:r>
            <a:r>
              <a:rPr lang="el-GR" sz="1600" dirty="0">
                <a:latin typeface="Times New Roman" panose="02020603050405020304" pitchFamily="18" charset="0"/>
                <a:cs typeface="Times New Roman" panose="02020603050405020304" pitchFamily="18" charset="0"/>
              </a:rPr>
              <a:t>, οι </a:t>
            </a:r>
            <a:r>
              <a:rPr lang="el-GR" sz="1600" b="1" dirty="0">
                <a:latin typeface="Times New Roman" panose="02020603050405020304" pitchFamily="18" charset="0"/>
                <a:cs typeface="Times New Roman" panose="02020603050405020304" pitchFamily="18" charset="0"/>
              </a:rPr>
              <a:t>στατικές τεχνικές</a:t>
            </a:r>
            <a:r>
              <a:rPr lang="el-GR" sz="1600" dirty="0">
                <a:latin typeface="Times New Roman" panose="02020603050405020304" pitchFamily="18" charset="0"/>
                <a:cs typeface="Times New Roman" panose="02020603050405020304" pitchFamily="18" charset="0"/>
              </a:rPr>
              <a:t> αρκούν.</a:t>
            </a:r>
          </a:p>
          <a:p>
            <a:pPr lvl="1">
              <a:buFont typeface="Arial" panose="020B0604020202020204" pitchFamily="34" charset="0"/>
              <a:buChar char="•"/>
            </a:pPr>
            <a:r>
              <a:rPr lang="el-GR" sz="1600" dirty="0">
                <a:latin typeface="Times New Roman" panose="02020603050405020304" pitchFamily="18" charset="0"/>
                <a:cs typeface="Times New Roman" panose="02020603050405020304" pitchFamily="18" charset="0"/>
              </a:rPr>
              <a:t>Αν η κίνηση είναι </a:t>
            </a:r>
            <a:r>
              <a:rPr lang="el-GR" sz="1600" b="1" dirty="0">
                <a:latin typeface="Times New Roman" panose="02020603050405020304" pitchFamily="18" charset="0"/>
                <a:cs typeface="Times New Roman" panose="02020603050405020304" pitchFamily="18" charset="0"/>
              </a:rPr>
              <a:t>εκρηκτική</a:t>
            </a:r>
            <a:r>
              <a:rPr lang="el-GR" sz="1600" dirty="0">
                <a:latin typeface="Times New Roman" panose="02020603050405020304" pitchFamily="18" charset="0"/>
                <a:cs typeface="Times New Roman" panose="02020603050405020304" pitchFamily="18" charset="0"/>
              </a:rPr>
              <a:t>, απαιτούνται </a:t>
            </a:r>
            <a:r>
              <a:rPr lang="el-GR" sz="1600" b="1" dirty="0">
                <a:latin typeface="Times New Roman" panose="02020603050405020304" pitchFamily="18" charset="0"/>
                <a:cs typeface="Times New Roman" panose="02020603050405020304" pitchFamily="18" charset="0"/>
              </a:rPr>
              <a:t>δυναμικές προσαρμογές</a:t>
            </a:r>
            <a:r>
              <a:rPr lang="el-GR" sz="1600" dirty="0">
                <a:latin typeface="Times New Roman" panose="02020603050405020304" pitchFamily="18" charset="0"/>
                <a:cs typeface="Times New Roman" panose="02020603050405020304" pitchFamily="18" charset="0"/>
              </a:rPr>
              <a:t> στη δρομολόγηση.</a:t>
            </a:r>
          </a:p>
          <a:p>
            <a:pPr>
              <a:buNone/>
            </a:pPr>
            <a:r>
              <a:rPr lang="el-GR" sz="1600" dirty="0">
                <a:latin typeface="Times New Roman" panose="02020603050405020304" pitchFamily="18" charset="0"/>
                <a:cs typeface="Times New Roman" panose="02020603050405020304" pitchFamily="18" charset="0"/>
              </a:rPr>
              <a:t>	Αντί να εστιάσουμε στην κίνηση έξω από κάθε </a:t>
            </a:r>
            <a:r>
              <a:rPr lang="en-US" sz="1600" dirty="0">
                <a:latin typeface="Times New Roman" panose="02020603050405020304" pitchFamily="18" charset="0"/>
                <a:cs typeface="Times New Roman" panose="02020603050405020304" pitchFamily="18" charset="0"/>
              </a:rPr>
              <a:t>edge switch </a:t>
            </a:r>
            <a:r>
              <a:rPr lang="el-GR" sz="1600" dirty="0">
                <a:latin typeface="Times New Roman" panose="02020603050405020304" pitchFamily="18" charset="0"/>
                <a:cs typeface="Times New Roman" panose="02020603050405020304" pitchFamily="18" charset="0"/>
              </a:rPr>
              <a:t>μεμονωμένα, επιτρέπουμε στα δεδομένα από πολλούς </a:t>
            </a:r>
            <a:r>
              <a:rPr lang="en-US" sz="1600" b="1" dirty="0">
                <a:latin typeface="Times New Roman" panose="02020603050405020304" pitchFamily="18" charset="0"/>
                <a:cs typeface="Times New Roman" panose="02020603050405020304" pitchFamily="18" charset="0"/>
              </a:rPr>
              <a:t>edge switches </a:t>
            </a:r>
            <a:r>
              <a:rPr lang="el-GR" sz="1600" dirty="0">
                <a:latin typeface="Times New Roman" panose="02020603050405020304" pitchFamily="18" charset="0"/>
                <a:cs typeface="Times New Roman" panose="02020603050405020304" pitchFamily="18" charset="0"/>
              </a:rPr>
              <a:t>να αλληλοεπιδρούν σε έναν </a:t>
            </a:r>
            <a:r>
              <a:rPr lang="en-US" sz="1600" b="1" dirty="0">
                <a:latin typeface="Times New Roman" panose="02020603050405020304" pitchFamily="18" charset="0"/>
                <a:cs typeface="Times New Roman" panose="02020603050405020304" pitchFamily="18" charset="0"/>
              </a:rPr>
              <a:t>aggregation switch</a:t>
            </a:r>
            <a:r>
              <a:rPr lang="el-GR" sz="1600" dirty="0">
                <a:latin typeface="Times New Roman" panose="02020603050405020304" pitchFamily="18" charset="0"/>
                <a:cs typeface="Times New Roman" panose="02020603050405020304" pitchFamily="18" charset="0"/>
              </a:rPr>
              <a:t>. Χρησιμοποιούμε την προσομοίωση για να μελετήσουμε τις χρονικές κλίμακες των απωλειών στον </a:t>
            </a:r>
            <a:r>
              <a:rPr lang="en-US" sz="1600" b="1" dirty="0">
                <a:latin typeface="Times New Roman" panose="02020603050405020304" pitchFamily="18" charset="0"/>
                <a:cs typeface="Times New Roman" panose="02020603050405020304" pitchFamily="18" charset="0"/>
              </a:rPr>
              <a:t>aggregation switch</a:t>
            </a:r>
            <a:r>
              <a:rPr lang="el-GR" sz="1600" dirty="0">
                <a:latin typeface="Times New Roman" panose="02020603050405020304" pitchFamily="18" charset="0"/>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a:p>
            <a:pPr>
              <a:buNone/>
            </a:pPr>
            <a:r>
              <a:rPr lang="el-GR" sz="1600" dirty="0">
                <a:latin typeface="Times New Roman" panose="02020603050405020304" pitchFamily="18" charset="0"/>
                <a:cs typeface="Times New Roman" panose="02020603050405020304" pitchFamily="18" charset="0"/>
              </a:rPr>
              <a:t>.</a:t>
            </a:r>
          </a:p>
          <a:p>
            <a:pPr marL="0" indent="0">
              <a:buNone/>
            </a:pPr>
            <a:endParaRPr lang="en-US" sz="1600" dirty="0">
              <a:latin typeface="Times New Roman" panose="02020603050405020304" pitchFamily="18" charset="0"/>
              <a:cs typeface="Times New Roman" panose="02020603050405020304" pitchFamily="18" charset="0"/>
            </a:endParaRPr>
          </a:p>
        </p:txBody>
      </p:sp>
      <p:pic>
        <p:nvPicPr>
          <p:cNvPr id="5" name="Picture 4" descr="A table with text on it&#10;&#10;AI-generated content may be incorrect.">
            <a:extLst>
              <a:ext uri="{FF2B5EF4-FFF2-40B4-BE49-F238E27FC236}">
                <a16:creationId xmlns:a16="http://schemas.microsoft.com/office/drawing/2014/main" id="{5237AF55-A613-0E1F-4375-5455A138C4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8776" y="1170796"/>
            <a:ext cx="3488055" cy="1380166"/>
          </a:xfrm>
          <a:prstGeom prst="rect">
            <a:avLst/>
          </a:prstGeom>
        </p:spPr>
      </p:pic>
      <p:pic>
        <p:nvPicPr>
          <p:cNvPr id="6" name="Picture 5" descr="A diagram of a diagram&#10;&#10;AI-generated content may be incorrect.">
            <a:extLst>
              <a:ext uri="{FF2B5EF4-FFF2-40B4-BE49-F238E27FC236}">
                <a16:creationId xmlns:a16="http://schemas.microsoft.com/office/drawing/2014/main" id="{ABF8D1B6-BD65-323A-7CA1-C07A4343F2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0512" y="2862222"/>
            <a:ext cx="4518630" cy="3366052"/>
          </a:xfrm>
          <a:prstGeom prst="rect">
            <a:avLst/>
          </a:prstGeom>
        </p:spPr>
      </p:pic>
    </p:spTree>
    <p:extLst>
      <p:ext uri="{BB962C8B-B14F-4D97-AF65-F5344CB8AC3E}">
        <p14:creationId xmlns:p14="http://schemas.microsoft.com/office/powerpoint/2010/main" val="2436180044"/>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67B98-B200-6319-E1B7-C8082D27599B}"/>
              </a:ext>
            </a:extLst>
          </p:cNvPr>
          <p:cNvSpPr>
            <a:spLocks noGrp="1"/>
          </p:cNvSpPr>
          <p:nvPr>
            <p:ph type="title"/>
          </p:nvPr>
        </p:nvSpPr>
        <p:spPr>
          <a:xfrm>
            <a:off x="808661" y="365125"/>
            <a:ext cx="10357666" cy="655153"/>
          </a:xfrm>
        </p:spPr>
        <p:txBody>
          <a:bodyPr>
            <a:normAutofit fontScale="90000"/>
          </a:bodyPr>
          <a:lstStyle/>
          <a:p>
            <a:r>
              <a:rPr lang="el-GR" sz="3200" dirty="0" err="1"/>
              <a:t>Εφαρμογες</a:t>
            </a:r>
            <a:r>
              <a:rPr lang="el-GR" sz="3200" dirty="0"/>
              <a:t> του </a:t>
            </a:r>
            <a:r>
              <a:rPr lang="el-GR" sz="3200" dirty="0" err="1"/>
              <a:t>Προτεινομενου</a:t>
            </a:r>
            <a:r>
              <a:rPr lang="el-GR" sz="3200" dirty="0"/>
              <a:t> </a:t>
            </a:r>
            <a:r>
              <a:rPr lang="el-GR" sz="3200" dirty="0" err="1"/>
              <a:t>Πλαισιου</a:t>
            </a:r>
            <a:endParaRPr lang="en-US" dirty="0"/>
          </a:p>
        </p:txBody>
      </p:sp>
      <p:sp>
        <p:nvSpPr>
          <p:cNvPr id="3" name="Content Placeholder 2">
            <a:extLst>
              <a:ext uri="{FF2B5EF4-FFF2-40B4-BE49-F238E27FC236}">
                <a16:creationId xmlns:a16="http://schemas.microsoft.com/office/drawing/2014/main" id="{4233E71C-E828-452F-9865-2ACCB81AD4C2}"/>
              </a:ext>
            </a:extLst>
          </p:cNvPr>
          <p:cNvSpPr>
            <a:spLocks noGrp="1"/>
          </p:cNvSpPr>
          <p:nvPr>
            <p:ph idx="1"/>
          </p:nvPr>
        </p:nvSpPr>
        <p:spPr>
          <a:xfrm>
            <a:off x="808662" y="1475715"/>
            <a:ext cx="5800368" cy="5017160"/>
          </a:xfrm>
        </p:spPr>
        <p:txBody>
          <a:bodyPr>
            <a:noAutofit/>
          </a:bodyPr>
          <a:lstStyle/>
          <a:p>
            <a:pPr>
              <a:buNone/>
            </a:pPr>
            <a:r>
              <a:rPr lang="el-GR" sz="1400" dirty="0">
                <a:latin typeface="Times New Roman" panose="02020603050405020304" pitchFamily="18" charset="0"/>
                <a:cs typeface="Times New Roman" panose="02020603050405020304" pitchFamily="18" charset="0"/>
              </a:rPr>
              <a:t>🔹 </a:t>
            </a:r>
            <a:r>
              <a:rPr lang="el-GR" sz="1400" b="1" dirty="0">
                <a:latin typeface="Times New Roman" panose="02020603050405020304" pitchFamily="18" charset="0"/>
                <a:cs typeface="Times New Roman" panose="02020603050405020304" pitchFamily="18" charset="0"/>
              </a:rPr>
              <a:t>Τι είναι οι απώλειες </a:t>
            </a:r>
            <a:r>
              <a:rPr lang="el-GR" sz="1400" b="1" dirty="0" err="1">
                <a:latin typeface="Times New Roman" panose="02020603050405020304" pitchFamily="18" charset="0"/>
                <a:cs typeface="Times New Roman" panose="02020603050405020304" pitchFamily="18" charset="0"/>
              </a:rPr>
              <a:t>μικροεκρήξεως</a:t>
            </a:r>
            <a:r>
              <a:rPr lang="el-GR" sz="1400" b="1" dirty="0">
                <a:latin typeface="Times New Roman" panose="02020603050405020304" pitchFamily="18" charset="0"/>
                <a:cs typeface="Times New Roman" panose="02020603050405020304" pitchFamily="18" charset="0"/>
              </a:rPr>
              <a:t> (</a:t>
            </a:r>
            <a:r>
              <a:rPr lang="el-GR" sz="1400" b="1" dirty="0" err="1">
                <a:latin typeface="Times New Roman" panose="02020603050405020304" pitchFamily="18" charset="0"/>
                <a:cs typeface="Times New Roman" panose="02020603050405020304" pitchFamily="18" charset="0"/>
              </a:rPr>
              <a:t>microbursts</a:t>
            </a:r>
            <a:r>
              <a:rPr lang="el-GR" sz="1400" b="1" dirty="0">
                <a:latin typeface="Times New Roman" panose="02020603050405020304" pitchFamily="18" charset="0"/>
                <a:cs typeface="Times New Roman" panose="02020603050405020304" pitchFamily="18" charset="0"/>
              </a:rPr>
              <a:t>);</a:t>
            </a:r>
            <a:endParaRPr lang="el-GR"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l-GR" sz="1400" dirty="0">
                <a:latin typeface="Times New Roman" panose="02020603050405020304" pitchFamily="18" charset="0"/>
                <a:cs typeface="Times New Roman" panose="02020603050405020304" pitchFamily="18" charset="0"/>
              </a:rPr>
              <a:t>Πρόκειται για </a:t>
            </a:r>
            <a:r>
              <a:rPr lang="el-GR" sz="1400" b="1" dirty="0">
                <a:latin typeface="Times New Roman" panose="02020603050405020304" pitchFamily="18" charset="0"/>
                <a:cs typeface="Times New Roman" panose="02020603050405020304" pitchFamily="18" charset="0"/>
              </a:rPr>
              <a:t>ομάδες διαδοχικών πακέτων</a:t>
            </a:r>
            <a:r>
              <a:rPr lang="el-GR" sz="1400" dirty="0">
                <a:latin typeface="Times New Roman" panose="02020603050405020304" pitchFamily="18" charset="0"/>
                <a:cs typeface="Times New Roman" panose="02020603050405020304" pitchFamily="18" charset="0"/>
              </a:rPr>
              <a:t> που χαρακτηρίζονται από </a:t>
            </a:r>
            <a:r>
              <a:rPr lang="el-GR" sz="1400" b="1" dirty="0">
                <a:latin typeface="Times New Roman" panose="02020603050405020304" pitchFamily="18" charset="0"/>
                <a:cs typeface="Times New Roman" panose="02020603050405020304" pitchFamily="18" charset="0"/>
              </a:rPr>
              <a:t>απώλειες</a:t>
            </a:r>
            <a:r>
              <a:rPr lang="el-GR" sz="1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l-GR" sz="1400" dirty="0">
                <a:latin typeface="Times New Roman" panose="02020603050405020304" pitchFamily="18" charset="0"/>
                <a:cs typeface="Times New Roman" panose="02020603050405020304" pitchFamily="18" charset="0"/>
              </a:rPr>
              <a:t>Ένα </a:t>
            </a:r>
            <a:r>
              <a:rPr lang="el-GR" sz="1400" b="1" dirty="0" err="1">
                <a:latin typeface="Times New Roman" panose="02020603050405020304" pitchFamily="18" charset="0"/>
                <a:cs typeface="Times New Roman" panose="02020603050405020304" pitchFamily="18" charset="0"/>
              </a:rPr>
              <a:t>microburst</a:t>
            </a:r>
            <a:r>
              <a:rPr lang="el-GR" sz="1400" dirty="0">
                <a:latin typeface="Times New Roman" panose="02020603050405020304" pitchFamily="18" charset="0"/>
                <a:cs typeface="Times New Roman" panose="02020603050405020304" pitchFamily="18" charset="0"/>
              </a:rPr>
              <a:t> έχει τρεις ιδιότητες:</a:t>
            </a:r>
          </a:p>
          <a:p>
            <a:pPr marL="742950" lvl="1" indent="-285750">
              <a:buFont typeface="Arial" panose="020B0604020202020204" pitchFamily="34" charset="0"/>
              <a:buChar char="•"/>
            </a:pPr>
            <a:r>
              <a:rPr lang="el-GR" sz="1400" dirty="0">
                <a:latin typeface="Times New Roman" panose="02020603050405020304" pitchFamily="18" charset="0"/>
                <a:cs typeface="Times New Roman" panose="02020603050405020304" pitchFamily="18" charset="0"/>
              </a:rPr>
              <a:t>Ξεκινά και τελειώνει με </a:t>
            </a:r>
            <a:r>
              <a:rPr lang="el-GR" sz="1400" b="1" dirty="0">
                <a:latin typeface="Times New Roman" panose="02020603050405020304" pitchFamily="18" charset="0"/>
                <a:cs typeface="Times New Roman" panose="02020603050405020304" pitchFamily="18" charset="0"/>
              </a:rPr>
              <a:t>πτώση πακέτου</a:t>
            </a:r>
            <a:r>
              <a:rPr lang="el-GR" sz="1400"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l-GR" sz="1400" dirty="0">
                <a:latin typeface="Times New Roman" panose="02020603050405020304" pitchFamily="18" charset="0"/>
                <a:cs typeface="Times New Roman" panose="02020603050405020304" pitchFamily="18" charset="0"/>
              </a:rPr>
              <a:t>Περιέχει </a:t>
            </a:r>
            <a:r>
              <a:rPr lang="el-GR" sz="1400" b="1" dirty="0">
                <a:latin typeface="Times New Roman" panose="02020603050405020304" pitchFamily="18" charset="0"/>
                <a:cs typeface="Times New Roman" panose="02020603050405020304" pitchFamily="18" charset="0"/>
              </a:rPr>
              <a:t>λιγότερα από Χ διαδοχικά πακέτα</a:t>
            </a:r>
            <a:r>
              <a:rPr lang="el-GR" sz="1400" dirty="0">
                <a:latin typeface="Times New Roman" panose="02020603050405020304" pitchFamily="18" charset="0"/>
                <a:cs typeface="Times New Roman" panose="02020603050405020304" pitchFamily="18" charset="0"/>
              </a:rPr>
              <a:t> που λαμβάνονται επιτυχώς.</a:t>
            </a:r>
            <a:endParaRPr lang="en-US" sz="1400" dirty="0">
              <a:latin typeface="Times New Roman" panose="02020603050405020304" pitchFamily="18" charset="0"/>
              <a:cs typeface="Times New Roman" panose="02020603050405020304" pitchFamily="18" charset="0"/>
            </a:endParaRPr>
          </a:p>
          <a:p>
            <a:pPr marL="1017270" lvl="2" indent="-285750"/>
            <a:r>
              <a:rPr lang="el-GR" sz="1400" dirty="0">
                <a:latin typeface="Times New Roman" panose="02020603050405020304" pitchFamily="18" charset="0"/>
                <a:cs typeface="Times New Roman" panose="02020603050405020304" pitchFamily="18" charset="0"/>
              </a:rPr>
              <a:t>ο ρυθμός στιγμιαίας πτώσης πακέτου σε μια</a:t>
            </a:r>
            <a:r>
              <a:rPr lang="en-US" sz="1400" dirty="0">
                <a:latin typeface="Times New Roman" panose="02020603050405020304" pitchFamily="18" charset="0"/>
                <a:cs typeface="Times New Roman" panose="02020603050405020304" pitchFamily="18" charset="0"/>
              </a:rPr>
              <a:t> </a:t>
            </a:r>
            <a:r>
              <a:rPr lang="nl-NL" sz="1400" b="1" dirty="0">
                <a:latin typeface="Times New Roman" panose="02020603050405020304" pitchFamily="18" charset="0"/>
                <a:cs typeface="Times New Roman" panose="02020603050405020304" pitchFamily="18" charset="0"/>
              </a:rPr>
              <a:t>micro-burst</a:t>
            </a:r>
            <a:r>
              <a:rPr lang="nl-NL" sz="1400" dirty="0">
                <a:latin typeface="Times New Roman" panose="02020603050405020304" pitchFamily="18" charset="0"/>
                <a:cs typeface="Times New Roman" panose="02020603050405020304" pitchFamily="18" charset="0"/>
              </a:rPr>
              <a:t> </a:t>
            </a:r>
            <a:r>
              <a:rPr lang="el-GR" sz="1400" dirty="0">
                <a:latin typeface="Times New Roman" panose="02020603050405020304" pitchFamily="18" charset="0"/>
                <a:cs typeface="Times New Roman" panose="02020603050405020304" pitchFamily="18" charset="0"/>
              </a:rPr>
              <a:t>είναι </a:t>
            </a:r>
            <a:r>
              <a:rPr lang="nl-NL" sz="1400" dirty="0">
                <a:latin typeface="Times New Roman" panose="02020603050405020304" pitchFamily="18" charset="0"/>
                <a:cs typeface="Times New Roman" panose="02020603050405020304" pitchFamily="18" charset="0"/>
              </a:rPr>
              <a:t> ≥ 2 (2 + X)</a:t>
            </a:r>
            <a:endParaRPr lang="el-GR" sz="1400"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l-GR" sz="1400" dirty="0">
                <a:latin typeface="Times New Roman" panose="02020603050405020304" pitchFamily="18" charset="0"/>
                <a:cs typeface="Times New Roman" panose="02020603050405020304" pitchFamily="18" charset="0"/>
              </a:rPr>
              <a:t>Έχει τουλάχιστον </a:t>
            </a:r>
            <a:r>
              <a:rPr lang="el-GR" sz="1400" b="1" dirty="0">
                <a:latin typeface="Times New Roman" panose="02020603050405020304" pitchFamily="18" charset="0"/>
                <a:cs typeface="Times New Roman" panose="02020603050405020304" pitchFamily="18" charset="0"/>
              </a:rPr>
              <a:t>100 πακέτα συνολικά</a:t>
            </a:r>
            <a:r>
              <a:rPr lang="el-GR" sz="1400" dirty="0">
                <a:latin typeface="Times New Roman" panose="02020603050405020304" pitchFamily="18" charset="0"/>
                <a:cs typeface="Times New Roman" panose="02020603050405020304" pitchFamily="18" charset="0"/>
              </a:rPr>
              <a:t>.</a:t>
            </a:r>
          </a:p>
          <a:p>
            <a:pPr>
              <a:buNone/>
            </a:pPr>
            <a:r>
              <a:rPr lang="el-GR" sz="1400" dirty="0">
                <a:latin typeface="Times New Roman" panose="02020603050405020304" pitchFamily="18" charset="0"/>
                <a:cs typeface="Times New Roman" panose="02020603050405020304" pitchFamily="18" charset="0"/>
              </a:rPr>
              <a:t>🔹 </a:t>
            </a:r>
            <a:r>
              <a:rPr lang="el-GR" sz="1400" b="1" dirty="0">
                <a:latin typeface="Times New Roman" panose="02020603050405020304" pitchFamily="18" charset="0"/>
                <a:cs typeface="Times New Roman" panose="02020603050405020304" pitchFamily="18" charset="0"/>
              </a:rPr>
              <a:t>Στόχος της ανάλυσης:</a:t>
            </a:r>
            <a:endParaRPr lang="el-GR"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l-GR" sz="1400" b="1" dirty="0">
                <a:latin typeface="Times New Roman" panose="02020603050405020304" pitchFamily="18" charset="0"/>
                <a:cs typeface="Times New Roman" panose="02020603050405020304" pitchFamily="18" charset="0"/>
              </a:rPr>
              <a:t>Μέτρηση της συχνότητας των </a:t>
            </a:r>
            <a:r>
              <a:rPr lang="el-GR" sz="1400" b="1" dirty="0" err="1">
                <a:latin typeface="Times New Roman" panose="02020603050405020304" pitchFamily="18" charset="0"/>
                <a:cs typeface="Times New Roman" panose="02020603050405020304" pitchFamily="18" charset="0"/>
              </a:rPr>
              <a:t>microbursts</a:t>
            </a:r>
            <a:r>
              <a:rPr lang="el-GR" sz="1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r>
              <a:rPr lang="el-GR" sz="1400" dirty="0">
                <a:latin typeface="Times New Roman" panose="02020603050405020304" pitchFamily="18" charset="0"/>
                <a:cs typeface="Times New Roman" panose="02020603050405020304" pitchFamily="18" charset="0"/>
              </a:rPr>
              <a:t>Διάκριση μεταξύ </a:t>
            </a:r>
            <a:r>
              <a:rPr lang="el-GR" sz="1400" b="1" dirty="0">
                <a:latin typeface="Times New Roman" panose="02020603050405020304" pitchFamily="18" charset="0"/>
                <a:cs typeface="Times New Roman" panose="02020603050405020304" pitchFamily="18" charset="0"/>
              </a:rPr>
              <a:t>απομονωμένων απωλειών</a:t>
            </a:r>
            <a:r>
              <a:rPr lang="el-GR" sz="1400" dirty="0">
                <a:latin typeface="Times New Roman" panose="02020603050405020304" pitchFamily="18" charset="0"/>
                <a:cs typeface="Times New Roman" panose="02020603050405020304" pitchFamily="18" charset="0"/>
              </a:rPr>
              <a:t> και απωλειών που συμβαίνουν μέσα σε </a:t>
            </a:r>
            <a:r>
              <a:rPr lang="el-GR" sz="1400" b="1" dirty="0" err="1">
                <a:latin typeface="Times New Roman" panose="02020603050405020304" pitchFamily="18" charset="0"/>
                <a:cs typeface="Times New Roman" panose="02020603050405020304" pitchFamily="18" charset="0"/>
              </a:rPr>
              <a:t>microbursts</a:t>
            </a:r>
            <a:r>
              <a:rPr lang="el-GR" sz="1400" dirty="0">
                <a:latin typeface="Times New Roman" panose="02020603050405020304" pitchFamily="18" charset="0"/>
                <a:cs typeface="Times New Roman" panose="02020603050405020304" pitchFamily="18" charset="0"/>
              </a:rPr>
              <a:t>.</a:t>
            </a:r>
          </a:p>
          <a:p>
            <a:endParaRPr lang="en-US" sz="1400" dirty="0"/>
          </a:p>
        </p:txBody>
      </p:sp>
      <p:pic>
        <p:nvPicPr>
          <p:cNvPr id="5" name="Picture 4" descr="A graph of a number of microbursts&#10;&#10;AI-generated content may be incorrect.">
            <a:extLst>
              <a:ext uri="{FF2B5EF4-FFF2-40B4-BE49-F238E27FC236}">
                <a16:creationId xmlns:a16="http://schemas.microsoft.com/office/drawing/2014/main" id="{F168B13C-76D8-C1EB-CC80-E3E043E17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7073" y="2157412"/>
            <a:ext cx="3171825" cy="2543175"/>
          </a:xfrm>
          <a:prstGeom prst="rect">
            <a:avLst/>
          </a:prstGeom>
        </p:spPr>
      </p:pic>
    </p:spTree>
    <p:extLst>
      <p:ext uri="{BB962C8B-B14F-4D97-AF65-F5344CB8AC3E}">
        <p14:creationId xmlns:p14="http://schemas.microsoft.com/office/powerpoint/2010/main" val="28754374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C2AFA5F-EB7F-4280-BAAD-A7641CA3FF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F0C137AC-9D74-AE90-73FD-02FA4F9DD99A}"/>
              </a:ext>
            </a:extLst>
          </p:cNvPr>
          <p:cNvSpPr>
            <a:spLocks noGrp="1"/>
          </p:cNvSpPr>
          <p:nvPr>
            <p:ph type="title"/>
          </p:nvPr>
        </p:nvSpPr>
        <p:spPr>
          <a:xfrm>
            <a:off x="1600200" y="278296"/>
            <a:ext cx="7638168" cy="1431515"/>
          </a:xfrm>
        </p:spPr>
        <p:txBody>
          <a:bodyPr anchor="b">
            <a:normAutofit/>
          </a:bodyPr>
          <a:lstStyle/>
          <a:p>
            <a:r>
              <a:rPr lang="el-GR" dirty="0" err="1"/>
              <a:t>Εφαρμογες</a:t>
            </a:r>
            <a:r>
              <a:rPr lang="el-GR" dirty="0"/>
              <a:t> του </a:t>
            </a:r>
            <a:r>
              <a:rPr lang="el-GR" dirty="0" err="1"/>
              <a:t>Προτεινομενου</a:t>
            </a:r>
            <a:r>
              <a:rPr lang="el-GR" dirty="0"/>
              <a:t> </a:t>
            </a:r>
            <a:r>
              <a:rPr lang="el-GR" dirty="0" err="1"/>
              <a:t>Πλαισιου</a:t>
            </a:r>
            <a:endParaRPr lang="el-GR" dirty="0"/>
          </a:p>
        </p:txBody>
      </p:sp>
      <p:sp>
        <p:nvSpPr>
          <p:cNvPr id="30" name="Rectangle 29">
            <a:extLst>
              <a:ext uri="{FF2B5EF4-FFF2-40B4-BE49-F238E27FC236}">
                <a16:creationId xmlns:a16="http://schemas.microsoft.com/office/drawing/2014/main" id="{BDAC9C0A-BBCA-4B9F-8ADF-5B2CCB19F9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4913D50D-0054-BFB6-485F-26CB7A96AF61}"/>
              </a:ext>
            </a:extLst>
          </p:cNvPr>
          <p:cNvSpPr>
            <a:spLocks noGrp="1"/>
          </p:cNvSpPr>
          <p:nvPr>
            <p:ph idx="1"/>
          </p:nvPr>
        </p:nvSpPr>
        <p:spPr>
          <a:xfrm>
            <a:off x="1600200" y="1709811"/>
            <a:ext cx="7638168" cy="4381501"/>
          </a:xfrm>
        </p:spPr>
        <p:txBody>
          <a:bodyPr>
            <a:noAutofit/>
          </a:bodyPr>
          <a:lstStyle/>
          <a:p>
            <a:pPr>
              <a:lnSpc>
                <a:spcPct val="120000"/>
              </a:lnSpc>
              <a:buNone/>
            </a:pPr>
            <a:r>
              <a:rPr lang="el-GR" sz="1800" dirty="0">
                <a:latin typeface="Times New Roman" panose="02020603050405020304" pitchFamily="18" charset="0"/>
                <a:cs typeface="Times New Roman" panose="02020603050405020304" pitchFamily="18" charset="0"/>
              </a:rPr>
              <a:t>Η ανάπτυξη ενός ακριβούς μοντέλου κυκλοφορίας έχει σημαντικές πρακτικές εφαρμογές για τη διαχείριση των </a:t>
            </a:r>
            <a:r>
              <a:rPr lang="el-GR" sz="1800" dirty="0" err="1">
                <a:latin typeface="Times New Roman" panose="02020603050405020304" pitchFamily="18" charset="0"/>
                <a:cs typeface="Times New Roman" panose="02020603050405020304" pitchFamily="18" charset="0"/>
              </a:rPr>
              <a:t>Data</a:t>
            </a:r>
            <a:r>
              <a:rPr lang="el-GR" sz="1800" dirty="0">
                <a:latin typeface="Times New Roman" panose="02020603050405020304" pitchFamily="18" charset="0"/>
                <a:cs typeface="Times New Roman" panose="02020603050405020304" pitchFamily="18" charset="0"/>
              </a:rPr>
              <a:t> </a:t>
            </a:r>
            <a:r>
              <a:rPr lang="el-GR" sz="1800" dirty="0" err="1">
                <a:latin typeface="Times New Roman" panose="02020603050405020304" pitchFamily="18" charset="0"/>
                <a:cs typeface="Times New Roman" panose="02020603050405020304" pitchFamily="18" charset="0"/>
              </a:rPr>
              <a:t>Centers</a:t>
            </a:r>
            <a:r>
              <a:rPr lang="el-GR" sz="1800" dirty="0">
                <a:latin typeface="Times New Roman" panose="02020603050405020304" pitchFamily="18" charset="0"/>
                <a:cs typeface="Times New Roman" panose="02020603050405020304" pitchFamily="18" charset="0"/>
              </a:rPr>
              <a:t>.</a:t>
            </a:r>
          </a:p>
          <a:p>
            <a:pPr>
              <a:lnSpc>
                <a:spcPct val="120000"/>
              </a:lnSpc>
              <a:buNone/>
            </a:pPr>
            <a:r>
              <a:rPr lang="el-GR" sz="1800" b="1" dirty="0">
                <a:latin typeface="Times New Roman" panose="02020603050405020304" pitchFamily="18" charset="0"/>
                <a:cs typeface="Times New Roman" panose="02020603050405020304" pitchFamily="18" charset="0"/>
              </a:rPr>
              <a:t>1. Βελτίωση του </a:t>
            </a:r>
            <a:r>
              <a:rPr lang="el-GR" sz="1800" b="1" dirty="0" err="1">
                <a:latin typeface="Times New Roman" panose="02020603050405020304" pitchFamily="18" charset="0"/>
                <a:cs typeface="Times New Roman" panose="02020603050405020304" pitchFamily="18" charset="0"/>
              </a:rPr>
              <a:t>Traffic</a:t>
            </a:r>
            <a:r>
              <a:rPr lang="el-GR" sz="1800" b="1" dirty="0">
                <a:latin typeface="Times New Roman" panose="02020603050405020304" pitchFamily="18" charset="0"/>
                <a:cs typeface="Times New Roman" panose="02020603050405020304" pitchFamily="18" charset="0"/>
              </a:rPr>
              <a:t> </a:t>
            </a:r>
            <a:r>
              <a:rPr lang="el-GR" sz="1800" b="1" dirty="0" err="1">
                <a:latin typeface="Times New Roman" panose="02020603050405020304" pitchFamily="18" charset="0"/>
                <a:cs typeface="Times New Roman" panose="02020603050405020304" pitchFamily="18" charset="0"/>
              </a:rPr>
              <a:t>Engineering</a:t>
            </a:r>
            <a:r>
              <a:rPr lang="el-GR" sz="1800" b="1" dirty="0">
                <a:latin typeface="Times New Roman" panose="02020603050405020304" pitchFamily="18" charset="0"/>
                <a:cs typeface="Times New Roman" panose="02020603050405020304" pitchFamily="18" charset="0"/>
              </a:rPr>
              <a:t> στα </a:t>
            </a:r>
            <a:r>
              <a:rPr lang="el-GR" sz="1800" b="1" dirty="0" err="1">
                <a:latin typeface="Times New Roman" panose="02020603050405020304" pitchFamily="18" charset="0"/>
                <a:cs typeface="Times New Roman" panose="02020603050405020304" pitchFamily="18" charset="0"/>
              </a:rPr>
              <a:t>Data</a:t>
            </a:r>
            <a:r>
              <a:rPr lang="el-GR" sz="1800" b="1" dirty="0">
                <a:latin typeface="Times New Roman" panose="02020603050405020304" pitchFamily="18" charset="0"/>
                <a:cs typeface="Times New Roman" panose="02020603050405020304" pitchFamily="18" charset="0"/>
              </a:rPr>
              <a:t> </a:t>
            </a:r>
            <a:r>
              <a:rPr lang="el-GR" sz="1800" b="1" dirty="0" err="1">
                <a:latin typeface="Times New Roman" panose="02020603050405020304" pitchFamily="18" charset="0"/>
                <a:cs typeface="Times New Roman" panose="02020603050405020304" pitchFamily="18" charset="0"/>
              </a:rPr>
              <a:t>Centers</a:t>
            </a:r>
            <a:endParaRPr lang="el-GR" sz="1800" b="1" dirty="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v"/>
            </a:pPr>
            <a:r>
              <a:rPr lang="el-GR" sz="1800" dirty="0">
                <a:latin typeface="Times New Roman" panose="02020603050405020304" pitchFamily="18" charset="0"/>
                <a:cs typeface="Times New Roman" panose="02020603050405020304" pitchFamily="18" charset="0"/>
              </a:rPr>
              <a:t>Τα ευρήματα της μελέτης μπορούν να χρησιμοποιηθούν για την προσαρμογή των μηχανισμών διαχείρισης κυκλοφορίας (</a:t>
            </a:r>
            <a:r>
              <a:rPr lang="el-GR" sz="1800" dirty="0" err="1">
                <a:latin typeface="Times New Roman" panose="02020603050405020304" pitchFamily="18" charset="0"/>
                <a:cs typeface="Times New Roman" panose="02020603050405020304" pitchFamily="18" charset="0"/>
              </a:rPr>
              <a:t>traffic</a:t>
            </a:r>
            <a:r>
              <a:rPr lang="el-GR" sz="1800" dirty="0">
                <a:latin typeface="Times New Roman" panose="02020603050405020304" pitchFamily="18" charset="0"/>
                <a:cs typeface="Times New Roman" panose="02020603050405020304" pitchFamily="18" charset="0"/>
              </a:rPr>
              <a:t> </a:t>
            </a:r>
            <a:r>
              <a:rPr lang="el-GR" sz="1800" dirty="0" err="1">
                <a:latin typeface="Times New Roman" panose="02020603050405020304" pitchFamily="18" charset="0"/>
                <a:cs typeface="Times New Roman" panose="02020603050405020304" pitchFamily="18" charset="0"/>
              </a:rPr>
              <a:t>engineering</a:t>
            </a:r>
            <a:r>
              <a:rPr lang="el-GR" sz="1800" dirty="0">
                <a:latin typeface="Times New Roman" panose="02020603050405020304" pitchFamily="18" charset="0"/>
                <a:cs typeface="Times New Roman" panose="02020603050405020304" pitchFamily="18" charset="0"/>
              </a:rPr>
              <a:t>) ώστε να ανταποκρίνονται στις ανάγκες των </a:t>
            </a:r>
            <a:r>
              <a:rPr lang="el-GR" sz="1800" dirty="0" err="1">
                <a:latin typeface="Times New Roman" panose="02020603050405020304" pitchFamily="18" charset="0"/>
                <a:cs typeface="Times New Roman" panose="02020603050405020304" pitchFamily="18" charset="0"/>
              </a:rPr>
              <a:t>Data</a:t>
            </a:r>
            <a:r>
              <a:rPr lang="el-GR" sz="1800" dirty="0">
                <a:latin typeface="Times New Roman" panose="02020603050405020304" pitchFamily="18" charset="0"/>
                <a:cs typeface="Times New Roman" panose="02020603050405020304" pitchFamily="18" charset="0"/>
              </a:rPr>
              <a:t> </a:t>
            </a:r>
            <a:r>
              <a:rPr lang="el-GR" sz="1800" dirty="0" err="1">
                <a:latin typeface="Times New Roman" panose="02020603050405020304" pitchFamily="18" charset="0"/>
                <a:cs typeface="Times New Roman" panose="02020603050405020304" pitchFamily="18" charset="0"/>
              </a:rPr>
              <a:t>Centers</a:t>
            </a:r>
            <a:r>
              <a:rPr lang="el-GR" sz="1800" dirty="0">
                <a:latin typeface="Times New Roman" panose="02020603050405020304" pitchFamily="18" charset="0"/>
                <a:cs typeface="Times New Roman" panose="02020603050405020304" pitchFamily="18" charset="0"/>
              </a:rPr>
              <a:t>.</a:t>
            </a:r>
          </a:p>
          <a:p>
            <a:pPr>
              <a:lnSpc>
                <a:spcPct val="120000"/>
              </a:lnSpc>
              <a:buFont typeface="Wingdings" panose="05000000000000000000" pitchFamily="2" charset="2"/>
              <a:buChar char="v"/>
            </a:pPr>
            <a:r>
              <a:rPr lang="el-GR" sz="1800" dirty="0">
                <a:latin typeface="Times New Roman" panose="02020603050405020304" pitchFamily="18" charset="0"/>
                <a:cs typeface="Times New Roman" panose="02020603050405020304" pitchFamily="18" charset="0"/>
              </a:rPr>
              <a:t>Αντί να βασίζονται σε σταθερές πολιτικές, τα </a:t>
            </a:r>
            <a:r>
              <a:rPr lang="el-GR" sz="1800" dirty="0" err="1">
                <a:latin typeface="Times New Roman" panose="02020603050405020304" pitchFamily="18" charset="0"/>
                <a:cs typeface="Times New Roman" panose="02020603050405020304" pitchFamily="18" charset="0"/>
              </a:rPr>
              <a:t>Data</a:t>
            </a:r>
            <a:r>
              <a:rPr lang="el-GR" sz="1800" dirty="0">
                <a:latin typeface="Times New Roman" panose="02020603050405020304" pitchFamily="18" charset="0"/>
                <a:cs typeface="Times New Roman" panose="02020603050405020304" pitchFamily="18" charset="0"/>
              </a:rPr>
              <a:t> </a:t>
            </a:r>
            <a:r>
              <a:rPr lang="el-GR" sz="1800" dirty="0" err="1">
                <a:latin typeface="Times New Roman" panose="02020603050405020304" pitchFamily="18" charset="0"/>
                <a:cs typeface="Times New Roman" panose="02020603050405020304" pitchFamily="18" charset="0"/>
              </a:rPr>
              <a:t>Centers</a:t>
            </a:r>
            <a:r>
              <a:rPr lang="el-GR" sz="1800" dirty="0">
                <a:latin typeface="Times New Roman" panose="02020603050405020304" pitchFamily="18" charset="0"/>
                <a:cs typeface="Times New Roman" panose="02020603050405020304" pitchFamily="18" charset="0"/>
              </a:rPr>
              <a:t> μπορούν να υιοθετήσουν δυναμικές τεχνικές εξισορρόπησης φορτίου, ικανές να αντιμετωπίζουν τις ξαφνικές αυξήσεις κυκλοφορίας.</a:t>
            </a:r>
          </a:p>
          <a:p>
            <a:pPr>
              <a:lnSpc>
                <a:spcPct val="120000"/>
              </a:lnSpc>
              <a:buFont typeface="Wingdings" panose="05000000000000000000" pitchFamily="2" charset="2"/>
              <a:buChar char="v"/>
            </a:pPr>
            <a:r>
              <a:rPr lang="el-GR" sz="1800" dirty="0">
                <a:latin typeface="Times New Roman" panose="02020603050405020304" pitchFamily="18" charset="0"/>
                <a:cs typeface="Times New Roman" panose="02020603050405020304" pitchFamily="18" charset="0"/>
              </a:rPr>
              <a:t>Για παράδειγμα, ένας μηχανισμός </a:t>
            </a:r>
            <a:r>
              <a:rPr lang="el-GR" sz="1800" dirty="0" err="1">
                <a:latin typeface="Times New Roman" panose="02020603050405020304" pitchFamily="18" charset="0"/>
                <a:cs typeface="Times New Roman" panose="02020603050405020304" pitchFamily="18" charset="0"/>
              </a:rPr>
              <a:t>dynamic</a:t>
            </a:r>
            <a:r>
              <a:rPr lang="el-GR" sz="1800" dirty="0">
                <a:latin typeface="Times New Roman" panose="02020603050405020304" pitchFamily="18" charset="0"/>
                <a:cs typeface="Times New Roman" panose="02020603050405020304" pitchFamily="18" charset="0"/>
              </a:rPr>
              <a:t> </a:t>
            </a:r>
            <a:r>
              <a:rPr lang="el-GR" sz="1800" dirty="0" err="1">
                <a:latin typeface="Times New Roman" panose="02020603050405020304" pitchFamily="18" charset="0"/>
                <a:cs typeface="Times New Roman" panose="02020603050405020304" pitchFamily="18" charset="0"/>
              </a:rPr>
              <a:t>rerouting</a:t>
            </a:r>
            <a:r>
              <a:rPr lang="el-GR" sz="1800" dirty="0">
                <a:latin typeface="Times New Roman" panose="02020603050405020304" pitchFamily="18" charset="0"/>
                <a:cs typeface="Times New Roman" panose="02020603050405020304" pitchFamily="18" charset="0"/>
              </a:rPr>
              <a:t> θα μπορούσε να κατανέμει την κυκλοφορία σε εναλλακτικές διαδρομές πριν οι συνδέσεις φτάσουν σε σημείο συμφόρησης.</a:t>
            </a:r>
          </a:p>
          <a:p>
            <a:pPr>
              <a:lnSpc>
                <a:spcPct val="120000"/>
              </a:lnSpc>
            </a:pPr>
            <a:endParaRPr lang="el-GR" sz="1800" dirty="0"/>
          </a:p>
        </p:txBody>
      </p:sp>
      <p:sp>
        <p:nvSpPr>
          <p:cNvPr id="32" name="Rectangle 31">
            <a:extLst>
              <a:ext uri="{FF2B5EF4-FFF2-40B4-BE49-F238E27FC236}">
                <a16:creationId xmlns:a16="http://schemas.microsoft.com/office/drawing/2014/main" id="{1B784CEF-F6B1-4D62-86B3-F2A7C4EFB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1248316" y="2749419"/>
            <a:ext cx="949990" cy="411479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148D47FD-99F1-4F70-A0B7-DE3FFDD3B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8740216" y="2930143"/>
            <a:ext cx="5214382" cy="1269732"/>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7822384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49ED0E3-43EF-0EE0-DB1F-1D38B5D972AD}"/>
              </a:ext>
            </a:extLst>
          </p:cNvPr>
          <p:cNvSpPr>
            <a:spLocks noGrp="1"/>
          </p:cNvSpPr>
          <p:nvPr>
            <p:ph type="title"/>
          </p:nvPr>
        </p:nvSpPr>
        <p:spPr/>
        <p:txBody>
          <a:bodyPr/>
          <a:lstStyle/>
          <a:p>
            <a:r>
              <a:rPr lang="el-GR" sz="3200" dirty="0" err="1"/>
              <a:t>Εφαρμογες</a:t>
            </a:r>
            <a:r>
              <a:rPr lang="el-GR" sz="3200" dirty="0"/>
              <a:t> του </a:t>
            </a:r>
            <a:r>
              <a:rPr lang="el-GR" sz="3200" dirty="0" err="1"/>
              <a:t>Προτεινομενου</a:t>
            </a:r>
            <a:r>
              <a:rPr lang="el-GR" sz="3200" dirty="0"/>
              <a:t> </a:t>
            </a:r>
            <a:r>
              <a:rPr lang="el-GR" sz="3200" dirty="0" err="1"/>
              <a:t>Πλαισιου</a:t>
            </a:r>
            <a:endParaRPr lang="el-GR" dirty="0"/>
          </a:p>
        </p:txBody>
      </p:sp>
      <p:sp>
        <p:nvSpPr>
          <p:cNvPr id="3" name="Θέση περιεχομένου 2">
            <a:extLst>
              <a:ext uri="{FF2B5EF4-FFF2-40B4-BE49-F238E27FC236}">
                <a16:creationId xmlns:a16="http://schemas.microsoft.com/office/drawing/2014/main" id="{3F4A8CDE-E43E-1D5D-F8C5-DEBA35170E9C}"/>
              </a:ext>
            </a:extLst>
          </p:cNvPr>
          <p:cNvSpPr>
            <a:spLocks noGrp="1"/>
          </p:cNvSpPr>
          <p:nvPr>
            <p:ph idx="1"/>
          </p:nvPr>
        </p:nvSpPr>
        <p:spPr/>
        <p:txBody>
          <a:bodyPr/>
          <a:lstStyle/>
          <a:p>
            <a:pPr>
              <a:buNone/>
            </a:pPr>
            <a:r>
              <a:rPr lang="el-GR" b="1" dirty="0">
                <a:latin typeface="Times New Roman" panose="02020603050405020304" pitchFamily="18" charset="0"/>
                <a:cs typeface="Times New Roman" panose="02020603050405020304" pitchFamily="18" charset="0"/>
              </a:rPr>
              <a:t>2. Σχεδίαση πιο ρεαλιστικών </a:t>
            </a:r>
            <a:r>
              <a:rPr lang="el-GR" b="1" dirty="0" err="1">
                <a:latin typeface="Times New Roman" panose="02020603050405020304" pitchFamily="18" charset="0"/>
                <a:cs typeface="Times New Roman" panose="02020603050405020304" pitchFamily="18" charset="0"/>
              </a:rPr>
              <a:t>traffic</a:t>
            </a:r>
            <a:r>
              <a:rPr lang="el-GR" b="1" dirty="0">
                <a:latin typeface="Times New Roman" panose="02020603050405020304" pitchFamily="18" charset="0"/>
                <a:cs typeface="Times New Roman" panose="02020603050405020304" pitchFamily="18" charset="0"/>
              </a:rPr>
              <a:t> </a:t>
            </a:r>
            <a:r>
              <a:rPr lang="el-GR" b="1" dirty="0" err="1">
                <a:latin typeface="Times New Roman" panose="02020603050405020304" pitchFamily="18" charset="0"/>
                <a:cs typeface="Times New Roman" panose="02020603050405020304" pitchFamily="18" charset="0"/>
              </a:rPr>
              <a:t>generators</a:t>
            </a:r>
            <a:endParaRPr lang="el-GR"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l-GR" dirty="0">
                <a:latin typeface="Times New Roman" panose="02020603050405020304" pitchFamily="18" charset="0"/>
                <a:cs typeface="Times New Roman" panose="02020603050405020304" pitchFamily="18" charset="0"/>
              </a:rPr>
              <a:t>Η βελτιωμένη κατανόηση της κυκλοφορίας επιτρέπει τη δημιουργία πιο ρεαλιστικών προσομοιώσεων για την αξιολόγηση νέων δικτυακών αρχιτεκτονικών στα </a:t>
            </a:r>
            <a:r>
              <a:rPr lang="el-GR" dirty="0" err="1">
                <a:latin typeface="Times New Roman" panose="02020603050405020304" pitchFamily="18" charset="0"/>
                <a:cs typeface="Times New Roman" panose="02020603050405020304" pitchFamily="18" charset="0"/>
              </a:rPr>
              <a:t>Data</a:t>
            </a:r>
            <a:r>
              <a:rPr lang="el-GR" dirty="0">
                <a:latin typeface="Times New Roman" panose="02020603050405020304" pitchFamily="18" charset="0"/>
                <a:cs typeface="Times New Roman" panose="02020603050405020304" pitchFamily="18" charset="0"/>
              </a:rPr>
              <a:t> </a:t>
            </a:r>
            <a:r>
              <a:rPr lang="el-GR" dirty="0" err="1">
                <a:latin typeface="Times New Roman" panose="02020603050405020304" pitchFamily="18" charset="0"/>
                <a:cs typeface="Times New Roman" panose="02020603050405020304" pitchFamily="18" charset="0"/>
              </a:rPr>
              <a:t>Centers</a:t>
            </a:r>
            <a:r>
              <a:rPr lang="el-GR" dirty="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l-GR" dirty="0">
                <a:latin typeface="Times New Roman" panose="02020603050405020304" pitchFamily="18" charset="0"/>
                <a:cs typeface="Times New Roman" panose="02020603050405020304" pitchFamily="18" charset="0"/>
              </a:rPr>
              <a:t>Οι προτεινόμενοι </a:t>
            </a:r>
            <a:r>
              <a:rPr lang="el-GR" dirty="0" err="1">
                <a:latin typeface="Times New Roman" panose="02020603050405020304" pitchFamily="18" charset="0"/>
                <a:cs typeface="Times New Roman" panose="02020603050405020304" pitchFamily="18" charset="0"/>
              </a:rPr>
              <a:t>traffic</a:t>
            </a:r>
            <a:r>
              <a:rPr lang="el-GR" dirty="0">
                <a:latin typeface="Times New Roman" panose="02020603050405020304" pitchFamily="18" charset="0"/>
                <a:cs typeface="Times New Roman" panose="02020603050405020304" pitchFamily="18" charset="0"/>
              </a:rPr>
              <a:t> </a:t>
            </a:r>
            <a:r>
              <a:rPr lang="el-GR" dirty="0" err="1">
                <a:latin typeface="Times New Roman" panose="02020603050405020304" pitchFamily="18" charset="0"/>
                <a:cs typeface="Times New Roman" panose="02020603050405020304" pitchFamily="18" charset="0"/>
              </a:rPr>
              <a:t>generators</a:t>
            </a:r>
            <a:r>
              <a:rPr lang="el-GR" dirty="0">
                <a:latin typeface="Times New Roman" panose="02020603050405020304" pitchFamily="18" charset="0"/>
                <a:cs typeface="Times New Roman" panose="02020603050405020304" pitchFamily="18" charset="0"/>
              </a:rPr>
              <a:t> βασίζονται στα πραγματικά χαρακτηριστικά της κίνησης, σε αντίθεση με τα παλιά μοντέλα που βασίζονταν σε απλοποιημένες παραδοχές (π.χ. σταθερή ροή δεδομένων).</a:t>
            </a:r>
          </a:p>
          <a:p>
            <a:pPr>
              <a:buFont typeface="Wingdings" panose="05000000000000000000" pitchFamily="2" charset="2"/>
              <a:buChar char="v"/>
            </a:pPr>
            <a:r>
              <a:rPr lang="el-GR" dirty="0">
                <a:latin typeface="Times New Roman" panose="02020603050405020304" pitchFamily="18" charset="0"/>
                <a:cs typeface="Times New Roman" panose="02020603050405020304" pitchFamily="18" charset="0"/>
              </a:rPr>
              <a:t>Αυτές οι προσομοιώσεις μπορούν να χρησιμοποιηθούν για τη δοκιμή νέων τεχνολογιών, όπως Software-</a:t>
            </a:r>
            <a:r>
              <a:rPr lang="el-GR" dirty="0" err="1">
                <a:latin typeface="Times New Roman" panose="02020603050405020304" pitchFamily="18" charset="0"/>
                <a:cs typeface="Times New Roman" panose="02020603050405020304" pitchFamily="18" charset="0"/>
              </a:rPr>
              <a:t>Defined</a:t>
            </a:r>
            <a:r>
              <a:rPr lang="el-GR" dirty="0">
                <a:latin typeface="Times New Roman" panose="02020603050405020304" pitchFamily="18" charset="0"/>
                <a:cs typeface="Times New Roman" panose="02020603050405020304" pitchFamily="18" charset="0"/>
              </a:rPr>
              <a:t> </a:t>
            </a:r>
            <a:r>
              <a:rPr lang="el-GR" dirty="0" err="1">
                <a:latin typeface="Times New Roman" panose="02020603050405020304" pitchFamily="18" charset="0"/>
                <a:cs typeface="Times New Roman" panose="02020603050405020304" pitchFamily="18" charset="0"/>
              </a:rPr>
              <a:t>Networking</a:t>
            </a:r>
            <a:r>
              <a:rPr lang="el-GR" dirty="0">
                <a:latin typeface="Times New Roman" panose="02020603050405020304" pitchFamily="18" charset="0"/>
                <a:cs typeface="Times New Roman" panose="02020603050405020304" pitchFamily="18" charset="0"/>
              </a:rPr>
              <a:t> (SDN) και εξελιγμένες αρχιτεκτονικές δικτύων </a:t>
            </a:r>
            <a:r>
              <a:rPr lang="el-GR" dirty="0" err="1">
                <a:latin typeface="Times New Roman" panose="02020603050405020304" pitchFamily="18" charset="0"/>
                <a:cs typeface="Times New Roman" panose="02020603050405020304" pitchFamily="18" charset="0"/>
              </a:rPr>
              <a:t>Data</a:t>
            </a:r>
            <a:r>
              <a:rPr lang="el-GR" dirty="0">
                <a:latin typeface="Times New Roman" panose="02020603050405020304" pitchFamily="18" charset="0"/>
                <a:cs typeface="Times New Roman" panose="02020603050405020304" pitchFamily="18" charset="0"/>
              </a:rPr>
              <a:t> </a:t>
            </a:r>
            <a:r>
              <a:rPr lang="el-GR" dirty="0" err="1">
                <a:latin typeface="Times New Roman" panose="02020603050405020304" pitchFamily="18" charset="0"/>
                <a:cs typeface="Times New Roman" panose="02020603050405020304" pitchFamily="18" charset="0"/>
              </a:rPr>
              <a:t>Centers</a:t>
            </a:r>
            <a:r>
              <a:rPr lang="el-GR" dirty="0">
                <a:latin typeface="Times New Roman" panose="02020603050405020304" pitchFamily="18" charset="0"/>
                <a:cs typeface="Times New Roman" panose="02020603050405020304" pitchFamily="18" charset="0"/>
              </a:rPr>
              <a:t>.</a:t>
            </a:r>
          </a:p>
          <a:p>
            <a:endParaRPr lang="el-GR" dirty="0"/>
          </a:p>
        </p:txBody>
      </p:sp>
    </p:spTree>
    <p:extLst>
      <p:ext uri="{BB962C8B-B14F-4D97-AF65-F5344CB8AC3E}">
        <p14:creationId xmlns:p14="http://schemas.microsoft.com/office/powerpoint/2010/main" val="41354394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47F96AAC-1B7F-4BC0-A366-059066805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3344B5DA-D9AA-72EA-E943-88247D1174CD}"/>
              </a:ext>
            </a:extLst>
          </p:cNvPr>
          <p:cNvSpPr>
            <a:spLocks noGrp="1"/>
          </p:cNvSpPr>
          <p:nvPr>
            <p:ph type="title"/>
          </p:nvPr>
        </p:nvSpPr>
        <p:spPr>
          <a:xfrm>
            <a:off x="952910" y="268053"/>
            <a:ext cx="3516260" cy="840632"/>
          </a:xfrm>
        </p:spPr>
        <p:txBody>
          <a:bodyPr>
            <a:noAutofit/>
          </a:bodyPr>
          <a:lstStyle/>
          <a:p>
            <a:r>
              <a:rPr lang="el-GR" sz="2400" dirty="0" err="1"/>
              <a:t>Συμπερασματα</a:t>
            </a:r>
            <a:r>
              <a:rPr lang="el-GR" sz="2400" dirty="0"/>
              <a:t> της </a:t>
            </a:r>
            <a:r>
              <a:rPr lang="el-GR" sz="2400" dirty="0" err="1"/>
              <a:t>Μελετης</a:t>
            </a:r>
            <a:endParaRPr lang="el-GR" sz="2400" dirty="0"/>
          </a:p>
        </p:txBody>
      </p:sp>
      <p:sp>
        <p:nvSpPr>
          <p:cNvPr id="3" name="Θέση περιεχομένου 2">
            <a:extLst>
              <a:ext uri="{FF2B5EF4-FFF2-40B4-BE49-F238E27FC236}">
                <a16:creationId xmlns:a16="http://schemas.microsoft.com/office/drawing/2014/main" id="{591C3A65-BAF9-C8DC-E8CB-0FD416AF4204}"/>
              </a:ext>
            </a:extLst>
          </p:cNvPr>
          <p:cNvSpPr>
            <a:spLocks noGrp="1"/>
          </p:cNvSpPr>
          <p:nvPr>
            <p:ph idx="1"/>
          </p:nvPr>
        </p:nvSpPr>
        <p:spPr>
          <a:xfrm>
            <a:off x="952909" y="1164178"/>
            <a:ext cx="5636733" cy="5425769"/>
          </a:xfrm>
        </p:spPr>
        <p:txBody>
          <a:bodyPr>
            <a:normAutofit/>
          </a:bodyPr>
          <a:lstStyle/>
          <a:p>
            <a:pPr>
              <a:lnSpc>
                <a:spcPct val="120000"/>
              </a:lnSpc>
              <a:buNone/>
            </a:pPr>
            <a:r>
              <a:rPr lang="el-GR" sz="1400" dirty="0">
                <a:latin typeface="Times New Roman" panose="02020603050405020304" pitchFamily="18" charset="0"/>
                <a:cs typeface="Times New Roman" panose="02020603050405020304" pitchFamily="18" charset="0"/>
              </a:rPr>
              <a:t>Η ανάλυση των χαρακτηριστικών της κυκλοφορίας στα </a:t>
            </a:r>
            <a:r>
              <a:rPr lang="el-GR" sz="1400" dirty="0" err="1">
                <a:latin typeface="Times New Roman" panose="02020603050405020304" pitchFamily="18" charset="0"/>
                <a:cs typeface="Times New Roman" panose="02020603050405020304" pitchFamily="18" charset="0"/>
              </a:rPr>
              <a:t>Data</a:t>
            </a:r>
            <a:r>
              <a:rPr lang="el-GR" sz="1400" dirty="0">
                <a:latin typeface="Times New Roman" panose="02020603050405020304" pitchFamily="18" charset="0"/>
                <a:cs typeface="Times New Roman" panose="02020603050405020304" pitchFamily="18" charset="0"/>
              </a:rPr>
              <a:t> </a:t>
            </a:r>
            <a:r>
              <a:rPr lang="el-GR" sz="1400" dirty="0" err="1">
                <a:latin typeface="Times New Roman" panose="02020603050405020304" pitchFamily="18" charset="0"/>
                <a:cs typeface="Times New Roman" panose="02020603050405020304" pitchFamily="18" charset="0"/>
              </a:rPr>
              <a:t>Centers</a:t>
            </a:r>
            <a:r>
              <a:rPr lang="el-GR" sz="1400" dirty="0">
                <a:latin typeface="Times New Roman" panose="02020603050405020304" pitchFamily="18" charset="0"/>
                <a:cs typeface="Times New Roman" panose="02020603050405020304" pitchFamily="18" charset="0"/>
              </a:rPr>
              <a:t> οδήγησε σε πολύτιμα συμπεράσματα που μπορούν να χρησιμοποιηθούν για τη βελτίωση των αρχιτεκτονικών και των μηχανισμών διαχείρισης της κίνησης.</a:t>
            </a:r>
          </a:p>
          <a:p>
            <a:pPr>
              <a:lnSpc>
                <a:spcPct val="120000"/>
              </a:lnSpc>
              <a:buNone/>
            </a:pPr>
            <a:r>
              <a:rPr lang="el-GR" sz="1400" b="1" dirty="0">
                <a:latin typeface="Times New Roman" panose="02020603050405020304" pitchFamily="18" charset="0"/>
                <a:cs typeface="Times New Roman" panose="02020603050405020304" pitchFamily="18" charset="0"/>
              </a:rPr>
              <a:t>1. Βασικά Ευρήματα της Μελέτης</a:t>
            </a:r>
          </a:p>
          <a:p>
            <a:pPr>
              <a:lnSpc>
                <a:spcPct val="120000"/>
              </a:lnSpc>
              <a:buFont typeface="Wingdings" panose="05000000000000000000" pitchFamily="2" charset="2"/>
              <a:buChar char="v"/>
            </a:pPr>
            <a:r>
              <a:rPr lang="el-GR" sz="1400" b="1" dirty="0">
                <a:latin typeface="Times New Roman" panose="02020603050405020304" pitchFamily="18" charset="0"/>
                <a:cs typeface="Times New Roman" panose="02020603050405020304" pitchFamily="18" charset="0"/>
              </a:rPr>
              <a:t>Η κυκλοφορία στα </a:t>
            </a:r>
            <a:r>
              <a:rPr lang="el-GR" sz="1400" b="1" dirty="0" err="1">
                <a:latin typeface="Times New Roman" panose="02020603050405020304" pitchFamily="18" charset="0"/>
                <a:cs typeface="Times New Roman" panose="02020603050405020304" pitchFamily="18" charset="0"/>
              </a:rPr>
              <a:t>Data</a:t>
            </a:r>
            <a:r>
              <a:rPr lang="el-GR" sz="1400" b="1" dirty="0">
                <a:latin typeface="Times New Roman" panose="02020603050405020304" pitchFamily="18" charset="0"/>
                <a:cs typeface="Times New Roman" panose="02020603050405020304" pitchFamily="18" charset="0"/>
              </a:rPr>
              <a:t> </a:t>
            </a:r>
            <a:r>
              <a:rPr lang="el-GR" sz="1400" b="1" dirty="0" err="1">
                <a:latin typeface="Times New Roman" panose="02020603050405020304" pitchFamily="18" charset="0"/>
                <a:cs typeface="Times New Roman" panose="02020603050405020304" pitchFamily="18" charset="0"/>
              </a:rPr>
              <a:t>Centers</a:t>
            </a:r>
            <a:r>
              <a:rPr lang="el-GR" sz="1400" b="1" dirty="0">
                <a:latin typeface="Times New Roman" panose="02020603050405020304" pitchFamily="18" charset="0"/>
                <a:cs typeface="Times New Roman" panose="02020603050405020304" pitchFamily="18" charset="0"/>
              </a:rPr>
              <a:t> δεν είναι ομοιόμορφη</a:t>
            </a:r>
            <a:r>
              <a:rPr lang="el-GR" sz="1400" dirty="0">
                <a:latin typeface="Times New Roman" panose="02020603050405020304" pitchFamily="18" charset="0"/>
                <a:cs typeface="Times New Roman" panose="02020603050405020304" pitchFamily="18" charset="0"/>
              </a:rPr>
              <a:t>:</a:t>
            </a:r>
            <a:br>
              <a:rPr lang="el-GR" sz="1400" dirty="0">
                <a:latin typeface="Times New Roman" panose="02020603050405020304" pitchFamily="18" charset="0"/>
                <a:cs typeface="Times New Roman" panose="02020603050405020304" pitchFamily="18" charset="0"/>
              </a:rPr>
            </a:br>
            <a:r>
              <a:rPr lang="el-GR" sz="1400" dirty="0">
                <a:latin typeface="Times New Roman" panose="02020603050405020304" pitchFamily="18" charset="0"/>
                <a:cs typeface="Times New Roman" panose="02020603050405020304" pitchFamily="18" charset="0"/>
              </a:rPr>
              <a:t>Οι περισσότερες συνδέσεις έχουν χαμηλή ή μέτρια χρήση, ενώ οι συνδέσεις στον πυρήνα του δικτύου (</a:t>
            </a:r>
            <a:r>
              <a:rPr lang="el-GR" sz="1400" dirty="0" err="1">
                <a:latin typeface="Times New Roman" panose="02020603050405020304" pitchFamily="18" charset="0"/>
                <a:cs typeface="Times New Roman" panose="02020603050405020304" pitchFamily="18" charset="0"/>
              </a:rPr>
              <a:t>core</a:t>
            </a:r>
            <a:r>
              <a:rPr lang="el-GR" sz="1400" dirty="0">
                <a:latin typeface="Times New Roman" panose="02020603050405020304" pitchFamily="18" charset="0"/>
                <a:cs typeface="Times New Roman" panose="02020603050405020304" pitchFamily="18" charset="0"/>
              </a:rPr>
              <a:t>) είναι ιδιαίτερα επιβαρυμένες.</a:t>
            </a:r>
          </a:p>
          <a:p>
            <a:pPr>
              <a:lnSpc>
                <a:spcPct val="120000"/>
              </a:lnSpc>
              <a:buFont typeface="Wingdings" panose="05000000000000000000" pitchFamily="2" charset="2"/>
              <a:buChar char="v"/>
            </a:pPr>
            <a:r>
              <a:rPr lang="el-GR" sz="1400" b="1" dirty="0">
                <a:latin typeface="Times New Roman" panose="02020603050405020304" pitchFamily="18" charset="0"/>
                <a:cs typeface="Times New Roman" panose="02020603050405020304" pitchFamily="18" charset="0"/>
              </a:rPr>
              <a:t>Οι απώλειες πακέτων είναι υψηλότερες στις </a:t>
            </a:r>
            <a:r>
              <a:rPr lang="el-GR" sz="1400" b="1" dirty="0" err="1">
                <a:latin typeface="Times New Roman" panose="02020603050405020304" pitchFamily="18" charset="0"/>
                <a:cs typeface="Times New Roman" panose="02020603050405020304" pitchFamily="18" charset="0"/>
              </a:rPr>
              <a:t>edge</a:t>
            </a:r>
            <a:r>
              <a:rPr lang="el-GR" sz="1400" b="1" dirty="0">
                <a:latin typeface="Times New Roman" panose="02020603050405020304" pitchFamily="18" charset="0"/>
                <a:cs typeface="Times New Roman" panose="02020603050405020304" pitchFamily="18" charset="0"/>
              </a:rPr>
              <a:t> συνδέσεις</a:t>
            </a:r>
            <a:r>
              <a:rPr lang="el-GR" sz="1400" dirty="0">
                <a:latin typeface="Times New Roman" panose="02020603050405020304" pitchFamily="18" charset="0"/>
                <a:cs typeface="Times New Roman" panose="02020603050405020304" pitchFamily="18" charset="0"/>
              </a:rPr>
              <a:t>:</a:t>
            </a:r>
            <a:br>
              <a:rPr lang="el-GR" sz="1400" dirty="0">
                <a:latin typeface="Times New Roman" panose="02020603050405020304" pitchFamily="18" charset="0"/>
                <a:cs typeface="Times New Roman" panose="02020603050405020304" pitchFamily="18" charset="0"/>
              </a:rPr>
            </a:br>
            <a:r>
              <a:rPr lang="el-GR" sz="1400" dirty="0">
                <a:latin typeface="Times New Roman" panose="02020603050405020304" pitchFamily="18" charset="0"/>
                <a:cs typeface="Times New Roman" panose="02020603050405020304" pitchFamily="18" charset="0"/>
              </a:rPr>
              <a:t>Η μεγαλύτερη συμφόρηση εμφανίζεται στις συνδέσεις κοντά στους διακομιστές, γεγονός που επηρεάζει την απόδοση των εφαρμογών.</a:t>
            </a:r>
          </a:p>
          <a:p>
            <a:pPr>
              <a:lnSpc>
                <a:spcPct val="120000"/>
              </a:lnSpc>
              <a:buFont typeface="Wingdings" panose="05000000000000000000" pitchFamily="2" charset="2"/>
              <a:buChar char="v"/>
            </a:pPr>
            <a:r>
              <a:rPr lang="el-GR" sz="1400" b="1" dirty="0">
                <a:latin typeface="Times New Roman" panose="02020603050405020304" pitchFamily="18" charset="0"/>
                <a:cs typeface="Times New Roman" panose="02020603050405020304" pitchFamily="18" charset="0"/>
              </a:rPr>
              <a:t>Υπάρχει έντονη παρουσία ON-OFF μοτίβων στην κίνηση</a:t>
            </a:r>
            <a:r>
              <a:rPr lang="el-GR" sz="1400" dirty="0">
                <a:latin typeface="Times New Roman" panose="02020603050405020304" pitchFamily="18" charset="0"/>
                <a:cs typeface="Times New Roman" panose="02020603050405020304" pitchFamily="18" charset="0"/>
              </a:rPr>
              <a:t>:</a:t>
            </a:r>
            <a:br>
              <a:rPr lang="el-GR" sz="1400" dirty="0">
                <a:latin typeface="Times New Roman" panose="02020603050405020304" pitchFamily="18" charset="0"/>
                <a:cs typeface="Times New Roman" panose="02020603050405020304" pitchFamily="18" charset="0"/>
              </a:rPr>
            </a:br>
            <a:r>
              <a:rPr lang="el-GR" sz="1400" dirty="0">
                <a:latin typeface="Times New Roman" panose="02020603050405020304" pitchFamily="18" charset="0"/>
                <a:cs typeface="Times New Roman" panose="02020603050405020304" pitchFamily="18" charset="0"/>
              </a:rPr>
              <a:t>Η κίνηση στα </a:t>
            </a:r>
            <a:r>
              <a:rPr lang="el-GR" sz="1400" dirty="0" err="1">
                <a:latin typeface="Times New Roman" panose="02020603050405020304" pitchFamily="18" charset="0"/>
                <a:cs typeface="Times New Roman" panose="02020603050405020304" pitchFamily="18" charset="0"/>
              </a:rPr>
              <a:t>Data</a:t>
            </a:r>
            <a:r>
              <a:rPr lang="el-GR" sz="1400" dirty="0">
                <a:latin typeface="Times New Roman" panose="02020603050405020304" pitchFamily="18" charset="0"/>
                <a:cs typeface="Times New Roman" panose="02020603050405020304" pitchFamily="18" charset="0"/>
              </a:rPr>
              <a:t> </a:t>
            </a:r>
            <a:r>
              <a:rPr lang="el-GR" sz="1400" dirty="0" err="1">
                <a:latin typeface="Times New Roman" panose="02020603050405020304" pitchFamily="18" charset="0"/>
                <a:cs typeface="Times New Roman" panose="02020603050405020304" pitchFamily="18" charset="0"/>
              </a:rPr>
              <a:t>Centers</a:t>
            </a:r>
            <a:r>
              <a:rPr lang="el-GR" sz="1400" dirty="0">
                <a:latin typeface="Times New Roman" panose="02020603050405020304" pitchFamily="18" charset="0"/>
                <a:cs typeface="Times New Roman" panose="02020603050405020304" pitchFamily="18" charset="0"/>
              </a:rPr>
              <a:t> δεν είναι συνεχής αλλά εκδηλώνεται με εκρήξεις δεδομένων (</a:t>
            </a:r>
            <a:r>
              <a:rPr lang="el-GR" sz="1400" dirty="0" err="1">
                <a:latin typeface="Times New Roman" panose="02020603050405020304" pitchFamily="18" charset="0"/>
                <a:cs typeface="Times New Roman" panose="02020603050405020304" pitchFamily="18" charset="0"/>
              </a:rPr>
              <a:t>bursts</a:t>
            </a:r>
            <a:r>
              <a:rPr lang="el-GR" sz="1400" dirty="0">
                <a:latin typeface="Times New Roman" panose="02020603050405020304" pitchFamily="18" charset="0"/>
                <a:cs typeface="Times New Roman" panose="02020603050405020304" pitchFamily="18" charset="0"/>
              </a:rPr>
              <a:t>), δημιουργώντας προσωρινές </a:t>
            </a:r>
            <a:r>
              <a:rPr lang="el-GR" sz="1400" dirty="0" err="1">
                <a:latin typeface="Times New Roman" panose="02020603050405020304" pitchFamily="18" charset="0"/>
                <a:cs typeface="Times New Roman" panose="02020603050405020304" pitchFamily="18" charset="0"/>
              </a:rPr>
              <a:t>συμφόρησεις</a:t>
            </a:r>
            <a:r>
              <a:rPr lang="el-GR" sz="1400" dirty="0">
                <a:latin typeface="Times New Roman" panose="02020603050405020304" pitchFamily="18" charset="0"/>
                <a:cs typeface="Times New Roman" panose="02020603050405020304" pitchFamily="18" charset="0"/>
              </a:rPr>
              <a:t>.</a:t>
            </a:r>
          </a:p>
          <a:p>
            <a:pPr>
              <a:lnSpc>
                <a:spcPct val="120000"/>
              </a:lnSpc>
              <a:buFont typeface="Wingdings" panose="05000000000000000000" pitchFamily="2" charset="2"/>
              <a:buChar char="v"/>
            </a:pPr>
            <a:r>
              <a:rPr lang="el-GR" sz="1400" b="1" dirty="0">
                <a:latin typeface="Times New Roman" panose="02020603050405020304" pitchFamily="18" charset="0"/>
                <a:cs typeface="Times New Roman" panose="02020603050405020304" pitchFamily="18" charset="0"/>
              </a:rPr>
              <a:t>Το υπάρχον </a:t>
            </a:r>
            <a:r>
              <a:rPr lang="el-GR" sz="1400" b="1" dirty="0" err="1">
                <a:latin typeface="Times New Roman" panose="02020603050405020304" pitchFamily="18" charset="0"/>
                <a:cs typeface="Times New Roman" panose="02020603050405020304" pitchFamily="18" charset="0"/>
              </a:rPr>
              <a:t>traffic</a:t>
            </a:r>
            <a:r>
              <a:rPr lang="el-GR" sz="1400" b="1" dirty="0">
                <a:latin typeface="Times New Roman" panose="02020603050405020304" pitchFamily="18" charset="0"/>
                <a:cs typeface="Times New Roman" panose="02020603050405020304" pitchFamily="18" charset="0"/>
              </a:rPr>
              <a:t> </a:t>
            </a:r>
            <a:r>
              <a:rPr lang="el-GR" sz="1400" b="1" dirty="0" err="1">
                <a:latin typeface="Times New Roman" panose="02020603050405020304" pitchFamily="18" charset="0"/>
                <a:cs typeface="Times New Roman" panose="02020603050405020304" pitchFamily="18" charset="0"/>
              </a:rPr>
              <a:t>engineering</a:t>
            </a:r>
            <a:r>
              <a:rPr lang="el-GR" sz="1400" b="1" dirty="0">
                <a:latin typeface="Times New Roman" panose="02020603050405020304" pitchFamily="18" charset="0"/>
                <a:cs typeface="Times New Roman" panose="02020603050405020304" pitchFamily="18" charset="0"/>
              </a:rPr>
              <a:t> δεν είναι αποτελεσματικό</a:t>
            </a:r>
            <a:r>
              <a:rPr lang="el-GR" sz="1400" dirty="0">
                <a:latin typeface="Times New Roman" panose="02020603050405020304" pitchFamily="18" charset="0"/>
                <a:cs typeface="Times New Roman" panose="02020603050405020304" pitchFamily="18" charset="0"/>
              </a:rPr>
              <a:t>:</a:t>
            </a:r>
            <a:br>
              <a:rPr lang="el-GR" sz="1400" dirty="0">
                <a:latin typeface="Times New Roman" panose="02020603050405020304" pitchFamily="18" charset="0"/>
                <a:cs typeface="Times New Roman" panose="02020603050405020304" pitchFamily="18" charset="0"/>
              </a:rPr>
            </a:br>
            <a:r>
              <a:rPr lang="el-GR" sz="1400" dirty="0">
                <a:latin typeface="Times New Roman" panose="02020603050405020304" pitchFamily="18" charset="0"/>
                <a:cs typeface="Times New Roman" panose="02020603050405020304" pitchFamily="18" charset="0"/>
              </a:rPr>
              <a:t>Οι παραδοσιακές τεχνικές διαχείρισης της κυκλοφορίας δεν μπορούν να ανταποκριθούν γρήγορα στις απότομες αλλαγές στη χρήση των συνδέσεων.</a:t>
            </a:r>
          </a:p>
          <a:p>
            <a:pPr>
              <a:lnSpc>
                <a:spcPct val="120000"/>
              </a:lnSpc>
            </a:pPr>
            <a:endParaRPr lang="el-GR" sz="1400" dirty="0"/>
          </a:p>
        </p:txBody>
      </p:sp>
      <p:sp>
        <p:nvSpPr>
          <p:cNvPr id="2057" name="Rectangle 6">
            <a:extLst>
              <a:ext uri="{FF2B5EF4-FFF2-40B4-BE49-F238E27FC236}">
                <a16:creationId xmlns:a16="http://schemas.microsoft.com/office/drawing/2014/main" id="{9F77B9A0-807D-4595-AC22-A6DCC4CA15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8446418" y="2940297"/>
            <a:ext cx="3745582" cy="3917703"/>
          </a:xfrm>
          <a:custGeom>
            <a:avLst/>
            <a:gdLst>
              <a:gd name="connsiteX0" fmla="*/ 0 w 1369143"/>
              <a:gd name="connsiteY0" fmla="*/ 0 h 1229160"/>
              <a:gd name="connsiteX1" fmla="*/ 1369143 w 1369143"/>
              <a:gd name="connsiteY1" fmla="*/ 0 h 1229160"/>
              <a:gd name="connsiteX2" fmla="*/ 1369143 w 1369143"/>
              <a:gd name="connsiteY2" fmla="*/ 1229160 h 1229160"/>
              <a:gd name="connsiteX3" fmla="*/ 0 w 1369143"/>
              <a:gd name="connsiteY3" fmla="*/ 1229160 h 1229160"/>
              <a:gd name="connsiteX4" fmla="*/ 0 w 1369143"/>
              <a:gd name="connsiteY4" fmla="*/ 0 h 1229160"/>
              <a:gd name="connsiteX0" fmla="*/ 0 w 1369143"/>
              <a:gd name="connsiteY0" fmla="*/ 0 h 1229160"/>
              <a:gd name="connsiteX1" fmla="*/ 1369143 w 1369143"/>
              <a:gd name="connsiteY1" fmla="*/ 0 h 1229160"/>
              <a:gd name="connsiteX2" fmla="*/ 0 w 1369143"/>
              <a:gd name="connsiteY2" fmla="*/ 1229160 h 1229160"/>
              <a:gd name="connsiteX3" fmla="*/ 0 w 1369143"/>
              <a:gd name="connsiteY3" fmla="*/ 0 h 1229160"/>
            </a:gdLst>
            <a:ahLst/>
            <a:cxnLst>
              <a:cxn ang="0">
                <a:pos x="connsiteX0" y="connsiteY0"/>
              </a:cxn>
              <a:cxn ang="0">
                <a:pos x="connsiteX1" y="connsiteY1"/>
              </a:cxn>
              <a:cxn ang="0">
                <a:pos x="connsiteX2" y="connsiteY2"/>
              </a:cxn>
              <a:cxn ang="0">
                <a:pos x="connsiteX3" y="connsiteY3"/>
              </a:cxn>
            </a:cxnLst>
            <a:rect l="l" t="t" r="r" b="b"/>
            <a:pathLst>
              <a:path w="1369143" h="1229160">
                <a:moveTo>
                  <a:pt x="0" y="0"/>
                </a:moveTo>
                <a:lnTo>
                  <a:pt x="1369143" y="0"/>
                </a:lnTo>
                <a:lnTo>
                  <a:pt x="0" y="1229160"/>
                </a:lnTo>
                <a:lnTo>
                  <a:pt x="0" y="0"/>
                </a:lnTo>
                <a:close/>
              </a:path>
            </a:pathLst>
          </a:custGeom>
          <a:solidFill>
            <a:schemeClr val="accent1">
              <a:lumMod val="20000"/>
              <a:lumOff val="8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Freeform: Shape 2058">
            <a:extLst>
              <a:ext uri="{FF2B5EF4-FFF2-40B4-BE49-F238E27FC236}">
                <a16:creationId xmlns:a16="http://schemas.microsoft.com/office/drawing/2014/main" id="{8352FE65-755A-4551-AF5F-AE64CB963A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36575" y="2940297"/>
            <a:ext cx="3745582" cy="3917703"/>
          </a:xfrm>
          <a:custGeom>
            <a:avLst/>
            <a:gdLst>
              <a:gd name="connsiteX0" fmla="*/ 3745582 w 3745582"/>
              <a:gd name="connsiteY0" fmla="*/ 0 h 3917703"/>
              <a:gd name="connsiteX1" fmla="*/ 3745582 w 3745582"/>
              <a:gd name="connsiteY1" fmla="*/ 3917703 h 3917703"/>
              <a:gd name="connsiteX2" fmla="*/ 0 w 3745582"/>
              <a:gd name="connsiteY2" fmla="*/ 3917703 h 3917703"/>
            </a:gdLst>
            <a:ahLst/>
            <a:cxnLst>
              <a:cxn ang="0">
                <a:pos x="connsiteX0" y="connsiteY0"/>
              </a:cxn>
              <a:cxn ang="0">
                <a:pos x="connsiteX1" y="connsiteY1"/>
              </a:cxn>
              <a:cxn ang="0">
                <a:pos x="connsiteX2" y="connsiteY2"/>
              </a:cxn>
            </a:cxnLst>
            <a:rect l="l" t="t" r="r" b="b"/>
            <a:pathLst>
              <a:path w="3745582" h="3917703">
                <a:moveTo>
                  <a:pt x="3745582" y="0"/>
                </a:moveTo>
                <a:lnTo>
                  <a:pt x="3745582" y="3917703"/>
                </a:lnTo>
                <a:lnTo>
                  <a:pt x="0" y="391770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2" descr="How to Write a Conclusion, With Examples | Grammarly">
            <a:extLst>
              <a:ext uri="{FF2B5EF4-FFF2-40B4-BE49-F238E27FC236}">
                <a16:creationId xmlns:a16="http://schemas.microsoft.com/office/drawing/2014/main" id="{2CB33957-7E87-F252-7031-7AD8417D3B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0861" r="29057" b="-1"/>
          <a:stretch/>
        </p:blipFill>
        <p:spPr bwMode="auto">
          <a:xfrm>
            <a:off x="7607343" y="907476"/>
            <a:ext cx="3784558" cy="5027899"/>
          </a:xfrm>
          <a:custGeom>
            <a:avLst/>
            <a:gdLst/>
            <a:ahLst/>
            <a:cxnLst/>
            <a:rect l="l" t="t" r="r" b="b"/>
            <a:pathLst>
              <a:path w="2093843" h="1948070">
                <a:moveTo>
                  <a:pt x="0" y="0"/>
                </a:moveTo>
                <a:lnTo>
                  <a:pt x="2093843" y="0"/>
                </a:lnTo>
                <a:lnTo>
                  <a:pt x="2093843" y="1948070"/>
                </a:lnTo>
                <a:lnTo>
                  <a:pt x="0" y="1948070"/>
                </a:lnTo>
                <a:close/>
              </a:path>
            </a:pathLst>
          </a:custGeom>
          <a:noFill/>
          <a:effectLst>
            <a:outerShdw dist="165100" dir="2700000" algn="tl" rotWithShape="0">
              <a:schemeClr val="tx1"/>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1921704"/>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DE89493-AC86-4DB9-8963-3671DDEBE8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D9CE2E23-F9AA-FDCF-2AA8-4DDD8BEEE69D}"/>
              </a:ext>
            </a:extLst>
          </p:cNvPr>
          <p:cNvSpPr>
            <a:spLocks noGrp="1"/>
          </p:cNvSpPr>
          <p:nvPr>
            <p:ph type="title"/>
          </p:nvPr>
        </p:nvSpPr>
        <p:spPr>
          <a:xfrm>
            <a:off x="814657" y="665389"/>
            <a:ext cx="6122856" cy="1507193"/>
          </a:xfrm>
        </p:spPr>
        <p:txBody>
          <a:bodyPr anchor="b">
            <a:normAutofit/>
          </a:bodyPr>
          <a:lstStyle/>
          <a:p>
            <a:r>
              <a:rPr lang="el-GR" err="1"/>
              <a:t>Συμπερασματα</a:t>
            </a:r>
            <a:r>
              <a:rPr lang="el-GR"/>
              <a:t> της </a:t>
            </a:r>
            <a:r>
              <a:rPr lang="el-GR" err="1"/>
              <a:t>Μελετης</a:t>
            </a:r>
            <a:endParaRPr lang="el-GR" dirty="0"/>
          </a:p>
        </p:txBody>
      </p:sp>
      <p:sp>
        <p:nvSpPr>
          <p:cNvPr id="11" name="Rectangle 10">
            <a:extLst>
              <a:ext uri="{FF2B5EF4-FFF2-40B4-BE49-F238E27FC236}">
                <a16:creationId xmlns:a16="http://schemas.microsoft.com/office/drawing/2014/main" id="{BDAC9C0A-BBCA-4B9F-8ADF-5B2CCB19F9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F46D3CBA-F2AA-3583-C5A8-B9CE5713BFC4}"/>
              </a:ext>
            </a:extLst>
          </p:cNvPr>
          <p:cNvSpPr>
            <a:spLocks noGrp="1"/>
          </p:cNvSpPr>
          <p:nvPr>
            <p:ph idx="1"/>
          </p:nvPr>
        </p:nvSpPr>
        <p:spPr>
          <a:xfrm>
            <a:off x="814655" y="2400301"/>
            <a:ext cx="5804681" cy="3733800"/>
          </a:xfrm>
        </p:spPr>
        <p:txBody>
          <a:bodyPr>
            <a:normAutofit/>
          </a:bodyPr>
          <a:lstStyle/>
          <a:p>
            <a:pPr>
              <a:lnSpc>
                <a:spcPct val="120000"/>
              </a:lnSpc>
              <a:buNone/>
            </a:pPr>
            <a:r>
              <a:rPr lang="el-GR" sz="1700" b="1" dirty="0">
                <a:latin typeface="Times New Roman" panose="02020603050405020304" pitchFamily="18" charset="0"/>
                <a:cs typeface="Times New Roman" panose="02020603050405020304" pitchFamily="18" charset="0"/>
              </a:rPr>
              <a:t>2. Επιπτώσεις στα Συστήματα Διαχείρισης των </a:t>
            </a:r>
            <a:r>
              <a:rPr lang="el-GR" sz="1700" b="1" dirty="0" err="1">
                <a:latin typeface="Times New Roman" panose="02020603050405020304" pitchFamily="18" charset="0"/>
                <a:cs typeface="Times New Roman" panose="02020603050405020304" pitchFamily="18" charset="0"/>
              </a:rPr>
              <a:t>Data</a:t>
            </a:r>
            <a:r>
              <a:rPr lang="el-GR" sz="1700" b="1" dirty="0">
                <a:latin typeface="Times New Roman" panose="02020603050405020304" pitchFamily="18" charset="0"/>
                <a:cs typeface="Times New Roman" panose="02020603050405020304" pitchFamily="18" charset="0"/>
              </a:rPr>
              <a:t> </a:t>
            </a:r>
            <a:r>
              <a:rPr lang="el-GR" sz="1700" b="1" dirty="0" err="1">
                <a:latin typeface="Times New Roman" panose="02020603050405020304" pitchFamily="18" charset="0"/>
                <a:cs typeface="Times New Roman" panose="02020603050405020304" pitchFamily="18" charset="0"/>
              </a:rPr>
              <a:t>Centers</a:t>
            </a:r>
            <a:endParaRPr lang="el-GR" sz="1700" b="1" dirty="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v"/>
            </a:pPr>
            <a:r>
              <a:rPr lang="el-GR" sz="1700" dirty="0">
                <a:latin typeface="Times New Roman" panose="02020603050405020304" pitchFamily="18" charset="0"/>
                <a:cs typeface="Times New Roman" panose="02020603050405020304" pitchFamily="18" charset="0"/>
              </a:rPr>
              <a:t>Απαιτούνται </a:t>
            </a:r>
            <a:r>
              <a:rPr lang="el-GR" sz="1700" b="1" dirty="0">
                <a:latin typeface="Times New Roman" panose="02020603050405020304" pitchFamily="18" charset="0"/>
                <a:cs typeface="Times New Roman" panose="02020603050405020304" pitchFamily="18" charset="0"/>
              </a:rPr>
              <a:t>δυναμικές στρατηγικές εξισορρόπησης φορτίου (</a:t>
            </a:r>
            <a:r>
              <a:rPr lang="el-GR" sz="1700" b="1" dirty="0" err="1">
                <a:latin typeface="Times New Roman" panose="02020603050405020304" pitchFamily="18" charset="0"/>
                <a:cs typeface="Times New Roman" panose="02020603050405020304" pitchFamily="18" charset="0"/>
              </a:rPr>
              <a:t>dynamic</a:t>
            </a:r>
            <a:r>
              <a:rPr lang="el-GR" sz="1700" b="1" dirty="0">
                <a:latin typeface="Times New Roman" panose="02020603050405020304" pitchFamily="18" charset="0"/>
                <a:cs typeface="Times New Roman" panose="02020603050405020304" pitchFamily="18" charset="0"/>
              </a:rPr>
              <a:t> </a:t>
            </a:r>
            <a:r>
              <a:rPr lang="el-GR" sz="1700" b="1" dirty="0" err="1">
                <a:latin typeface="Times New Roman" panose="02020603050405020304" pitchFamily="18" charset="0"/>
                <a:cs typeface="Times New Roman" panose="02020603050405020304" pitchFamily="18" charset="0"/>
              </a:rPr>
              <a:t>load</a:t>
            </a:r>
            <a:r>
              <a:rPr lang="el-GR" sz="1700" b="1" dirty="0">
                <a:latin typeface="Times New Roman" panose="02020603050405020304" pitchFamily="18" charset="0"/>
                <a:cs typeface="Times New Roman" panose="02020603050405020304" pitchFamily="18" charset="0"/>
              </a:rPr>
              <a:t> </a:t>
            </a:r>
            <a:r>
              <a:rPr lang="el-GR" sz="1700" b="1" dirty="0" err="1">
                <a:latin typeface="Times New Roman" panose="02020603050405020304" pitchFamily="18" charset="0"/>
                <a:cs typeface="Times New Roman" panose="02020603050405020304" pitchFamily="18" charset="0"/>
              </a:rPr>
              <a:t>balancing</a:t>
            </a:r>
            <a:r>
              <a:rPr lang="el-GR" sz="1700" b="1" dirty="0">
                <a:latin typeface="Times New Roman" panose="02020603050405020304" pitchFamily="18" charset="0"/>
                <a:cs typeface="Times New Roman" panose="02020603050405020304" pitchFamily="18" charset="0"/>
              </a:rPr>
              <a:t>)</a:t>
            </a:r>
            <a:r>
              <a:rPr lang="el-GR" sz="1700" dirty="0">
                <a:latin typeface="Times New Roman" panose="02020603050405020304" pitchFamily="18" charset="0"/>
                <a:cs typeface="Times New Roman" panose="02020603050405020304" pitchFamily="18" charset="0"/>
              </a:rPr>
              <a:t> που λαμβάνουν υπόψη τις απότομες αλλαγές στην κίνηση.</a:t>
            </a:r>
          </a:p>
          <a:p>
            <a:pPr>
              <a:lnSpc>
                <a:spcPct val="120000"/>
              </a:lnSpc>
              <a:buFont typeface="Wingdings" panose="05000000000000000000" pitchFamily="2" charset="2"/>
              <a:buChar char="v"/>
            </a:pPr>
            <a:r>
              <a:rPr lang="el-GR" sz="1700" dirty="0">
                <a:latin typeface="Times New Roman" panose="02020603050405020304" pitchFamily="18" charset="0"/>
                <a:cs typeface="Times New Roman" panose="02020603050405020304" pitchFamily="18" charset="0"/>
              </a:rPr>
              <a:t>Οι μηχανισμοί δρομολόγησης πρέπει να προσαρμόζονται πιο γρήγορα, ώστε να αποφεύγονται οι </a:t>
            </a:r>
            <a:r>
              <a:rPr lang="el-GR" sz="1700" dirty="0" err="1">
                <a:latin typeface="Times New Roman" panose="02020603050405020304" pitchFamily="18" charset="0"/>
                <a:cs typeface="Times New Roman" panose="02020603050405020304" pitchFamily="18" charset="0"/>
              </a:rPr>
              <a:t>μικροεκρήξεις</a:t>
            </a:r>
            <a:r>
              <a:rPr lang="el-GR" sz="1700" dirty="0">
                <a:latin typeface="Times New Roman" panose="02020603050405020304" pitchFamily="18" charset="0"/>
                <a:cs typeface="Times New Roman" panose="02020603050405020304" pitchFamily="18" charset="0"/>
              </a:rPr>
              <a:t> συμφόρησης (</a:t>
            </a:r>
            <a:r>
              <a:rPr lang="el-GR" sz="1700" dirty="0" err="1">
                <a:latin typeface="Times New Roman" panose="02020603050405020304" pitchFamily="18" charset="0"/>
                <a:cs typeface="Times New Roman" panose="02020603050405020304" pitchFamily="18" charset="0"/>
              </a:rPr>
              <a:t>microbursts</a:t>
            </a:r>
            <a:r>
              <a:rPr lang="el-GR" sz="1700" dirty="0">
                <a:latin typeface="Times New Roman" panose="02020603050405020304" pitchFamily="18" charset="0"/>
                <a:cs typeface="Times New Roman" panose="02020603050405020304" pitchFamily="18" charset="0"/>
              </a:rPr>
              <a:t>).</a:t>
            </a:r>
          </a:p>
          <a:p>
            <a:pPr>
              <a:lnSpc>
                <a:spcPct val="120000"/>
              </a:lnSpc>
              <a:buFont typeface="Wingdings" panose="05000000000000000000" pitchFamily="2" charset="2"/>
              <a:buChar char="v"/>
            </a:pPr>
            <a:r>
              <a:rPr lang="el-GR" sz="1700" dirty="0">
                <a:latin typeface="Times New Roman" panose="02020603050405020304" pitchFamily="18" charset="0"/>
                <a:cs typeface="Times New Roman" panose="02020603050405020304" pitchFamily="18" charset="0"/>
              </a:rPr>
              <a:t>Το προτεινόμενο μοντέλο μπορεί να χρησιμοποιηθεί για την προσομοίωση πραγματικών συνθηκών κυκλοφορίας, βοηθώντας στον σχεδιασμό νέων αρχιτεκτονικών δικτύων.</a:t>
            </a:r>
          </a:p>
          <a:p>
            <a:pPr>
              <a:lnSpc>
                <a:spcPct val="120000"/>
              </a:lnSpc>
            </a:pPr>
            <a:endParaRPr lang="el-GR" sz="1700" dirty="0"/>
          </a:p>
        </p:txBody>
      </p:sp>
      <p:sp>
        <p:nvSpPr>
          <p:cNvPr id="13" name="Rectangle 12">
            <a:extLst>
              <a:ext uri="{FF2B5EF4-FFF2-40B4-BE49-F238E27FC236}">
                <a16:creationId xmlns:a16="http://schemas.microsoft.com/office/drawing/2014/main" id="{1B784CEF-F6B1-4D62-86B3-F2A7C4EFB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898835" y="2400301"/>
            <a:ext cx="3293165" cy="4457688"/>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148D47FD-99F1-4F70-A0B7-DE3FFDD3B8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8613106" y="2199165"/>
            <a:ext cx="5418842" cy="1713240"/>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2" descr="How to Write a Conclusion, With Examples | Grammarly">
            <a:extLst>
              <a:ext uri="{FF2B5EF4-FFF2-40B4-BE49-F238E27FC236}">
                <a16:creationId xmlns:a16="http://schemas.microsoft.com/office/drawing/2014/main" id="{B98691E1-BA02-8DFD-2329-184DE5633E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0861" r="29057" b="-1"/>
          <a:stretch/>
        </p:blipFill>
        <p:spPr bwMode="auto">
          <a:xfrm>
            <a:off x="7607343" y="907476"/>
            <a:ext cx="3784558" cy="5027899"/>
          </a:xfrm>
          <a:custGeom>
            <a:avLst/>
            <a:gdLst/>
            <a:ahLst/>
            <a:cxnLst/>
            <a:rect l="l" t="t" r="r" b="b"/>
            <a:pathLst>
              <a:path w="2093843" h="1948070">
                <a:moveTo>
                  <a:pt x="0" y="0"/>
                </a:moveTo>
                <a:lnTo>
                  <a:pt x="2093843" y="0"/>
                </a:lnTo>
                <a:lnTo>
                  <a:pt x="2093843" y="1948070"/>
                </a:lnTo>
                <a:lnTo>
                  <a:pt x="0" y="1948070"/>
                </a:lnTo>
                <a:close/>
              </a:path>
            </a:pathLst>
          </a:custGeom>
          <a:noFill/>
          <a:effectLst>
            <a:outerShdw dist="165100" dir="2700000" algn="tl" rotWithShape="0">
              <a:schemeClr val="tx1"/>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22855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822D577B-9018-47AD-8C60-A09FB788AD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010DB66D-7169-0AA3-E6EE-94C2DA0CDBFB}"/>
              </a:ext>
            </a:extLst>
          </p:cNvPr>
          <p:cNvSpPr>
            <a:spLocks noGrp="1"/>
          </p:cNvSpPr>
          <p:nvPr>
            <p:ph type="title"/>
          </p:nvPr>
        </p:nvSpPr>
        <p:spPr>
          <a:xfrm>
            <a:off x="786276" y="353548"/>
            <a:ext cx="6197619" cy="865653"/>
          </a:xfrm>
        </p:spPr>
        <p:txBody>
          <a:bodyPr anchor="b">
            <a:normAutofit fontScale="90000"/>
          </a:bodyPr>
          <a:lstStyle/>
          <a:p>
            <a:pPr>
              <a:lnSpc>
                <a:spcPct val="110000"/>
              </a:lnSpc>
            </a:pPr>
            <a:r>
              <a:rPr lang="el-GR" sz="2700" dirty="0" err="1"/>
              <a:t>Μελλοντικες</a:t>
            </a:r>
            <a:r>
              <a:rPr lang="el-GR" sz="2700" dirty="0"/>
              <a:t> </a:t>
            </a:r>
            <a:r>
              <a:rPr lang="el-GR" sz="2700" dirty="0" err="1"/>
              <a:t>Κατευθυνσεις</a:t>
            </a:r>
            <a:r>
              <a:rPr lang="el-GR" sz="2700" dirty="0"/>
              <a:t> και </a:t>
            </a:r>
            <a:r>
              <a:rPr lang="el-GR" sz="2700" dirty="0" err="1"/>
              <a:t>Προοπτικες</a:t>
            </a:r>
            <a:endParaRPr lang="el-GR" sz="2700" dirty="0"/>
          </a:p>
        </p:txBody>
      </p:sp>
      <p:sp>
        <p:nvSpPr>
          <p:cNvPr id="3081" name="Rectangle 3080">
            <a:extLst>
              <a:ext uri="{FF2B5EF4-FFF2-40B4-BE49-F238E27FC236}">
                <a16:creationId xmlns:a16="http://schemas.microsoft.com/office/drawing/2014/main" id="{FCE2E558-1756-4EDF-A961-1F0E5C5B1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726E128D-0166-EAB6-3E9B-66B322BA496A}"/>
              </a:ext>
            </a:extLst>
          </p:cNvPr>
          <p:cNvSpPr>
            <a:spLocks noGrp="1"/>
          </p:cNvSpPr>
          <p:nvPr>
            <p:ph idx="1"/>
          </p:nvPr>
        </p:nvSpPr>
        <p:spPr>
          <a:xfrm>
            <a:off x="800100" y="1457739"/>
            <a:ext cx="5857687" cy="5164190"/>
          </a:xfrm>
        </p:spPr>
        <p:txBody>
          <a:bodyPr>
            <a:normAutofit/>
          </a:bodyPr>
          <a:lstStyle/>
          <a:p>
            <a:pPr>
              <a:lnSpc>
                <a:spcPct val="120000"/>
              </a:lnSpc>
              <a:buNone/>
            </a:pPr>
            <a:r>
              <a:rPr lang="el-GR" sz="1600" dirty="0">
                <a:latin typeface="Times New Roman" panose="02020603050405020304" pitchFamily="18" charset="0"/>
                <a:cs typeface="Times New Roman" panose="02020603050405020304" pitchFamily="18" charset="0"/>
              </a:rPr>
              <a:t>Η μελέτη αυτή αποτελεί το πρώτο βήμα για την καλύτερη κατανόηση της κυκλοφορίας στα </a:t>
            </a:r>
            <a:r>
              <a:rPr lang="el-GR" sz="1600" dirty="0" err="1">
                <a:latin typeface="Times New Roman" panose="02020603050405020304" pitchFamily="18" charset="0"/>
                <a:cs typeface="Times New Roman" panose="02020603050405020304" pitchFamily="18" charset="0"/>
              </a:rPr>
              <a:t>Data</a:t>
            </a:r>
            <a:r>
              <a:rPr lang="el-GR" sz="1600" dirty="0">
                <a:latin typeface="Times New Roman" panose="02020603050405020304" pitchFamily="18" charset="0"/>
                <a:cs typeface="Times New Roman" panose="02020603050405020304" pitchFamily="18" charset="0"/>
              </a:rPr>
              <a:t> </a:t>
            </a:r>
            <a:r>
              <a:rPr lang="el-GR" sz="1600" dirty="0" err="1">
                <a:latin typeface="Times New Roman" panose="02020603050405020304" pitchFamily="18" charset="0"/>
                <a:cs typeface="Times New Roman" panose="02020603050405020304" pitchFamily="18" charset="0"/>
              </a:rPr>
              <a:t>Centers</a:t>
            </a:r>
            <a:r>
              <a:rPr lang="el-GR" sz="1600" dirty="0">
                <a:latin typeface="Times New Roman" panose="02020603050405020304" pitchFamily="18" charset="0"/>
                <a:cs typeface="Times New Roman" panose="02020603050405020304" pitchFamily="18" charset="0"/>
              </a:rPr>
              <a:t>. Υπάρχουν πολλές δυνατότητες βελτίωσης και προέκτασης της έρευνας:</a:t>
            </a:r>
          </a:p>
          <a:p>
            <a:pPr>
              <a:lnSpc>
                <a:spcPct val="120000"/>
              </a:lnSpc>
              <a:buNone/>
            </a:pPr>
            <a:r>
              <a:rPr lang="el-GR" sz="1600" b="1" dirty="0">
                <a:latin typeface="Times New Roman" panose="02020603050405020304" pitchFamily="18" charset="0"/>
                <a:cs typeface="Times New Roman" panose="02020603050405020304" pitchFamily="18" charset="0"/>
              </a:rPr>
              <a:t>1. Περαιτέρω Ανάλυση και Βελτίωση του Μοντέλου</a:t>
            </a:r>
          </a:p>
          <a:p>
            <a:pPr>
              <a:lnSpc>
                <a:spcPct val="120000"/>
              </a:lnSpc>
              <a:buFont typeface="Wingdings" panose="05000000000000000000" pitchFamily="2" charset="2"/>
              <a:buChar char="v"/>
            </a:pPr>
            <a:r>
              <a:rPr lang="el-GR" sz="1600" dirty="0">
                <a:latin typeface="Times New Roman" panose="02020603050405020304" pitchFamily="18" charset="0"/>
                <a:cs typeface="Times New Roman" panose="02020603050405020304" pitchFamily="18" charset="0"/>
              </a:rPr>
              <a:t>Δοκιμή του μοντέλου σε μεγαλύτερο αριθμό </a:t>
            </a:r>
            <a:r>
              <a:rPr lang="el-GR" sz="1600" dirty="0" err="1">
                <a:latin typeface="Times New Roman" panose="02020603050405020304" pitchFamily="18" charset="0"/>
                <a:cs typeface="Times New Roman" panose="02020603050405020304" pitchFamily="18" charset="0"/>
              </a:rPr>
              <a:t>Data</a:t>
            </a:r>
            <a:r>
              <a:rPr lang="el-GR" sz="1600" dirty="0">
                <a:latin typeface="Times New Roman" panose="02020603050405020304" pitchFamily="18" charset="0"/>
                <a:cs typeface="Times New Roman" panose="02020603050405020304" pitchFamily="18" charset="0"/>
              </a:rPr>
              <a:t> </a:t>
            </a:r>
            <a:r>
              <a:rPr lang="el-GR" sz="1600" dirty="0" err="1">
                <a:latin typeface="Times New Roman" panose="02020603050405020304" pitchFamily="18" charset="0"/>
                <a:cs typeface="Times New Roman" panose="02020603050405020304" pitchFamily="18" charset="0"/>
              </a:rPr>
              <a:t>Centers</a:t>
            </a:r>
            <a:r>
              <a:rPr lang="el-GR" sz="1600" dirty="0">
                <a:latin typeface="Times New Roman" panose="02020603050405020304" pitchFamily="18" charset="0"/>
                <a:cs typeface="Times New Roman" panose="02020603050405020304" pitchFamily="18" charset="0"/>
              </a:rPr>
              <a:t> με διαφορετικές αρχιτεκτονικές.</a:t>
            </a:r>
          </a:p>
          <a:p>
            <a:pPr>
              <a:lnSpc>
                <a:spcPct val="120000"/>
              </a:lnSpc>
              <a:buFont typeface="Wingdings" panose="05000000000000000000" pitchFamily="2" charset="2"/>
              <a:buChar char="v"/>
            </a:pPr>
            <a:r>
              <a:rPr lang="el-GR" sz="1600" dirty="0">
                <a:latin typeface="Times New Roman" panose="02020603050405020304" pitchFamily="18" charset="0"/>
                <a:cs typeface="Times New Roman" panose="02020603050405020304" pitchFamily="18" charset="0"/>
              </a:rPr>
              <a:t>Ανάπτυξη πιο εξελιγμένων αλγορίθμων μηχανικής μάθησης για την ακριβέστερη πρόβλεψη της κίνησης.</a:t>
            </a:r>
          </a:p>
          <a:p>
            <a:pPr>
              <a:lnSpc>
                <a:spcPct val="120000"/>
              </a:lnSpc>
              <a:buNone/>
            </a:pPr>
            <a:r>
              <a:rPr lang="el-GR" sz="1600" b="1" dirty="0">
                <a:latin typeface="Times New Roman" panose="02020603050405020304" pitchFamily="18" charset="0"/>
                <a:cs typeface="Times New Roman" panose="02020603050405020304" pitchFamily="18" charset="0"/>
              </a:rPr>
              <a:t>2. Εφαρμογή σε Πραγματικά Περιβάλλοντα</a:t>
            </a:r>
          </a:p>
          <a:p>
            <a:pPr>
              <a:lnSpc>
                <a:spcPct val="120000"/>
              </a:lnSpc>
              <a:buFont typeface="Wingdings" panose="05000000000000000000" pitchFamily="2" charset="2"/>
              <a:buChar char="v"/>
            </a:pPr>
            <a:r>
              <a:rPr lang="el-GR" sz="1600" dirty="0">
                <a:latin typeface="Times New Roman" panose="02020603050405020304" pitchFamily="18" charset="0"/>
                <a:cs typeface="Times New Roman" panose="02020603050405020304" pitchFamily="18" charset="0"/>
              </a:rPr>
              <a:t>Ανάπτυξη εργαλείων που θα ενσωματώνουν το προτεινόμενο μοντέλο σε συστήματα διαχείρισης δικτύων.</a:t>
            </a:r>
          </a:p>
          <a:p>
            <a:pPr>
              <a:lnSpc>
                <a:spcPct val="120000"/>
              </a:lnSpc>
              <a:buFont typeface="Wingdings" panose="05000000000000000000" pitchFamily="2" charset="2"/>
              <a:buChar char="v"/>
            </a:pPr>
            <a:r>
              <a:rPr lang="el-GR" sz="1600" dirty="0">
                <a:latin typeface="Times New Roman" panose="02020603050405020304" pitchFamily="18" charset="0"/>
                <a:cs typeface="Times New Roman" panose="02020603050405020304" pitchFamily="18" charset="0"/>
              </a:rPr>
              <a:t>Δοκιμή νέων τεχνικών </a:t>
            </a:r>
            <a:r>
              <a:rPr lang="el-GR" sz="1600" dirty="0" err="1">
                <a:latin typeface="Times New Roman" panose="02020603050405020304" pitchFamily="18" charset="0"/>
                <a:cs typeface="Times New Roman" panose="02020603050405020304" pitchFamily="18" charset="0"/>
              </a:rPr>
              <a:t>dynamic</a:t>
            </a:r>
            <a:r>
              <a:rPr lang="el-GR" sz="1600" dirty="0">
                <a:latin typeface="Times New Roman" panose="02020603050405020304" pitchFamily="18" charset="0"/>
                <a:cs typeface="Times New Roman" panose="02020603050405020304" pitchFamily="18" charset="0"/>
              </a:rPr>
              <a:t> </a:t>
            </a:r>
            <a:r>
              <a:rPr lang="el-GR" sz="1600" dirty="0" err="1">
                <a:latin typeface="Times New Roman" panose="02020603050405020304" pitchFamily="18" charset="0"/>
                <a:cs typeface="Times New Roman" panose="02020603050405020304" pitchFamily="18" charset="0"/>
              </a:rPr>
              <a:t>traffic</a:t>
            </a:r>
            <a:r>
              <a:rPr lang="el-GR" sz="1600" dirty="0">
                <a:latin typeface="Times New Roman" panose="02020603050405020304" pitchFamily="18" charset="0"/>
                <a:cs typeface="Times New Roman" panose="02020603050405020304" pitchFamily="18" charset="0"/>
              </a:rPr>
              <a:t> </a:t>
            </a:r>
            <a:r>
              <a:rPr lang="el-GR" sz="1600" dirty="0" err="1">
                <a:latin typeface="Times New Roman" panose="02020603050405020304" pitchFamily="18" charset="0"/>
                <a:cs typeface="Times New Roman" panose="02020603050405020304" pitchFamily="18" charset="0"/>
              </a:rPr>
              <a:t>engineering</a:t>
            </a:r>
            <a:r>
              <a:rPr lang="el-GR" sz="1600" dirty="0">
                <a:latin typeface="Times New Roman" panose="02020603050405020304" pitchFamily="18" charset="0"/>
                <a:cs typeface="Times New Roman" panose="02020603050405020304" pitchFamily="18" charset="0"/>
              </a:rPr>
              <a:t> βασισμένων στα ευρήματα της μελέτης.</a:t>
            </a:r>
          </a:p>
          <a:p>
            <a:pPr>
              <a:lnSpc>
                <a:spcPct val="120000"/>
              </a:lnSpc>
            </a:pPr>
            <a:endParaRPr lang="el-GR" sz="1600" dirty="0">
              <a:latin typeface="Times New Roman" panose="02020603050405020304" pitchFamily="18" charset="0"/>
              <a:cs typeface="Times New Roman" panose="02020603050405020304" pitchFamily="18" charset="0"/>
            </a:endParaRPr>
          </a:p>
        </p:txBody>
      </p:sp>
      <p:sp>
        <p:nvSpPr>
          <p:cNvPr id="3083" name="Rectangle 3082">
            <a:extLst>
              <a:ext uri="{FF2B5EF4-FFF2-40B4-BE49-F238E27FC236}">
                <a16:creationId xmlns:a16="http://schemas.microsoft.com/office/drawing/2014/main" id="{5401B466-517B-4B8B-A80A-FD0ECAECFD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1248792" y="3886200"/>
            <a:ext cx="949990" cy="29718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1A42EF36-E4B3-4B8C-A6B8-4C12B704C6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9823615" y="2413875"/>
            <a:ext cx="2289284" cy="3815228"/>
          </a:xfrm>
          <a:prstGeom prst="rect">
            <a:avLst/>
          </a:pr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SCHILLER - Future: Deluxe Edition - Amazon.com Music">
            <a:extLst>
              <a:ext uri="{FF2B5EF4-FFF2-40B4-BE49-F238E27FC236}">
                <a16:creationId xmlns:a16="http://schemas.microsoft.com/office/drawing/2014/main" id="{559D804A-FDD8-A582-984E-BB408F9BB1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6868453" y="926416"/>
            <a:ext cx="4712383" cy="4712383"/>
          </a:xfrm>
          <a:custGeom>
            <a:avLst/>
            <a:gdLst/>
            <a:ahLst/>
            <a:cxnLst/>
            <a:rect l="l" t="t" r="r" b="b"/>
            <a:pathLst>
              <a:path w="4487466" h="4487466">
                <a:moveTo>
                  <a:pt x="2243733" y="0"/>
                </a:moveTo>
                <a:cubicBezTo>
                  <a:pt x="3482913" y="0"/>
                  <a:pt x="4487466" y="1004553"/>
                  <a:pt x="4487466" y="2243733"/>
                </a:cubicBezTo>
                <a:cubicBezTo>
                  <a:pt x="4487466" y="3482913"/>
                  <a:pt x="3482913" y="4487466"/>
                  <a:pt x="2243733" y="4487466"/>
                </a:cubicBezTo>
                <a:cubicBezTo>
                  <a:pt x="1004553" y="4487466"/>
                  <a:pt x="0" y="3482913"/>
                  <a:pt x="0" y="2243733"/>
                </a:cubicBezTo>
                <a:cubicBezTo>
                  <a:pt x="0" y="1004553"/>
                  <a:pt x="1004553" y="0"/>
                  <a:pt x="2243733"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82080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wipe(down)">
                                      <p:cBhvr>
                                        <p:cTn id="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36" name="Rectangle 5135">
            <a:extLst>
              <a:ext uri="{FF2B5EF4-FFF2-40B4-BE49-F238E27FC236}">
                <a16:creationId xmlns:a16="http://schemas.microsoft.com/office/drawing/2014/main" id="{0C614264-BA32-414F-95BE-0A30CC072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B786C8EC-2270-A6C0-BC7D-728CCFB90C0A}"/>
              </a:ext>
            </a:extLst>
          </p:cNvPr>
          <p:cNvSpPr>
            <a:spLocks noGrp="1"/>
          </p:cNvSpPr>
          <p:nvPr>
            <p:ph type="title"/>
          </p:nvPr>
        </p:nvSpPr>
        <p:spPr>
          <a:xfrm>
            <a:off x="6608905" y="381454"/>
            <a:ext cx="4782996" cy="1784106"/>
          </a:xfrm>
        </p:spPr>
        <p:txBody>
          <a:bodyPr>
            <a:normAutofit/>
          </a:bodyPr>
          <a:lstStyle/>
          <a:p>
            <a:pPr algn="r">
              <a:lnSpc>
                <a:spcPct val="110000"/>
              </a:lnSpc>
            </a:pPr>
            <a:r>
              <a:rPr lang="el-GR" dirty="0" err="1"/>
              <a:t>Μελλοντικες</a:t>
            </a:r>
            <a:r>
              <a:rPr lang="el-GR" dirty="0"/>
              <a:t> </a:t>
            </a:r>
            <a:r>
              <a:rPr lang="el-GR" dirty="0" err="1"/>
              <a:t>Κατευθυνσεις</a:t>
            </a:r>
            <a:r>
              <a:rPr lang="el-GR" dirty="0"/>
              <a:t> και </a:t>
            </a:r>
            <a:r>
              <a:rPr lang="el-GR" dirty="0" err="1"/>
              <a:t>Προοπτικες</a:t>
            </a:r>
            <a:endParaRPr lang="el-GR" dirty="0"/>
          </a:p>
        </p:txBody>
      </p:sp>
      <p:sp>
        <p:nvSpPr>
          <p:cNvPr id="5138" name="Rectangle 5137">
            <a:extLst>
              <a:ext uri="{FF2B5EF4-FFF2-40B4-BE49-F238E27FC236}">
                <a16:creationId xmlns:a16="http://schemas.microsoft.com/office/drawing/2014/main" id="{5401B466-517B-4B8B-A80A-FD0ECAECFD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665415"/>
            <a:ext cx="693472" cy="319258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0" name="Rectangle 5139">
            <a:extLst>
              <a:ext uri="{FF2B5EF4-FFF2-40B4-BE49-F238E27FC236}">
                <a16:creationId xmlns:a16="http://schemas.microsoft.com/office/drawing/2014/main" id="{1A42EF36-E4B3-4B8C-A6B8-4C12B704C6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225" y="2678732"/>
            <a:ext cx="2706010" cy="3600124"/>
          </a:xfrm>
          <a:prstGeom prst="rect">
            <a:avLst/>
          </a:pr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Understanding AI at Microsoft">
            <a:extLst>
              <a:ext uri="{FF2B5EF4-FFF2-40B4-BE49-F238E27FC236}">
                <a16:creationId xmlns:a16="http://schemas.microsoft.com/office/drawing/2014/main" id="{F43589CA-581B-C084-ADD9-966C6D5E24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2909" r="20845" b="6"/>
          <a:stretch/>
        </p:blipFill>
        <p:spPr bwMode="auto">
          <a:xfrm>
            <a:off x="1225539" y="749478"/>
            <a:ext cx="4625350" cy="4625350"/>
          </a:xfrm>
          <a:custGeom>
            <a:avLst/>
            <a:gdLst/>
            <a:ahLst/>
            <a:cxnLst/>
            <a:rect l="l" t="t" r="r" b="b"/>
            <a:pathLst>
              <a:path w="4625350" h="4625350">
                <a:moveTo>
                  <a:pt x="2312675" y="0"/>
                </a:moveTo>
                <a:cubicBezTo>
                  <a:pt x="3589930" y="0"/>
                  <a:pt x="4625350" y="1035420"/>
                  <a:pt x="4625350" y="2312675"/>
                </a:cubicBezTo>
                <a:cubicBezTo>
                  <a:pt x="4625350" y="3589930"/>
                  <a:pt x="3589930" y="4625350"/>
                  <a:pt x="2312675" y="4625350"/>
                </a:cubicBezTo>
                <a:cubicBezTo>
                  <a:pt x="1035420" y="4625350"/>
                  <a:pt x="0" y="3589930"/>
                  <a:pt x="0" y="2312675"/>
                </a:cubicBezTo>
                <a:cubicBezTo>
                  <a:pt x="0" y="1035420"/>
                  <a:pt x="1035420" y="0"/>
                  <a:pt x="2312675" y="0"/>
                </a:cubicBezTo>
                <a:close/>
              </a:path>
            </a:pathLst>
          </a:custGeom>
          <a:noFill/>
          <a:effectLst>
            <a:outerShdw dist="165100" dir="8100000" algn="tr" rotWithShape="0">
              <a:schemeClr val="tx1"/>
            </a:outerShdw>
          </a:effectLst>
          <a:extLst>
            <a:ext uri="{909E8E84-426E-40DD-AFC4-6F175D3DCCD1}">
              <a14:hiddenFill xmlns:a14="http://schemas.microsoft.com/office/drawing/2010/main">
                <a:solidFill>
                  <a:srgbClr val="FFFFFF"/>
                </a:solidFill>
              </a14:hiddenFill>
            </a:ext>
          </a:extLst>
        </p:spPr>
      </p:pic>
      <p:sp>
        <p:nvSpPr>
          <p:cNvPr id="5142" name="Rectangle 5141">
            <a:extLst>
              <a:ext uri="{FF2B5EF4-FFF2-40B4-BE49-F238E27FC236}">
                <a16:creationId xmlns:a16="http://schemas.microsoft.com/office/drawing/2014/main" id="{40705285-5CED-426B-BB57-F586C6764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1986521" y="-1"/>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84A41C4E-2E3F-FF81-33EF-1156C8C38874}"/>
              </a:ext>
            </a:extLst>
          </p:cNvPr>
          <p:cNvSpPr>
            <a:spLocks noGrp="1"/>
          </p:cNvSpPr>
          <p:nvPr>
            <p:ph idx="1"/>
          </p:nvPr>
        </p:nvSpPr>
        <p:spPr>
          <a:xfrm>
            <a:off x="6740203" y="2400300"/>
            <a:ext cx="4494053" cy="3733800"/>
          </a:xfrm>
        </p:spPr>
        <p:txBody>
          <a:bodyPr>
            <a:normAutofit/>
          </a:bodyPr>
          <a:lstStyle/>
          <a:p>
            <a:pPr>
              <a:lnSpc>
                <a:spcPct val="120000"/>
              </a:lnSpc>
              <a:buNone/>
            </a:pPr>
            <a:r>
              <a:rPr lang="el-GR" sz="1700" b="1">
                <a:latin typeface="Times New Roman" panose="02020603050405020304" pitchFamily="18" charset="0"/>
                <a:cs typeface="Times New Roman" panose="02020603050405020304" pitchFamily="18" charset="0"/>
              </a:rPr>
              <a:t>Σχεδίαση Νέων Αρχιτεκτονικών Δικτύων για </a:t>
            </a:r>
            <a:r>
              <a:rPr lang="el-GR" sz="1700" b="1" err="1">
                <a:latin typeface="Times New Roman" panose="02020603050405020304" pitchFamily="18" charset="0"/>
                <a:cs typeface="Times New Roman" panose="02020603050405020304" pitchFamily="18" charset="0"/>
              </a:rPr>
              <a:t>Data</a:t>
            </a:r>
            <a:r>
              <a:rPr lang="el-GR" sz="1700" b="1">
                <a:latin typeface="Times New Roman" panose="02020603050405020304" pitchFamily="18" charset="0"/>
                <a:cs typeface="Times New Roman" panose="02020603050405020304" pitchFamily="18" charset="0"/>
              </a:rPr>
              <a:t> </a:t>
            </a:r>
            <a:r>
              <a:rPr lang="el-GR" sz="1700" b="1" err="1">
                <a:latin typeface="Times New Roman" panose="02020603050405020304" pitchFamily="18" charset="0"/>
                <a:cs typeface="Times New Roman" panose="02020603050405020304" pitchFamily="18" charset="0"/>
              </a:rPr>
              <a:t>Centers</a:t>
            </a:r>
            <a:endParaRPr lang="el-GR" sz="1700" b="1">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v"/>
            </a:pPr>
            <a:r>
              <a:rPr lang="el-GR" sz="1700">
                <a:latin typeface="Times New Roman" panose="02020603050405020304" pitchFamily="18" charset="0"/>
                <a:cs typeface="Times New Roman" panose="02020603050405020304" pitchFamily="18" charset="0"/>
              </a:rPr>
              <a:t>Αξιολόγηση του τρόπου με τον οποίο Software-</a:t>
            </a:r>
            <a:r>
              <a:rPr lang="el-GR" sz="1700" err="1">
                <a:latin typeface="Times New Roman" panose="02020603050405020304" pitchFamily="18" charset="0"/>
                <a:cs typeface="Times New Roman" panose="02020603050405020304" pitchFamily="18" charset="0"/>
              </a:rPr>
              <a:t>Defined</a:t>
            </a:r>
            <a:r>
              <a:rPr lang="el-GR" sz="1700">
                <a:latin typeface="Times New Roman" panose="02020603050405020304" pitchFamily="18" charset="0"/>
                <a:cs typeface="Times New Roman" panose="02020603050405020304" pitchFamily="18" charset="0"/>
              </a:rPr>
              <a:t> </a:t>
            </a:r>
            <a:r>
              <a:rPr lang="el-GR" sz="1700" err="1">
                <a:latin typeface="Times New Roman" panose="02020603050405020304" pitchFamily="18" charset="0"/>
                <a:cs typeface="Times New Roman" panose="02020603050405020304" pitchFamily="18" charset="0"/>
              </a:rPr>
              <a:t>Networking</a:t>
            </a:r>
            <a:r>
              <a:rPr lang="el-GR" sz="1700">
                <a:latin typeface="Times New Roman" panose="02020603050405020304" pitchFamily="18" charset="0"/>
                <a:cs typeface="Times New Roman" panose="02020603050405020304" pitchFamily="18" charset="0"/>
              </a:rPr>
              <a:t> (SDN) και </a:t>
            </a:r>
            <a:r>
              <a:rPr lang="el-GR" sz="1700" err="1">
                <a:latin typeface="Times New Roman" panose="02020603050405020304" pitchFamily="18" charset="0"/>
                <a:cs typeface="Times New Roman" panose="02020603050405020304" pitchFamily="18" charset="0"/>
              </a:rPr>
              <a:t>Artificial</a:t>
            </a:r>
            <a:r>
              <a:rPr lang="el-GR" sz="1700">
                <a:latin typeface="Times New Roman" panose="02020603050405020304" pitchFamily="18" charset="0"/>
                <a:cs typeface="Times New Roman" panose="02020603050405020304" pitchFamily="18" charset="0"/>
              </a:rPr>
              <a:t> </a:t>
            </a:r>
            <a:r>
              <a:rPr lang="el-GR" sz="1700" err="1">
                <a:latin typeface="Times New Roman" panose="02020603050405020304" pitchFamily="18" charset="0"/>
                <a:cs typeface="Times New Roman" panose="02020603050405020304" pitchFamily="18" charset="0"/>
              </a:rPr>
              <a:t>Intelligence</a:t>
            </a:r>
            <a:r>
              <a:rPr lang="el-GR" sz="1700">
                <a:latin typeface="Times New Roman" panose="02020603050405020304" pitchFamily="18" charset="0"/>
                <a:cs typeface="Times New Roman" panose="02020603050405020304" pitchFamily="18" charset="0"/>
              </a:rPr>
              <a:t> (AI) μπορούν να βοηθήσουν στη διαχείριση της κυκλοφορίας.</a:t>
            </a:r>
          </a:p>
          <a:p>
            <a:pPr>
              <a:lnSpc>
                <a:spcPct val="120000"/>
              </a:lnSpc>
              <a:buFont typeface="Wingdings" panose="05000000000000000000" pitchFamily="2" charset="2"/>
              <a:buChar char="v"/>
            </a:pPr>
            <a:r>
              <a:rPr lang="el-GR" sz="1700">
                <a:latin typeface="Times New Roman" panose="02020603050405020304" pitchFamily="18" charset="0"/>
                <a:cs typeface="Times New Roman" panose="02020603050405020304" pitchFamily="18" charset="0"/>
              </a:rPr>
              <a:t>Εξερεύνηση υβριδικών τεχνικών δρομολόγησης που συνδυάζουν στατικές και δυναμικές στρατηγικές </a:t>
            </a:r>
            <a:r>
              <a:rPr lang="el-GR" sz="1700" err="1">
                <a:latin typeface="Times New Roman" panose="02020603050405020304" pitchFamily="18" charset="0"/>
                <a:cs typeface="Times New Roman" panose="02020603050405020304" pitchFamily="18" charset="0"/>
              </a:rPr>
              <a:t>traffic</a:t>
            </a:r>
            <a:r>
              <a:rPr lang="el-GR" sz="1700">
                <a:latin typeface="Times New Roman" panose="02020603050405020304" pitchFamily="18" charset="0"/>
                <a:cs typeface="Times New Roman" panose="02020603050405020304" pitchFamily="18" charset="0"/>
              </a:rPr>
              <a:t> </a:t>
            </a:r>
            <a:r>
              <a:rPr lang="el-GR" sz="1700" err="1">
                <a:latin typeface="Times New Roman" panose="02020603050405020304" pitchFamily="18" charset="0"/>
                <a:cs typeface="Times New Roman" panose="02020603050405020304" pitchFamily="18" charset="0"/>
              </a:rPr>
              <a:t>engineering</a:t>
            </a:r>
            <a:r>
              <a:rPr lang="el-GR" sz="17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383052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ppt_x"/>
                                          </p:val>
                                        </p:tav>
                                        <p:tav tm="100000">
                                          <p:val>
                                            <p:strVal val="#ppt_x"/>
                                          </p:val>
                                        </p:tav>
                                      </p:tavLst>
                                    </p:anim>
                                    <p:anim calcmode="lin" valueType="num">
                                      <p:cBhvr additive="base">
                                        <p:cTn id="8"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71" name="Rectangle 6163">
            <a:extLst>
              <a:ext uri="{FF2B5EF4-FFF2-40B4-BE49-F238E27FC236}">
                <a16:creationId xmlns:a16="http://schemas.microsoft.com/office/drawing/2014/main" id="{506CCDAE-0A4A-4C57-86B8-1F328D743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Final thoughts, conclusion or summary of all study topics, thinking about  solutions, result, outcome or opinion from business case study concept,  businessman with lightbulb idea of final thoughts. 4669652 Vector Art at">
            <a:extLst>
              <a:ext uri="{FF2B5EF4-FFF2-40B4-BE49-F238E27FC236}">
                <a16:creationId xmlns:a16="http://schemas.microsoft.com/office/drawing/2014/main" id="{B8CBD5C0-C06A-C2B4-C097-F77357C362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791" r="17085" b="-2"/>
          <a:stretch/>
        </p:blipFill>
        <p:spPr bwMode="auto">
          <a:xfrm>
            <a:off x="-1" y="1"/>
            <a:ext cx="8437419" cy="6857999"/>
          </a:xfrm>
          <a:prstGeom prst="rect">
            <a:avLst/>
          </a:prstGeom>
          <a:noFill/>
          <a:extLst>
            <a:ext uri="{909E8E84-426E-40DD-AFC4-6F175D3DCCD1}">
              <a14:hiddenFill xmlns:a14="http://schemas.microsoft.com/office/drawing/2010/main">
                <a:solidFill>
                  <a:srgbClr val="FFFFFF"/>
                </a:solidFill>
              </a14:hiddenFill>
            </a:ext>
          </a:extLst>
        </p:spPr>
      </p:pic>
      <p:sp>
        <p:nvSpPr>
          <p:cNvPr id="6172" name="Freeform: Shape 6165">
            <a:extLst>
              <a:ext uri="{FF2B5EF4-FFF2-40B4-BE49-F238E27FC236}">
                <a16:creationId xmlns:a16="http://schemas.microsoft.com/office/drawing/2014/main" id="{5E128A23-424F-41CE-9C96-0C2384BC5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638010" y="67499"/>
            <a:ext cx="5161398" cy="8437420"/>
          </a:xfrm>
          <a:custGeom>
            <a:avLst/>
            <a:gdLst>
              <a:gd name="connsiteX0" fmla="*/ 2192785 w 2192785"/>
              <a:gd name="connsiteY0" fmla="*/ 3807381 h 3807381"/>
              <a:gd name="connsiteX1" fmla="*/ 0 w 2192785"/>
              <a:gd name="connsiteY1" fmla="*/ 3807381 h 3807381"/>
              <a:gd name="connsiteX2" fmla="*/ 0 w 2192785"/>
              <a:gd name="connsiteY2" fmla="*/ 0 h 3807381"/>
              <a:gd name="connsiteX3" fmla="*/ 2192785 w 2192785"/>
              <a:gd name="connsiteY3" fmla="*/ 0 h 3807381"/>
            </a:gdLst>
            <a:ahLst/>
            <a:cxnLst>
              <a:cxn ang="0">
                <a:pos x="connsiteX0" y="connsiteY0"/>
              </a:cxn>
              <a:cxn ang="0">
                <a:pos x="connsiteX1" y="connsiteY1"/>
              </a:cxn>
              <a:cxn ang="0">
                <a:pos x="connsiteX2" y="connsiteY2"/>
              </a:cxn>
              <a:cxn ang="0">
                <a:pos x="connsiteX3" y="connsiteY3"/>
              </a:cxn>
            </a:cxnLst>
            <a:rect l="l" t="t" r="r" b="b"/>
            <a:pathLst>
              <a:path w="2192785" h="3807381">
                <a:moveTo>
                  <a:pt x="2192785" y="3807381"/>
                </a:moveTo>
                <a:lnTo>
                  <a:pt x="0" y="3807381"/>
                </a:lnTo>
                <a:lnTo>
                  <a:pt x="0" y="0"/>
                </a:lnTo>
                <a:lnTo>
                  <a:pt x="2192785" y="0"/>
                </a:lnTo>
                <a:close/>
              </a:path>
            </a:pathLst>
          </a:custGeom>
          <a:gradFill>
            <a:gsLst>
              <a:gs pos="29000">
                <a:srgbClr val="000000">
                  <a:alpha val="0"/>
                </a:srgbClr>
              </a:gs>
              <a:gs pos="100000">
                <a:srgbClr val="000000">
                  <a:alpha val="58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Τίτλος 1">
            <a:extLst>
              <a:ext uri="{FF2B5EF4-FFF2-40B4-BE49-F238E27FC236}">
                <a16:creationId xmlns:a16="http://schemas.microsoft.com/office/drawing/2014/main" id="{D5048C7B-8C43-8AF4-4853-8F5149818748}"/>
              </a:ext>
            </a:extLst>
          </p:cNvPr>
          <p:cNvSpPr>
            <a:spLocks noGrp="1"/>
          </p:cNvSpPr>
          <p:nvPr>
            <p:ph type="title"/>
          </p:nvPr>
        </p:nvSpPr>
        <p:spPr>
          <a:xfrm>
            <a:off x="637649" y="484793"/>
            <a:ext cx="5841313" cy="530176"/>
          </a:xfrm>
        </p:spPr>
        <p:txBody>
          <a:bodyPr anchor="b">
            <a:normAutofit fontScale="90000"/>
          </a:bodyPr>
          <a:lstStyle/>
          <a:p>
            <a:pPr algn="ctr"/>
            <a:r>
              <a:rPr lang="el-GR" sz="3600" b="1" dirty="0" err="1">
                <a:solidFill>
                  <a:srgbClr val="505562"/>
                </a:solidFill>
                <a:effectLst>
                  <a:outerShdw blurRad="38100" dist="38100" dir="2700000" algn="tl">
                    <a:srgbClr val="000000">
                      <a:alpha val="43137"/>
                    </a:srgbClr>
                  </a:outerShdw>
                </a:effectLst>
              </a:rPr>
              <a:t>Τελικες</a:t>
            </a:r>
            <a:r>
              <a:rPr lang="el-GR" sz="3600" b="1" dirty="0">
                <a:solidFill>
                  <a:srgbClr val="505562"/>
                </a:solidFill>
                <a:effectLst>
                  <a:outerShdw blurRad="38100" dist="38100" dir="2700000" algn="tl">
                    <a:srgbClr val="000000">
                      <a:alpha val="43137"/>
                    </a:srgbClr>
                  </a:outerShdw>
                </a:effectLst>
              </a:rPr>
              <a:t> </a:t>
            </a:r>
            <a:r>
              <a:rPr lang="el-GR" sz="3600" b="1" dirty="0" err="1">
                <a:solidFill>
                  <a:srgbClr val="505562"/>
                </a:solidFill>
                <a:effectLst>
                  <a:outerShdw blurRad="38100" dist="38100" dir="2700000" algn="tl">
                    <a:srgbClr val="000000">
                      <a:alpha val="43137"/>
                    </a:srgbClr>
                  </a:outerShdw>
                </a:effectLst>
              </a:rPr>
              <a:t>Σκεψεις</a:t>
            </a:r>
            <a:endParaRPr lang="el-GR" sz="3600" b="1" dirty="0">
              <a:solidFill>
                <a:srgbClr val="505562"/>
              </a:solidFill>
              <a:effectLst>
                <a:outerShdw blurRad="38100" dist="38100" dir="2700000" algn="tl">
                  <a:srgbClr val="000000">
                    <a:alpha val="43137"/>
                  </a:srgbClr>
                </a:outerShdw>
              </a:effectLst>
            </a:endParaRPr>
          </a:p>
        </p:txBody>
      </p:sp>
      <p:sp>
        <p:nvSpPr>
          <p:cNvPr id="6173" name="Freeform: Shape 6167">
            <a:extLst>
              <a:ext uri="{FF2B5EF4-FFF2-40B4-BE49-F238E27FC236}">
                <a16:creationId xmlns:a16="http://schemas.microsoft.com/office/drawing/2014/main" id="{D51F9122-EC78-4319-BEF3-3BAC59103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048782" y="851150"/>
            <a:ext cx="3940765" cy="2309454"/>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3">
              <a:extLst>
                <a:ext uri="{96DAC541-7B7A-43D3-8B79-37D633B846F1}">
                  <asvg:svgBlip xmlns:asvg="http://schemas.microsoft.com/office/drawing/2016/SVG/main" r:embed="rId4"/>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170" name="Freeform: Shape 6169">
            <a:extLst>
              <a:ext uri="{FF2B5EF4-FFF2-40B4-BE49-F238E27FC236}">
                <a16:creationId xmlns:a16="http://schemas.microsoft.com/office/drawing/2014/main" id="{EC4F2EB3-B40A-458E-A48D-484FD9535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33855" y="742946"/>
            <a:ext cx="3920496" cy="5365173"/>
          </a:xfrm>
          <a:custGeom>
            <a:avLst/>
            <a:gdLst>
              <a:gd name="connsiteX0" fmla="*/ 0 w 1738307"/>
              <a:gd name="connsiteY0" fmla="*/ 0 h 3276601"/>
              <a:gd name="connsiteX1" fmla="*/ 1738307 w 1738307"/>
              <a:gd name="connsiteY1" fmla="*/ 0 h 3276601"/>
              <a:gd name="connsiteX2" fmla="*/ 1738307 w 1738307"/>
              <a:gd name="connsiteY2" fmla="*/ 3276601 h 3276601"/>
              <a:gd name="connsiteX3" fmla="*/ 0 w 1738307"/>
              <a:gd name="connsiteY3" fmla="*/ 3276601 h 3276601"/>
            </a:gdLst>
            <a:ahLst/>
            <a:cxnLst>
              <a:cxn ang="0">
                <a:pos x="connsiteX0" y="connsiteY0"/>
              </a:cxn>
              <a:cxn ang="0">
                <a:pos x="connsiteX1" y="connsiteY1"/>
              </a:cxn>
              <a:cxn ang="0">
                <a:pos x="connsiteX2" y="connsiteY2"/>
              </a:cxn>
              <a:cxn ang="0">
                <a:pos x="connsiteX3" y="connsiteY3"/>
              </a:cxn>
            </a:cxnLst>
            <a:rect l="l" t="t" r="r" b="b"/>
            <a:pathLst>
              <a:path w="1738307" h="3276601">
                <a:moveTo>
                  <a:pt x="0" y="0"/>
                </a:moveTo>
                <a:lnTo>
                  <a:pt x="1738307" y="0"/>
                </a:lnTo>
                <a:lnTo>
                  <a:pt x="1738307" y="3276601"/>
                </a:lnTo>
                <a:lnTo>
                  <a:pt x="0" y="3276601"/>
                </a:lnTo>
                <a:close/>
              </a:path>
            </a:pathLst>
          </a:custGeom>
          <a:solidFill>
            <a:schemeClr val="accent1">
              <a:lumMod val="20000"/>
              <a:lumOff val="80000"/>
            </a:schemeClr>
          </a:solidFill>
          <a:ln>
            <a:noFill/>
          </a:ln>
          <a:effectLst>
            <a:outerShdw dist="165100" dir="18900000" algn="tr"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Θέση περιεχομένου 2">
            <a:extLst>
              <a:ext uri="{FF2B5EF4-FFF2-40B4-BE49-F238E27FC236}">
                <a16:creationId xmlns:a16="http://schemas.microsoft.com/office/drawing/2014/main" id="{8B16E405-30B3-8C3B-6BAC-7A079BE3EE95}"/>
              </a:ext>
            </a:extLst>
          </p:cNvPr>
          <p:cNvSpPr>
            <a:spLocks noGrp="1"/>
          </p:cNvSpPr>
          <p:nvPr>
            <p:ph idx="1"/>
          </p:nvPr>
        </p:nvSpPr>
        <p:spPr>
          <a:xfrm>
            <a:off x="7633855" y="749881"/>
            <a:ext cx="3920496" cy="5358238"/>
          </a:xfrm>
        </p:spPr>
        <p:txBody>
          <a:bodyPr>
            <a:noAutofit/>
          </a:bodyPr>
          <a:lstStyle/>
          <a:p>
            <a:pPr>
              <a:lnSpc>
                <a:spcPct val="120000"/>
              </a:lnSpc>
              <a:buNone/>
            </a:pPr>
            <a:r>
              <a:rPr lang="el-GR" sz="1300" dirty="0">
                <a:solidFill>
                  <a:srgbClr val="000000"/>
                </a:solidFill>
                <a:latin typeface="Times New Roman" panose="02020603050405020304" pitchFamily="18" charset="0"/>
                <a:cs typeface="Times New Roman" panose="02020603050405020304" pitchFamily="18" charset="0"/>
              </a:rPr>
              <a:t>Η ανάλυση της κυκλοφορίας στα </a:t>
            </a:r>
            <a:r>
              <a:rPr lang="el-GR" sz="1300" dirty="0" err="1">
                <a:solidFill>
                  <a:srgbClr val="000000"/>
                </a:solidFill>
                <a:latin typeface="Times New Roman" panose="02020603050405020304" pitchFamily="18" charset="0"/>
                <a:cs typeface="Times New Roman" panose="02020603050405020304" pitchFamily="18" charset="0"/>
              </a:rPr>
              <a:t>Data</a:t>
            </a:r>
            <a:r>
              <a:rPr lang="el-GR" sz="1300" dirty="0">
                <a:solidFill>
                  <a:srgbClr val="000000"/>
                </a:solidFill>
                <a:latin typeface="Times New Roman" panose="02020603050405020304" pitchFamily="18" charset="0"/>
                <a:cs typeface="Times New Roman" panose="02020603050405020304" pitchFamily="18" charset="0"/>
              </a:rPr>
              <a:t> </a:t>
            </a:r>
            <a:r>
              <a:rPr lang="el-GR" sz="1300" dirty="0" err="1">
                <a:solidFill>
                  <a:srgbClr val="000000"/>
                </a:solidFill>
                <a:latin typeface="Times New Roman" panose="02020603050405020304" pitchFamily="18" charset="0"/>
                <a:cs typeface="Times New Roman" panose="02020603050405020304" pitchFamily="18" charset="0"/>
              </a:rPr>
              <a:t>Centers</a:t>
            </a:r>
            <a:r>
              <a:rPr lang="el-GR" sz="1300" dirty="0">
                <a:solidFill>
                  <a:srgbClr val="000000"/>
                </a:solidFill>
                <a:latin typeface="Times New Roman" panose="02020603050405020304" pitchFamily="18" charset="0"/>
                <a:cs typeface="Times New Roman" panose="02020603050405020304" pitchFamily="18" charset="0"/>
              </a:rPr>
              <a:t> είναι κρίσιμη για την αποδοτικότερη διαχείριση των πόρων τους. Τα βασικά σημεία που αναδείχθηκαν από τη μελέτη είναι:</a:t>
            </a:r>
          </a:p>
          <a:p>
            <a:pPr>
              <a:lnSpc>
                <a:spcPct val="120000"/>
              </a:lnSpc>
              <a:buFont typeface="Arial" panose="020B0604020202020204" pitchFamily="34" charset="0"/>
              <a:buChar char="•"/>
            </a:pPr>
            <a:r>
              <a:rPr lang="el-GR" sz="1300" dirty="0">
                <a:solidFill>
                  <a:srgbClr val="000000"/>
                </a:solidFill>
                <a:latin typeface="Times New Roman" panose="02020603050405020304" pitchFamily="18" charset="0"/>
                <a:cs typeface="Times New Roman" panose="02020603050405020304" pitchFamily="18" charset="0"/>
              </a:rPr>
              <a:t>Η κυκλοφορία παρουσιάζει σημαντικές διακυμάνσεις και ON-OFF μοτίβα.</a:t>
            </a:r>
          </a:p>
          <a:p>
            <a:pPr>
              <a:lnSpc>
                <a:spcPct val="120000"/>
              </a:lnSpc>
              <a:buFont typeface="Arial" panose="020B0604020202020204" pitchFamily="34" charset="0"/>
              <a:buChar char="•"/>
            </a:pPr>
            <a:r>
              <a:rPr lang="el-GR" sz="1300" dirty="0">
                <a:solidFill>
                  <a:srgbClr val="000000"/>
                </a:solidFill>
                <a:latin typeface="Times New Roman" panose="02020603050405020304" pitchFamily="18" charset="0"/>
                <a:cs typeface="Times New Roman" panose="02020603050405020304" pitchFamily="18" charset="0"/>
              </a:rPr>
              <a:t>Οι απώλειες πακέτων είναι υψηλότερες στις άκρες του δικτύου.</a:t>
            </a:r>
          </a:p>
          <a:p>
            <a:pPr>
              <a:lnSpc>
                <a:spcPct val="120000"/>
              </a:lnSpc>
              <a:buFont typeface="Arial" panose="020B0604020202020204" pitchFamily="34" charset="0"/>
              <a:buChar char="•"/>
            </a:pPr>
            <a:r>
              <a:rPr lang="el-GR" sz="1300" dirty="0">
                <a:solidFill>
                  <a:srgbClr val="000000"/>
                </a:solidFill>
                <a:latin typeface="Times New Roman" panose="02020603050405020304" pitchFamily="18" charset="0"/>
                <a:cs typeface="Times New Roman" panose="02020603050405020304" pitchFamily="18" charset="0"/>
              </a:rPr>
              <a:t>Οι παραδοσιακές τεχνικές </a:t>
            </a:r>
            <a:r>
              <a:rPr lang="el-GR" sz="1300" dirty="0" err="1">
                <a:solidFill>
                  <a:srgbClr val="000000"/>
                </a:solidFill>
                <a:latin typeface="Times New Roman" panose="02020603050405020304" pitchFamily="18" charset="0"/>
                <a:cs typeface="Times New Roman" panose="02020603050405020304" pitchFamily="18" charset="0"/>
              </a:rPr>
              <a:t>traffic</a:t>
            </a:r>
            <a:r>
              <a:rPr lang="el-GR" sz="1300" dirty="0">
                <a:solidFill>
                  <a:srgbClr val="000000"/>
                </a:solidFill>
                <a:latin typeface="Times New Roman" panose="02020603050405020304" pitchFamily="18" charset="0"/>
                <a:cs typeface="Times New Roman" panose="02020603050405020304" pitchFamily="18" charset="0"/>
              </a:rPr>
              <a:t> </a:t>
            </a:r>
            <a:r>
              <a:rPr lang="el-GR" sz="1300" dirty="0" err="1">
                <a:solidFill>
                  <a:srgbClr val="000000"/>
                </a:solidFill>
                <a:latin typeface="Times New Roman" panose="02020603050405020304" pitchFamily="18" charset="0"/>
                <a:cs typeface="Times New Roman" panose="02020603050405020304" pitchFamily="18" charset="0"/>
              </a:rPr>
              <a:t>engineering</a:t>
            </a:r>
            <a:r>
              <a:rPr lang="el-GR" sz="1300" dirty="0">
                <a:solidFill>
                  <a:srgbClr val="000000"/>
                </a:solidFill>
                <a:latin typeface="Times New Roman" panose="02020603050405020304" pitchFamily="18" charset="0"/>
                <a:cs typeface="Times New Roman" panose="02020603050405020304" pitchFamily="18" charset="0"/>
              </a:rPr>
              <a:t> είναι ανεπαρκείς για τα σύγχρονα </a:t>
            </a:r>
            <a:r>
              <a:rPr lang="el-GR" sz="1300" dirty="0" err="1">
                <a:solidFill>
                  <a:srgbClr val="000000"/>
                </a:solidFill>
                <a:latin typeface="Times New Roman" panose="02020603050405020304" pitchFamily="18" charset="0"/>
                <a:cs typeface="Times New Roman" panose="02020603050405020304" pitchFamily="18" charset="0"/>
              </a:rPr>
              <a:t>Data</a:t>
            </a:r>
            <a:r>
              <a:rPr lang="el-GR" sz="1300" dirty="0">
                <a:solidFill>
                  <a:srgbClr val="000000"/>
                </a:solidFill>
                <a:latin typeface="Times New Roman" panose="02020603050405020304" pitchFamily="18" charset="0"/>
                <a:cs typeface="Times New Roman" panose="02020603050405020304" pitchFamily="18" charset="0"/>
              </a:rPr>
              <a:t> </a:t>
            </a:r>
            <a:r>
              <a:rPr lang="el-GR" sz="1300" dirty="0" err="1">
                <a:solidFill>
                  <a:srgbClr val="000000"/>
                </a:solidFill>
                <a:latin typeface="Times New Roman" panose="02020603050405020304" pitchFamily="18" charset="0"/>
                <a:cs typeface="Times New Roman" panose="02020603050405020304" pitchFamily="18" charset="0"/>
              </a:rPr>
              <a:t>Centers</a:t>
            </a:r>
            <a:r>
              <a:rPr lang="el-GR" sz="1300" dirty="0">
                <a:solidFill>
                  <a:srgbClr val="000000"/>
                </a:solidFill>
                <a:latin typeface="Times New Roman" panose="02020603050405020304" pitchFamily="18" charset="0"/>
                <a:cs typeface="Times New Roman" panose="02020603050405020304" pitchFamily="18" charset="0"/>
              </a:rPr>
              <a:t>.</a:t>
            </a:r>
          </a:p>
          <a:p>
            <a:pPr>
              <a:lnSpc>
                <a:spcPct val="120000"/>
              </a:lnSpc>
              <a:buFont typeface="Arial" panose="020B0604020202020204" pitchFamily="34" charset="0"/>
              <a:buChar char="•"/>
            </a:pPr>
            <a:r>
              <a:rPr lang="el-GR" sz="1300" dirty="0">
                <a:solidFill>
                  <a:srgbClr val="000000"/>
                </a:solidFill>
                <a:latin typeface="Times New Roman" panose="02020603050405020304" pitchFamily="18" charset="0"/>
                <a:cs typeface="Times New Roman" panose="02020603050405020304" pitchFamily="18" charset="0"/>
              </a:rPr>
              <a:t>Η χρήση στατιστικών μοντέλων επιτρέπει τη δημιουργία ακριβέστερων προσομοιώσεων για την κυκλοφορία.</a:t>
            </a:r>
          </a:p>
          <a:p>
            <a:pPr>
              <a:lnSpc>
                <a:spcPct val="120000"/>
              </a:lnSpc>
              <a:buFont typeface="Arial" panose="020B0604020202020204" pitchFamily="34" charset="0"/>
              <a:buChar char="•"/>
            </a:pPr>
            <a:r>
              <a:rPr lang="el-GR" sz="1300" dirty="0">
                <a:solidFill>
                  <a:srgbClr val="000000"/>
                </a:solidFill>
                <a:latin typeface="Times New Roman" panose="02020603050405020304" pitchFamily="18" charset="0"/>
                <a:cs typeface="Times New Roman" panose="02020603050405020304" pitchFamily="18" charset="0"/>
              </a:rPr>
              <a:t>Η ανάπτυξη νέων τεχνολογιών, όπως SDN και AI, μπορεί να βελτιώσει τη διαχείριση της κυκλοφορίας.</a:t>
            </a:r>
          </a:p>
          <a:p>
            <a:pPr marL="0" indent="0">
              <a:lnSpc>
                <a:spcPct val="120000"/>
              </a:lnSpc>
              <a:buNone/>
            </a:pPr>
            <a:r>
              <a:rPr lang="el-GR" sz="1300" dirty="0">
                <a:solidFill>
                  <a:srgbClr val="000000"/>
                </a:solidFill>
                <a:latin typeface="Times New Roman" panose="02020603050405020304" pitchFamily="18" charset="0"/>
                <a:cs typeface="Times New Roman" panose="02020603050405020304" pitchFamily="18" charset="0"/>
              </a:rPr>
              <a:t>Αυτή η έρευνα ανοίγει τον δρόμο για την ανάπτυξη βελτιωμένων αλγορίθμων και τεχνολογιών, που θα κάνουν τα </a:t>
            </a:r>
            <a:r>
              <a:rPr lang="el-GR" sz="1300" dirty="0" err="1">
                <a:solidFill>
                  <a:srgbClr val="000000"/>
                </a:solidFill>
                <a:latin typeface="Times New Roman" panose="02020603050405020304" pitchFamily="18" charset="0"/>
                <a:cs typeface="Times New Roman" panose="02020603050405020304" pitchFamily="18" charset="0"/>
              </a:rPr>
              <a:t>Data</a:t>
            </a:r>
            <a:r>
              <a:rPr lang="el-GR" sz="1300" dirty="0">
                <a:solidFill>
                  <a:srgbClr val="000000"/>
                </a:solidFill>
                <a:latin typeface="Times New Roman" panose="02020603050405020304" pitchFamily="18" charset="0"/>
                <a:cs typeface="Times New Roman" panose="02020603050405020304" pitchFamily="18" charset="0"/>
              </a:rPr>
              <a:t> </a:t>
            </a:r>
            <a:r>
              <a:rPr lang="el-GR" sz="1300" dirty="0" err="1">
                <a:solidFill>
                  <a:srgbClr val="000000"/>
                </a:solidFill>
                <a:latin typeface="Times New Roman" panose="02020603050405020304" pitchFamily="18" charset="0"/>
                <a:cs typeface="Times New Roman" panose="02020603050405020304" pitchFamily="18" charset="0"/>
              </a:rPr>
              <a:t>Centers</a:t>
            </a:r>
            <a:r>
              <a:rPr lang="el-GR" sz="1300" dirty="0">
                <a:solidFill>
                  <a:srgbClr val="000000"/>
                </a:solidFill>
                <a:latin typeface="Times New Roman" panose="02020603050405020304" pitchFamily="18" charset="0"/>
                <a:cs typeface="Times New Roman" panose="02020603050405020304" pitchFamily="18" charset="0"/>
              </a:rPr>
              <a:t> πιο αποδοτικά και ανθεκτικά στις απαιτήσεις της σύγχρονης ψηφιακής εποχής.</a:t>
            </a:r>
          </a:p>
          <a:p>
            <a:pPr>
              <a:lnSpc>
                <a:spcPct val="120000"/>
              </a:lnSpc>
            </a:pPr>
            <a:endParaRPr lang="el-GR" sz="13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6055320"/>
      </p:ext>
    </p:extLst>
  </p:cSld>
  <p:clrMapOvr>
    <a:masterClrMapping/>
  </p:clrMapOvr>
  <p:transition spd="slow">
    <p:push dir="u"/>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ED2F08D-1D29-4936-B7D6-9F88442A01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1624C4-69F5-2312-EF92-3AE53C69567F}"/>
              </a:ext>
            </a:extLst>
          </p:cNvPr>
          <p:cNvSpPr>
            <a:spLocks noGrp="1"/>
          </p:cNvSpPr>
          <p:nvPr>
            <p:ph type="title"/>
          </p:nvPr>
        </p:nvSpPr>
        <p:spPr>
          <a:xfrm>
            <a:off x="800100" y="395926"/>
            <a:ext cx="10535235" cy="1065229"/>
          </a:xfrm>
        </p:spPr>
        <p:txBody>
          <a:bodyPr anchor="ctr">
            <a:normAutofit/>
          </a:bodyPr>
          <a:lstStyle/>
          <a:p>
            <a:r>
              <a:rPr lang="en-US" dirty="0"/>
              <a:t>REFERENCES</a:t>
            </a:r>
          </a:p>
        </p:txBody>
      </p:sp>
      <p:sp>
        <p:nvSpPr>
          <p:cNvPr id="10" name="Freeform: Shape 9">
            <a:extLst>
              <a:ext uri="{FF2B5EF4-FFF2-40B4-BE49-F238E27FC236}">
                <a16:creationId xmlns:a16="http://schemas.microsoft.com/office/drawing/2014/main" id="{CAF73325-FDA3-494D-BCAB-4ABF128555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689954" y="2347509"/>
            <a:ext cx="4502046" cy="4502046"/>
          </a:xfrm>
          <a:custGeom>
            <a:avLst/>
            <a:gdLst>
              <a:gd name="connsiteX0" fmla="*/ 0 w 4920343"/>
              <a:gd name="connsiteY0" fmla="*/ 0 h 4920343"/>
              <a:gd name="connsiteX1" fmla="*/ 4920343 w 4920343"/>
              <a:gd name="connsiteY1" fmla="*/ 0 h 4920343"/>
              <a:gd name="connsiteX2" fmla="*/ 4920343 w 4920343"/>
              <a:gd name="connsiteY2" fmla="*/ 4920343 h 4920343"/>
            </a:gdLst>
            <a:ahLst/>
            <a:cxnLst>
              <a:cxn ang="0">
                <a:pos x="connsiteX0" y="connsiteY0"/>
              </a:cxn>
              <a:cxn ang="0">
                <a:pos x="connsiteX1" y="connsiteY1"/>
              </a:cxn>
              <a:cxn ang="0">
                <a:pos x="connsiteX2" y="connsiteY2"/>
              </a:cxn>
            </a:cxnLst>
            <a:rect l="l" t="t" r="r" b="b"/>
            <a:pathLst>
              <a:path w="4920343" h="4920343">
                <a:moveTo>
                  <a:pt x="0" y="0"/>
                </a:moveTo>
                <a:lnTo>
                  <a:pt x="4920343" y="0"/>
                </a:lnTo>
                <a:lnTo>
                  <a:pt x="4920343" y="4920343"/>
                </a:lnTo>
                <a:close/>
              </a:path>
            </a:pathLst>
          </a:custGeom>
          <a:blipFill dpi="0" rotWithShape="0">
            <a:blip r:embed="rId2">
              <a:alphaModFix amt="99000"/>
              <a:extLst>
                <a:ext uri="{96DAC541-7B7A-43D3-8B79-37D633B846F1}">
                  <asvg:svgBlip xmlns:asvg="http://schemas.microsoft.com/office/drawing/2016/SVG/main" r:embed="rId3"/>
                </a:ext>
              </a:extLst>
            </a:blip>
            <a:srcRect/>
            <a:tile tx="0" ty="0" sx="40000" sy="40000" flip="none"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11">
            <a:extLst>
              <a:ext uri="{FF2B5EF4-FFF2-40B4-BE49-F238E27FC236}">
                <a16:creationId xmlns:a16="http://schemas.microsoft.com/office/drawing/2014/main" id="{77DB1C2B-A281-41EA-98EB-489A3DCD68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2614" y="1739386"/>
            <a:ext cx="9666748" cy="4294415"/>
          </a:xfrm>
          <a:prstGeom prst="rect">
            <a:avLst/>
          </a:prstGeom>
          <a:solidFill>
            <a:schemeClr val="accent1">
              <a:lumMod val="20000"/>
              <a:lumOff val="80000"/>
            </a:schemeClr>
          </a:solidFill>
          <a:ln w="38100">
            <a:noFill/>
          </a:ln>
          <a:effectLst>
            <a:outerShdw dist="190500" dir="2700000" algn="tl" rotWithShape="0">
              <a:schemeClr val="tx1"/>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68FDE9E-3014-69DA-8EC9-A076A2205350}"/>
              </a:ext>
            </a:extLst>
          </p:cNvPr>
          <p:cNvSpPr>
            <a:spLocks noGrp="1"/>
          </p:cNvSpPr>
          <p:nvPr>
            <p:ph idx="1"/>
          </p:nvPr>
        </p:nvSpPr>
        <p:spPr>
          <a:xfrm>
            <a:off x="2379518" y="2329520"/>
            <a:ext cx="7635851" cy="3118780"/>
          </a:xfrm>
        </p:spPr>
        <p:txBody>
          <a:bodyPr anchor="ctr">
            <a:noAutofit/>
          </a:bodyPr>
          <a:lstStyle/>
          <a:p>
            <a:pPr>
              <a:lnSpc>
                <a:spcPct val="120000"/>
              </a:lnSpc>
            </a:pPr>
            <a:r>
              <a:rPr lang="en-US" sz="1000" b="1" dirty="0">
                <a:solidFill>
                  <a:srgbClr val="000000"/>
                </a:solidFill>
              </a:rPr>
              <a:t>[1] The network simulator- ns-2. http://www.isi.edu/nsnam/ns/. http://www.isi.edu/nsnam/ns/. </a:t>
            </a:r>
          </a:p>
          <a:p>
            <a:pPr>
              <a:lnSpc>
                <a:spcPct val="120000"/>
              </a:lnSpc>
            </a:pPr>
            <a:r>
              <a:rPr lang="en-US" sz="1000" b="1" dirty="0">
                <a:solidFill>
                  <a:srgbClr val="000000"/>
                </a:solidFill>
              </a:rPr>
              <a:t>[2] M. Al-Fares, A. </a:t>
            </a:r>
            <a:r>
              <a:rPr lang="en-US" sz="1000" b="1" dirty="0" err="1">
                <a:solidFill>
                  <a:srgbClr val="000000"/>
                </a:solidFill>
              </a:rPr>
              <a:t>Loukissas</a:t>
            </a:r>
            <a:r>
              <a:rPr lang="en-US" sz="1000" b="1" dirty="0">
                <a:solidFill>
                  <a:srgbClr val="000000"/>
                </a:solidFill>
              </a:rPr>
              <a:t>, and A. Vahdat. A scalable, commodity data center network architecture. In SIGCOMM, pages 63–74, 2008. </a:t>
            </a:r>
          </a:p>
          <a:p>
            <a:pPr>
              <a:lnSpc>
                <a:spcPct val="120000"/>
              </a:lnSpc>
            </a:pPr>
            <a:r>
              <a:rPr lang="en-US" sz="1000" b="1" dirty="0">
                <a:solidFill>
                  <a:srgbClr val="000000"/>
                </a:solidFill>
              </a:rPr>
              <a:t>[3] N. Feamster, J. Borkenhagen, and J. Rexford. Guidelines for interdomain traffic engineering. SIGCOMM </a:t>
            </a:r>
            <a:r>
              <a:rPr lang="en-US" sz="1000" b="1" dirty="0" err="1">
                <a:solidFill>
                  <a:srgbClr val="000000"/>
                </a:solidFill>
              </a:rPr>
              <a:t>Comput</a:t>
            </a:r>
            <a:r>
              <a:rPr lang="en-US" sz="1000" b="1" dirty="0">
                <a:solidFill>
                  <a:srgbClr val="000000"/>
                </a:solidFill>
              </a:rPr>
              <a:t>. Commun. Rev., 33(5), 2003. </a:t>
            </a:r>
          </a:p>
          <a:p>
            <a:pPr>
              <a:lnSpc>
                <a:spcPct val="120000"/>
              </a:lnSpc>
            </a:pPr>
            <a:r>
              <a:rPr lang="en-US" sz="1000" b="1" dirty="0">
                <a:solidFill>
                  <a:srgbClr val="000000"/>
                </a:solidFill>
              </a:rPr>
              <a:t>[4] A. Greenberg, P. Lahiri, D. A. Maltz, P. Patel, and S. Sengupta. Towards a next generation data center architecture: scalability and commoditization. In PRESTO ’08: Proceedings of the ACM workshop on Programmable routers for extensible services of tomorrow, pages 57–62, New York, NY, USA, 2008. ACM. </a:t>
            </a:r>
          </a:p>
          <a:p>
            <a:pPr>
              <a:lnSpc>
                <a:spcPct val="120000"/>
              </a:lnSpc>
            </a:pPr>
            <a:r>
              <a:rPr lang="en-US" sz="1000" b="1" dirty="0">
                <a:solidFill>
                  <a:srgbClr val="000000"/>
                </a:solidFill>
              </a:rPr>
              <a:t>[5] W. E. Leland, M. S. </a:t>
            </a:r>
            <a:r>
              <a:rPr lang="en-US" sz="1000" b="1" dirty="0" err="1">
                <a:solidFill>
                  <a:srgbClr val="000000"/>
                </a:solidFill>
              </a:rPr>
              <a:t>Taqqu</a:t>
            </a:r>
            <a:r>
              <a:rPr lang="en-US" sz="1000" b="1" dirty="0">
                <a:solidFill>
                  <a:srgbClr val="000000"/>
                </a:solidFill>
              </a:rPr>
              <a:t>, W. Willinger, and D. V. Wilson. On the self-similar nature of ethernet traffic (extended version). IEEE/ACM Trans. </a:t>
            </a:r>
            <a:r>
              <a:rPr lang="en-US" sz="1000" b="1" dirty="0" err="1">
                <a:solidFill>
                  <a:srgbClr val="000000"/>
                </a:solidFill>
              </a:rPr>
              <a:t>Netw</a:t>
            </a:r>
            <a:r>
              <a:rPr lang="en-US" sz="1000" b="1" dirty="0">
                <a:solidFill>
                  <a:srgbClr val="000000"/>
                </a:solidFill>
              </a:rPr>
              <a:t>., 2(1), 1994. </a:t>
            </a:r>
          </a:p>
          <a:p>
            <a:pPr>
              <a:lnSpc>
                <a:spcPct val="120000"/>
              </a:lnSpc>
            </a:pPr>
            <a:r>
              <a:rPr lang="en-US" sz="1000" b="1" dirty="0">
                <a:solidFill>
                  <a:srgbClr val="000000"/>
                </a:solidFill>
              </a:rPr>
              <a:t>[6] T. </a:t>
            </a:r>
            <a:r>
              <a:rPr lang="en-US" sz="1000" b="1" dirty="0" err="1">
                <a:solidFill>
                  <a:srgbClr val="000000"/>
                </a:solidFill>
              </a:rPr>
              <a:t>Oetiker</a:t>
            </a:r>
            <a:r>
              <a:rPr lang="en-US" sz="1000" b="1" dirty="0">
                <a:solidFill>
                  <a:srgbClr val="000000"/>
                </a:solidFill>
              </a:rPr>
              <a:t>. Round robin database tool. http://oss.oetiker.ch/rrdtool/. </a:t>
            </a:r>
          </a:p>
          <a:p>
            <a:pPr>
              <a:lnSpc>
                <a:spcPct val="120000"/>
              </a:lnSpc>
            </a:pPr>
            <a:r>
              <a:rPr lang="en-US" sz="1000" b="1" dirty="0">
                <a:solidFill>
                  <a:srgbClr val="000000"/>
                </a:solidFill>
              </a:rPr>
              <a:t>[7] V. Paxson and S. Floyd. Wide area traffic: the failure of </a:t>
            </a:r>
            <a:r>
              <a:rPr lang="en-US" sz="1000" b="1" dirty="0" err="1">
                <a:solidFill>
                  <a:srgbClr val="000000"/>
                </a:solidFill>
              </a:rPr>
              <a:t>poisson</a:t>
            </a:r>
            <a:r>
              <a:rPr lang="en-US" sz="1000" b="1" dirty="0">
                <a:solidFill>
                  <a:srgbClr val="000000"/>
                </a:solidFill>
              </a:rPr>
              <a:t> modeling. IEEE/ACM Trans. </a:t>
            </a:r>
            <a:r>
              <a:rPr lang="en-US" sz="1000" b="1" dirty="0" err="1">
                <a:solidFill>
                  <a:srgbClr val="000000"/>
                </a:solidFill>
              </a:rPr>
              <a:t>Netw</a:t>
            </a:r>
            <a:r>
              <a:rPr lang="en-US" sz="1000" b="1" dirty="0">
                <a:solidFill>
                  <a:srgbClr val="000000"/>
                </a:solidFill>
              </a:rPr>
              <a:t>., 3(3):226–244, 1995. </a:t>
            </a:r>
          </a:p>
          <a:p>
            <a:pPr>
              <a:lnSpc>
                <a:spcPct val="120000"/>
              </a:lnSpc>
            </a:pPr>
            <a:r>
              <a:rPr lang="en-US" sz="1000" b="1" dirty="0">
                <a:solidFill>
                  <a:srgbClr val="000000"/>
                </a:solidFill>
              </a:rPr>
              <a:t>[8] C. S. version 2 MIBs. http://www.cisco.com/public/mibs/. </a:t>
            </a:r>
          </a:p>
          <a:p>
            <a:pPr>
              <a:lnSpc>
                <a:spcPct val="120000"/>
              </a:lnSpc>
            </a:pPr>
            <a:r>
              <a:rPr lang="en-US" sz="1000" b="1" dirty="0">
                <a:solidFill>
                  <a:srgbClr val="000000"/>
                </a:solidFill>
              </a:rPr>
              <a:t>[9] F. Wilcoxon. Biometrics bulletin. 1:80–83, 1945.</a:t>
            </a:r>
          </a:p>
        </p:txBody>
      </p:sp>
    </p:spTree>
    <p:extLst>
      <p:ext uri="{BB962C8B-B14F-4D97-AF65-F5344CB8AC3E}">
        <p14:creationId xmlns:p14="http://schemas.microsoft.com/office/powerpoint/2010/main" val="3536401163"/>
      </p:ext>
    </p:extLst>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0C817C9-850F-4FB6-B93B-CF3076C4A5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67782" cy="3306479"/>
            <a:chOff x="11619770" y="-2005"/>
            <a:chExt cx="567782" cy="3306479"/>
          </a:xfrm>
        </p:grpSpPr>
        <p:sp>
          <p:nvSpPr>
            <p:cNvPr id="11" name="Freeform: Shape 10">
              <a:extLst>
                <a:ext uri="{FF2B5EF4-FFF2-40B4-BE49-F238E27FC236}">
                  <a16:creationId xmlns:a16="http://schemas.microsoft.com/office/drawing/2014/main" id="{159433A8-B67D-4675-AFDE-131069A709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V="1">
              <a:off x="11619770" y="373807"/>
              <a:ext cx="526228" cy="2930667"/>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11">
              <a:extLst>
                <a:ext uri="{FF2B5EF4-FFF2-40B4-BE49-F238E27FC236}">
                  <a16:creationId xmlns:a16="http://schemas.microsoft.com/office/drawing/2014/main" id="{E1CD1C45-6A4D-4237-B39C-2D58F401A8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11980943" y="-2005"/>
              <a:ext cx="206609" cy="202130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useBgFill="1">
        <p:nvSpPr>
          <p:cNvPr id="14" name="Rectangle 13">
            <a:extLst>
              <a:ext uri="{FF2B5EF4-FFF2-40B4-BE49-F238E27FC236}">
                <a16:creationId xmlns:a16="http://schemas.microsoft.com/office/drawing/2014/main" id="{A9727012-97DE-47A6-9F25-DBDC9FEE56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66"/>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0C768D-4B02-201B-24AE-4181B895D63A}"/>
              </a:ext>
            </a:extLst>
          </p:cNvPr>
          <p:cNvSpPr>
            <a:spLocks noGrp="1"/>
          </p:cNvSpPr>
          <p:nvPr>
            <p:ph type="title"/>
          </p:nvPr>
        </p:nvSpPr>
        <p:spPr>
          <a:xfrm>
            <a:off x="803744" y="1454447"/>
            <a:ext cx="5292256" cy="2660353"/>
          </a:xfrm>
        </p:spPr>
        <p:txBody>
          <a:bodyPr vert="horz" lIns="91440" tIns="45720" rIns="91440" bIns="45720" rtlCol="0" anchor="t">
            <a:normAutofit/>
          </a:bodyPr>
          <a:lstStyle/>
          <a:p>
            <a:pPr algn="ctr">
              <a:lnSpc>
                <a:spcPct val="130000"/>
              </a:lnSpc>
            </a:pPr>
            <a:r>
              <a:rPr lang="en-US" sz="3600" b="1" spc="1300" dirty="0">
                <a:effectLst>
                  <a:outerShdw blurRad="38100" dist="38100" dir="2700000" algn="tl">
                    <a:srgbClr val="000000">
                      <a:alpha val="43137"/>
                    </a:srgbClr>
                  </a:outerShdw>
                </a:effectLst>
              </a:rPr>
              <a:t>Thank you for your time</a:t>
            </a:r>
          </a:p>
        </p:txBody>
      </p:sp>
      <p:sp>
        <p:nvSpPr>
          <p:cNvPr id="3" name="Content Placeholder 2">
            <a:extLst>
              <a:ext uri="{FF2B5EF4-FFF2-40B4-BE49-F238E27FC236}">
                <a16:creationId xmlns:a16="http://schemas.microsoft.com/office/drawing/2014/main" id="{26F1E74E-9A05-DF16-81D5-99F6AF5CC859}"/>
              </a:ext>
            </a:extLst>
          </p:cNvPr>
          <p:cNvSpPr>
            <a:spLocks noGrp="1"/>
          </p:cNvSpPr>
          <p:nvPr>
            <p:ph idx="1"/>
          </p:nvPr>
        </p:nvSpPr>
        <p:spPr>
          <a:xfrm>
            <a:off x="803935" y="4681728"/>
            <a:ext cx="5292256" cy="1175920"/>
          </a:xfrm>
        </p:spPr>
        <p:txBody>
          <a:bodyPr vert="horz" lIns="91440" tIns="45720" rIns="91440" bIns="45720" rtlCol="0">
            <a:normAutofit/>
          </a:bodyPr>
          <a:lstStyle/>
          <a:p>
            <a:pPr marL="0" indent="0">
              <a:buNone/>
            </a:pPr>
            <a:r>
              <a:rPr lang="en-US" sz="1600" cap="all" spc="6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Κ. </a:t>
            </a:r>
            <a:r>
              <a:rPr lang="en-US" sz="1600" cap="all" spc="600" dirty="0" err="1">
                <a:effectLst>
                  <a:outerShdw blurRad="38100" dist="38100" dir="2700000" algn="tl">
                    <a:srgbClr val="000000">
                      <a:alpha val="43137"/>
                    </a:srgbClr>
                  </a:outerShdw>
                </a:effectLst>
                <a:latin typeface="Arial" panose="020B0604020202020204" pitchFamily="34" charset="0"/>
                <a:cs typeface="Arial" panose="020B0604020202020204" pitchFamily="34" charset="0"/>
              </a:rPr>
              <a:t>Κιοyσης</a:t>
            </a:r>
            <a:r>
              <a:rPr lang="en-US" sz="1600" cap="all" spc="600"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 --- Α.Μ.:2121129</a:t>
            </a:r>
          </a:p>
        </p:txBody>
      </p:sp>
      <p:sp>
        <p:nvSpPr>
          <p:cNvPr id="16" name="Oval 15">
            <a:extLst>
              <a:ext uri="{FF2B5EF4-FFF2-40B4-BE49-F238E27FC236}">
                <a16:creationId xmlns:a16="http://schemas.microsoft.com/office/drawing/2014/main" id="{FC95C3AC-DDDC-43FF-A70E-C2341DFC4F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80757" y="2267714"/>
            <a:ext cx="4146061" cy="4146061"/>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F02CFA7F-757C-4442-BB64-15BD3264A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flipV="1">
            <a:off x="7911916" y="1121066"/>
            <a:ext cx="4807131" cy="3714530"/>
          </a:xfrm>
          <a:custGeom>
            <a:avLst/>
            <a:gdLst>
              <a:gd name="connsiteX0" fmla="*/ 757287 w 757287"/>
              <a:gd name="connsiteY0" fmla="*/ 3694096 h 3694096"/>
              <a:gd name="connsiteX1" fmla="*/ 757287 w 757287"/>
              <a:gd name="connsiteY1" fmla="*/ 0 h 3694096"/>
              <a:gd name="connsiteX2" fmla="*/ 0 w 757287"/>
              <a:gd name="connsiteY2" fmla="*/ 0 h 3694096"/>
              <a:gd name="connsiteX3" fmla="*/ 0 w 757287"/>
              <a:gd name="connsiteY3" fmla="*/ 3686094 h 3694096"/>
            </a:gdLst>
            <a:ahLst/>
            <a:cxnLst>
              <a:cxn ang="0">
                <a:pos x="connsiteX0" y="connsiteY0"/>
              </a:cxn>
              <a:cxn ang="0">
                <a:pos x="connsiteX1" y="connsiteY1"/>
              </a:cxn>
              <a:cxn ang="0">
                <a:pos x="connsiteX2" y="connsiteY2"/>
              </a:cxn>
              <a:cxn ang="0">
                <a:pos x="connsiteX3" y="connsiteY3"/>
              </a:cxn>
            </a:cxnLst>
            <a:rect l="l" t="t" r="r" b="b"/>
            <a:pathLst>
              <a:path w="757287" h="3694096">
                <a:moveTo>
                  <a:pt x="757287" y="3694096"/>
                </a:moveTo>
                <a:lnTo>
                  <a:pt x="757287" y="0"/>
                </a:lnTo>
                <a:lnTo>
                  <a:pt x="0" y="0"/>
                </a:lnTo>
                <a:lnTo>
                  <a:pt x="0" y="3686094"/>
                </a:lnTo>
                <a:close/>
              </a:path>
            </a:pathLst>
          </a:custGeom>
          <a:blipFill dpi="0" rotWithShape="1">
            <a:blip r:embed="rId2">
              <a:extLst>
                <a:ext uri="{96DAC541-7B7A-43D3-8B79-37D633B846F1}">
                  <asvg:svgBlip xmlns:asvg="http://schemas.microsoft.com/office/drawing/2016/SVG/main" r:embed="rId3"/>
                </a:ext>
              </a:extLst>
            </a:blip>
            <a:srcRect/>
            <a:tile tx="0" ty="0" sx="6000" sy="6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red silhouette of a person on a horse&#10;&#10;AI-generated content may be incorrect.">
            <a:extLst>
              <a:ext uri="{FF2B5EF4-FFF2-40B4-BE49-F238E27FC236}">
                <a16:creationId xmlns:a16="http://schemas.microsoft.com/office/drawing/2014/main" id="{C141F9BB-E250-F8B7-99BD-3E171B47DC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8576" y="1313693"/>
            <a:ext cx="4230613" cy="4230613"/>
          </a:xfrm>
          <a:prstGeom prst="rect">
            <a:avLst/>
          </a:prstGeom>
          <a:effectLst/>
        </p:spPr>
      </p:pic>
    </p:spTree>
    <p:extLst>
      <p:ext uri="{BB962C8B-B14F-4D97-AF65-F5344CB8AC3E}">
        <p14:creationId xmlns:p14="http://schemas.microsoft.com/office/powerpoint/2010/main" val="2361226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VeniceBeachVTI">
  <a:themeElements>
    <a:clrScheme name="Venice Beach">
      <a:dk1>
        <a:sysClr val="windowText" lastClr="000000"/>
      </a:dk1>
      <a:lt1>
        <a:sysClr val="window" lastClr="FFFFFF"/>
      </a:lt1>
      <a:dk2>
        <a:srgbClr val="2B3E3D"/>
      </a:dk2>
      <a:lt2>
        <a:srgbClr val="FEF3EB"/>
      </a:lt2>
      <a:accent1>
        <a:srgbClr val="FE8542"/>
      </a:accent1>
      <a:accent2>
        <a:srgbClr val="EC6D60"/>
      </a:accent2>
      <a:accent3>
        <a:srgbClr val="CDA32B"/>
      </a:accent3>
      <a:accent4>
        <a:srgbClr val="EE66A7"/>
      </a:accent4>
      <a:accent5>
        <a:srgbClr val="EA5F48"/>
      </a:accent5>
      <a:accent6>
        <a:srgbClr val="C8466B"/>
      </a:accent6>
      <a:hlink>
        <a:srgbClr val="E46153"/>
      </a:hlink>
      <a:folHlink>
        <a:srgbClr val="CF63B0"/>
      </a:folHlink>
    </a:clrScheme>
    <a:fontScheme name="Avenir 1">
      <a:majorFont>
        <a:latin typeface="Avenir Next LT Pro Ligh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eniceBeachVTI" id="{69839BBA-F383-4FFD-B56A-E36ACE43E09D}" vid="{060D2740-A69C-444A-B833-E03D333ADDA7}"/>
    </a:ext>
  </a:extLst>
</a:theme>
</file>

<file path=docProps/app.xml><?xml version="1.0" encoding="utf-8"?>
<Properties xmlns="http://schemas.openxmlformats.org/officeDocument/2006/extended-properties" xmlns:vt="http://schemas.openxmlformats.org/officeDocument/2006/docPropsVTypes">
  <TotalTime>829</TotalTime>
  <Words>3220</Words>
  <Application>Microsoft Office PowerPoint</Application>
  <PresentationFormat>Widescreen</PresentationFormat>
  <Paragraphs>204</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Avenir Next LT Pro</vt:lpstr>
      <vt:lpstr>Avenir Next LT Pro Light</vt:lpstr>
      <vt:lpstr>Times New Roman</vt:lpstr>
      <vt:lpstr>Wingdings</vt:lpstr>
      <vt:lpstr>VeniceBeachVTI</vt:lpstr>
      <vt:lpstr>Κατανοηση των Χαρακτηριστικων της Κινησης στα Data Centers</vt:lpstr>
      <vt:lpstr>Εισαγωγh</vt:lpstr>
      <vt:lpstr>Στοχοι της Μελετης</vt:lpstr>
      <vt:lpstr>Στοχοι της Μελετης</vt:lpstr>
      <vt:lpstr>Δεδομeνα και Μεθοδολογiα</vt:lpstr>
      <vt:lpstr>Δεδομeνα και Μεθοδολογiα</vt:lpstr>
      <vt:lpstr>Μακροσκοπικη Αναλυση της Κυκλοφοριας στα Data Centers</vt:lpstr>
      <vt:lpstr>Μικροσκοπικη Αναλυση της Κυκλοφοριας στα Data Centers</vt:lpstr>
      <vt:lpstr>Μικροσκοπικη Αναλυση της Κυκλοφοριας στα Data Centers</vt:lpstr>
      <vt:lpstr>Αναπτυξη ενος Μοντελου Προβλεψης της Κυκλοφοριας</vt:lpstr>
      <vt:lpstr>Αναπτυξη ενος Μοντελου Προβλεψης της Κυκλοφοριας</vt:lpstr>
      <vt:lpstr>Αναπτυξη ενος Μοντελου Προβλεψης της Κυκλοφοριας</vt:lpstr>
      <vt:lpstr>Αναπτυξη ενος Μοντελου Προβλεψης της Κυκλοφοριας</vt:lpstr>
      <vt:lpstr>Αναπτυξη ενος Μοντελου Προβλεψης της Κυκλοφοριας</vt:lpstr>
      <vt:lpstr>ΕΠΑΛΗΘΕΥΣΗ ΑΛΓΟΡΙΘΜΟΥ</vt:lpstr>
      <vt:lpstr>Εφαρμογες του Προτεινομενου Πλαισιου</vt:lpstr>
      <vt:lpstr>Εφαρμογες του Προτεινομενου Πλαισιου</vt:lpstr>
      <vt:lpstr>Εφαρμογες του Προτεινομενου Πλαισιου</vt:lpstr>
      <vt:lpstr>Εφαρμογες του Προτεινομενου Πλαισιου</vt:lpstr>
      <vt:lpstr>Συμπερασματα της Μελετης</vt:lpstr>
      <vt:lpstr>Συμπερασματα της Μελετης</vt:lpstr>
      <vt:lpstr>Μελλοντικες Κατευθυνσεις και Προοπτικες</vt:lpstr>
      <vt:lpstr>Μελλοντικες Κατευθυνσεις και Προοπτικες</vt:lpstr>
      <vt:lpstr>Τελικες Σκεψεις</vt:lpstr>
      <vt:lpstr>REFERENCES</vt:lpstr>
      <vt:lpstr>Thank you for your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smith</dc:creator>
  <cp:lastModifiedBy>KIOUSIS KONSTANTINOS</cp:lastModifiedBy>
  <cp:revision>20</cp:revision>
  <dcterms:created xsi:type="dcterms:W3CDTF">2025-03-22T15:38:57Z</dcterms:created>
  <dcterms:modified xsi:type="dcterms:W3CDTF">2025-03-26T21:56:08Z</dcterms:modified>
</cp:coreProperties>
</file>